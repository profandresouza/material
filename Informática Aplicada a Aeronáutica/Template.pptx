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screen16x9"/>
  <p:notesSz cx="6858000" cy="9144000"/>
  <p:embeddedFontLs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Raleway" pitchFamily="2" charset="0"/>
      <p:regular r:id="rId33"/>
      <p:bold r:id="rId34"/>
      <p:italic r:id="rId35"/>
      <p:boldItalic r:id="rId36"/>
    </p:embeddedFont>
    <p:embeddedFont>
      <p:font typeface="Roboto" panose="020F0502020204030204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1.fntdata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42522d5eb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42522d5eb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3e42522d5eb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46a7c3e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46a7c3e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46a7c3e07_0_1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46a7c3e07_0_1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42522d5eb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42522d5eb_0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46a7c3e07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46a7c3e07_0_4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50bb165d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50bb165db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51287fb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51287fb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42522d5eb_0_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42522d5eb_0_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51287fb17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51287fb17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f1bb7f9cf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f1bb7f9cf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fca84ea4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fca84ea4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a1e58865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a1e58865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42522d5e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42522d5eb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42522d5eb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42522d5eb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42522d5eb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42522d5eb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47c634a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47c634a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a1e588659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ea1e588659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a1e588659_1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a1e588659_1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42522d5eb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e42522d5eb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433ad3eb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433ad3eb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433ad3eb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433ad3eb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51287fb1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51287fb1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42522d5eb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e42522d5eb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dc9c88c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dc9c88c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46a7c3e0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e46a7c3e07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3e46a7c3e07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">
  <p:cSld name="TITLE_1">
    <p:bg>
      <p:bgPr>
        <a:solidFill>
          <a:schemeClr val="lt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7" name="Google Shape;17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727950" y="1936463"/>
            <a:ext cx="7688100" cy="129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4000"/>
              <a:buFont typeface="Roboto"/>
              <a:buNone/>
              <a:defRPr sz="40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49550" y="3874175"/>
            <a:ext cx="82449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200"/>
              <a:buFont typeface="Roboto"/>
              <a:buNone/>
              <a:defRPr sz="22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30400" y="1053850"/>
            <a:ext cx="745800" cy="2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26659"/>
          <a:stretch/>
        </p:blipFill>
        <p:spPr>
          <a:xfrm>
            <a:off x="0" y="37106"/>
            <a:ext cx="1178231" cy="450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" name="Google Shape;68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727950" y="1936463"/>
            <a:ext cx="7688100" cy="129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4000"/>
              <a:buFont typeface="Roboto"/>
              <a:buNone/>
              <a:defRPr sz="40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449550" y="3874175"/>
            <a:ext cx="82449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200"/>
              <a:buFont typeface="Roboto"/>
              <a:buNone/>
              <a:defRPr sz="22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830400" y="1053850"/>
            <a:ext cx="745800" cy="2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 b="26659"/>
          <a:stretch/>
        </p:blipFill>
        <p:spPr>
          <a:xfrm>
            <a:off x="0" y="37106"/>
            <a:ext cx="1178231" cy="450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413538" y="87474"/>
            <a:ext cx="8316900" cy="9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413538" y="1167594"/>
            <a:ext cx="8316900" cy="36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272F6D"/>
              </a:buClr>
              <a:buSzPts val="2400"/>
              <a:buChar char="■"/>
              <a:defRPr sz="2400"/>
            </a:lvl6pPr>
            <a:lvl7pPr marL="3200400" lvl="6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272F6D"/>
              </a:buClr>
              <a:buSzPts val="2400"/>
              <a:buChar char="●"/>
              <a:defRPr sz="2400"/>
            </a:lvl7pPr>
            <a:lvl8pPr marL="3657600" lvl="7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272F6D"/>
              </a:buClr>
              <a:buSzPts val="2400"/>
              <a:buChar char="○"/>
              <a:defRPr sz="2400"/>
            </a:lvl8pPr>
            <a:lvl9pPr marL="4114800" lvl="8" indent="-3810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272F6D"/>
              </a:buClr>
              <a:buSzPts val="2400"/>
              <a:buChar char="■"/>
              <a:defRPr sz="24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2" name="Google Shape;82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44250" y="1486950"/>
            <a:ext cx="8455500" cy="29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3655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700"/>
              <a:buFont typeface="Arial"/>
              <a:buChar char="■"/>
              <a:defRPr sz="17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29845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29845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marL="3200400" lvl="6" indent="-29845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marL="3657600" lvl="7" indent="-29845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marL="4114800" lvl="8" indent="-29845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816175" y="1175850"/>
            <a:ext cx="857700" cy="19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44250" y="732675"/>
            <a:ext cx="8455500" cy="53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oboto"/>
              <a:buNone/>
              <a:defRPr sz="3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2">
            <a:alphaModFix/>
          </a:blip>
          <a:srcRect b="26659"/>
          <a:stretch/>
        </p:blipFill>
        <p:spPr>
          <a:xfrm>
            <a:off x="0" y="37106"/>
            <a:ext cx="1178231" cy="450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4">
            <a:alphaModFix/>
          </a:blip>
          <a:srcRect b="26659"/>
          <a:stretch/>
        </p:blipFill>
        <p:spPr>
          <a:xfrm>
            <a:off x="7573025" y="29688"/>
            <a:ext cx="1570975" cy="6009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7983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399209"/>
            <a:ext cx="85206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5">
            <a:alphaModFix/>
          </a:blip>
          <a:srcRect l="15853" t="31506" r="17114" b="34470"/>
          <a:stretch/>
        </p:blipFill>
        <p:spPr>
          <a:xfrm>
            <a:off x="76200" y="-1225"/>
            <a:ext cx="1324742" cy="4890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deivisontakatu/projeto-pipeline-teste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ctrTitle"/>
          </p:nvPr>
        </p:nvSpPr>
        <p:spPr>
          <a:xfrm>
            <a:off x="727950" y="1936463"/>
            <a:ext cx="7688100" cy="129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02529"/>
                </a:solidFill>
              </a:rPr>
              <a:t>Garantia de Qualidade Automatizada no Pipeline de Integração e Entrega Contínuas</a:t>
            </a:r>
            <a:endParaRPr sz="3200">
              <a:solidFill>
                <a:srgbClr val="202529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1"/>
          </p:nvPr>
        </p:nvSpPr>
        <p:spPr>
          <a:xfrm>
            <a:off x="449550" y="3914850"/>
            <a:ext cx="82449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098658"/>
                </a:solidFill>
              </a:rPr>
              <a:t>Prof. Me. Deivison S. Takatu</a:t>
            </a:r>
            <a:endParaRPr b="1">
              <a:solidFill>
                <a:srgbClr val="098658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98658"/>
                </a:solidFill>
              </a:rPr>
              <a:t>deivison.takatu@cps.sp.gov.br</a:t>
            </a:r>
            <a:endParaRPr>
              <a:solidFill>
                <a:srgbClr val="09865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Sumário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AutoNum type="arabicPeriod"/>
            </a:pPr>
            <a:r>
              <a:rPr lang="pt-BR"/>
              <a:t>Fundamentos de DevOps e Integração Contínua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AutoNum type="arabicPeriod"/>
            </a:pPr>
            <a:r>
              <a:rPr lang="pt-BR"/>
              <a:t>Automação de Testes e Verificações de Qualidade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AutoNum type="arabicPeriod"/>
            </a:pPr>
            <a:r>
              <a:rPr lang="pt-BR"/>
              <a:t>Pipelines de CI/CD e GitHub Actions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AutoNum type="arabicPeriod"/>
            </a:pPr>
            <a:r>
              <a:rPr lang="pt-BR"/>
              <a:t>Desenvolvimento da Aplicação Web e Situação-Problema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AutoNum type="arabicPeriod"/>
            </a:pPr>
            <a:r>
              <a:rPr lang="pt-BR"/>
              <a:t>Workflow da Pipeline: Build, Lint e Testes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AutoNum type="arabicPeriod"/>
            </a:pPr>
            <a:r>
              <a:rPr lang="pt-BR"/>
              <a:t>Conclusão 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AutoNum type="arabicPeriod"/>
            </a:pPr>
            <a:r>
              <a:rPr lang="pt-BR"/>
              <a:t>Atividade Prática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Objetivos e Conhecimentos Prévios</a:t>
            </a:r>
            <a:endParaRPr/>
          </a:p>
        </p:txBody>
      </p:sp>
      <p:grpSp>
        <p:nvGrpSpPr>
          <p:cNvPr id="107" name="Google Shape;107;p20"/>
          <p:cNvGrpSpPr/>
          <p:nvPr/>
        </p:nvGrpSpPr>
        <p:grpSpPr>
          <a:xfrm>
            <a:off x="381000" y="1292851"/>
            <a:ext cx="4095900" cy="2380851"/>
            <a:chOff x="381000" y="1333500"/>
            <a:chExt cx="4095900" cy="2190900"/>
          </a:xfrm>
        </p:grpSpPr>
        <p:sp>
          <p:nvSpPr>
            <p:cNvPr id="108" name="Google Shape;108;p20"/>
            <p:cNvSpPr/>
            <p:nvPr/>
          </p:nvSpPr>
          <p:spPr>
            <a:xfrm>
              <a:off x="381000" y="1333500"/>
              <a:ext cx="40959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D0D7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434343"/>
                </a:solidFill>
              </a:endParaRPr>
            </a:p>
          </p:txBody>
        </p:sp>
        <p:sp>
          <p:nvSpPr>
            <p:cNvPr id="109" name="Google Shape;109;p20"/>
            <p:cNvSpPr txBox="1"/>
            <p:nvPr/>
          </p:nvSpPr>
          <p:spPr>
            <a:xfrm>
              <a:off x="571500" y="1524000"/>
              <a:ext cx="3714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434343"/>
                  </a:solidFill>
                </a:rPr>
                <a:t>Objetivos de Aprendizagem</a:t>
              </a:r>
              <a:endParaRPr sz="1800" b="1">
                <a:solidFill>
                  <a:srgbClr val="434343"/>
                </a:solidFill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Compreender fundamentos de DevOps</a:t>
              </a:r>
              <a:endParaRPr>
                <a:solidFill>
                  <a:srgbClr val="434343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Entender validações automatizadas</a:t>
              </a:r>
              <a:endParaRPr>
                <a:solidFill>
                  <a:srgbClr val="434343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Automação com GitHub Actions</a:t>
              </a:r>
              <a:endParaRPr>
                <a:solidFill>
                  <a:srgbClr val="434343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Qualidade de código automatizada</a:t>
              </a:r>
              <a:endParaRPr>
                <a:solidFill>
                  <a:srgbClr val="434343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Demonstrar testes automatizados</a:t>
              </a:r>
              <a:endParaRPr>
                <a:solidFill>
                  <a:srgbClr val="434343"/>
                </a:solidFill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</p:grpSp>
      <p:grpSp>
        <p:nvGrpSpPr>
          <p:cNvPr id="110" name="Google Shape;110;p20"/>
          <p:cNvGrpSpPr/>
          <p:nvPr/>
        </p:nvGrpSpPr>
        <p:grpSpPr>
          <a:xfrm>
            <a:off x="381000" y="3948818"/>
            <a:ext cx="8382000" cy="791269"/>
            <a:chOff x="381000" y="3738588"/>
            <a:chExt cx="8382000" cy="1047900"/>
          </a:xfrm>
        </p:grpSpPr>
        <p:sp>
          <p:nvSpPr>
            <p:cNvPr id="111" name="Google Shape;111;p20"/>
            <p:cNvSpPr/>
            <p:nvPr/>
          </p:nvSpPr>
          <p:spPr>
            <a:xfrm>
              <a:off x="381000" y="3738588"/>
              <a:ext cx="8382000" cy="1047900"/>
            </a:xfrm>
            <a:prstGeom prst="roundRect">
              <a:avLst>
                <a:gd name="adj" fmla="val 10909"/>
              </a:avLst>
            </a:prstGeom>
            <a:solidFill>
              <a:srgbClr val="F6F8FA"/>
            </a:solidFill>
            <a:ln w="9525" cap="flat" cmpd="sng">
              <a:solidFill>
                <a:srgbClr val="D0D7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0"/>
            <p:cNvSpPr txBox="1"/>
            <p:nvPr/>
          </p:nvSpPr>
          <p:spPr>
            <a:xfrm>
              <a:off x="571500" y="3857625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45720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solidFill>
                    <a:srgbClr val="434343"/>
                  </a:solidFill>
                </a:rPr>
                <a:t>Durante a aula, será abordada a importância da qualidade de código no contexto DevOps, enfatizando boas práticas que favorecem a legibilidade, manutenção, confiabilidade e evolução contínua, integrando teoria e prática.</a:t>
              </a:r>
              <a:endParaRPr>
                <a:solidFill>
                  <a:srgbClr val="434343"/>
                </a:solidFill>
              </a:endParaRPr>
            </a:p>
          </p:txBody>
        </p:sp>
      </p:grpSp>
      <p:grpSp>
        <p:nvGrpSpPr>
          <p:cNvPr id="113" name="Google Shape;113;p20"/>
          <p:cNvGrpSpPr/>
          <p:nvPr/>
        </p:nvGrpSpPr>
        <p:grpSpPr>
          <a:xfrm>
            <a:off x="4667100" y="1292851"/>
            <a:ext cx="4095900" cy="2380851"/>
            <a:chOff x="381000" y="1333500"/>
            <a:chExt cx="4095900" cy="2190900"/>
          </a:xfrm>
        </p:grpSpPr>
        <p:sp>
          <p:nvSpPr>
            <p:cNvPr id="114" name="Google Shape;114;p20"/>
            <p:cNvSpPr/>
            <p:nvPr/>
          </p:nvSpPr>
          <p:spPr>
            <a:xfrm>
              <a:off x="381000" y="1333500"/>
              <a:ext cx="40959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D0D7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434343"/>
                </a:solidFill>
              </a:endParaRPr>
            </a:p>
          </p:txBody>
        </p:sp>
        <p:sp>
          <p:nvSpPr>
            <p:cNvPr id="115" name="Google Shape;115;p20"/>
            <p:cNvSpPr txBox="1"/>
            <p:nvPr/>
          </p:nvSpPr>
          <p:spPr>
            <a:xfrm>
              <a:off x="571500" y="1524000"/>
              <a:ext cx="3714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434343"/>
                  </a:solidFill>
                </a:rPr>
                <a:t>Conhecimentos Prévios</a:t>
              </a:r>
              <a:endParaRPr sz="1800" b="1">
                <a:solidFill>
                  <a:srgbClr val="434343"/>
                </a:solidFill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Versionamento de Código;</a:t>
              </a:r>
              <a:endParaRPr>
                <a:solidFill>
                  <a:srgbClr val="434343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Fundamentos DevOps e Git;</a:t>
              </a:r>
              <a:endParaRPr>
                <a:solidFill>
                  <a:srgbClr val="434343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Integração Contínua (CI);</a:t>
              </a:r>
              <a:endParaRPr>
                <a:solidFill>
                  <a:srgbClr val="434343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Entrega Contínua (CD);</a:t>
              </a:r>
              <a:endParaRPr>
                <a:solidFill>
                  <a:srgbClr val="434343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Desenvolvimento Web Básico.</a:t>
              </a:r>
              <a:endParaRPr>
                <a:solidFill>
                  <a:srgbClr val="434343"/>
                </a:solidFill>
              </a:endParaRPr>
            </a:p>
            <a:p>
              <a:pPr marL="45720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Entregas de Software e Automação</a:t>
            </a:r>
            <a:endParaRPr/>
          </a:p>
        </p:txBody>
      </p:sp>
      <p:grpSp>
        <p:nvGrpSpPr>
          <p:cNvPr id="121" name="Google Shape;121;p21"/>
          <p:cNvGrpSpPr/>
          <p:nvPr/>
        </p:nvGrpSpPr>
        <p:grpSpPr>
          <a:xfrm>
            <a:off x="381000" y="1090043"/>
            <a:ext cx="4095900" cy="1428900"/>
            <a:chOff x="4667250" y="952500"/>
            <a:chExt cx="4095900" cy="1428900"/>
          </a:xfrm>
        </p:grpSpPr>
        <p:sp>
          <p:nvSpPr>
            <p:cNvPr id="122" name="Google Shape;122;p21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434343"/>
                </a:solidFill>
              </a:endParaRPr>
            </a:p>
          </p:txBody>
        </p:sp>
        <p:sp>
          <p:nvSpPr>
            <p:cNvPr id="123" name="Google Shape;123;p21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434343"/>
                  </a:solidFill>
                </a:rPr>
                <a:t>DevOps</a:t>
              </a:r>
              <a:endParaRPr sz="1800" b="1">
                <a:solidFill>
                  <a:srgbClr val="434343"/>
                </a:solidFill>
              </a:endParaRPr>
            </a:p>
            <a:p>
              <a:pPr marL="0" lvl="0" indent="457200" algn="just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>
                  <a:solidFill>
                    <a:srgbClr val="434343"/>
                  </a:solidFill>
                </a:rPr>
                <a:t>Integra desenvolvimento, testes e operações, utilizando automação para acelerar entregas de software com mais qualidade, estabilidade e redução de erros.</a:t>
              </a:r>
              <a:endParaRPr>
                <a:solidFill>
                  <a:srgbClr val="434343"/>
                </a:solidFill>
              </a:endParaRPr>
            </a:p>
          </p:txBody>
        </p:sp>
      </p:grpSp>
      <p:grpSp>
        <p:nvGrpSpPr>
          <p:cNvPr id="124" name="Google Shape;124;p21"/>
          <p:cNvGrpSpPr/>
          <p:nvPr/>
        </p:nvGrpSpPr>
        <p:grpSpPr>
          <a:xfrm>
            <a:off x="380850" y="2813080"/>
            <a:ext cx="8382150" cy="1714500"/>
            <a:chOff x="381000" y="2571750"/>
            <a:chExt cx="8382150" cy="1714500"/>
          </a:xfrm>
        </p:grpSpPr>
        <p:sp>
          <p:nvSpPr>
            <p:cNvPr id="125" name="Google Shape;125;p21"/>
            <p:cNvSpPr/>
            <p:nvPr/>
          </p:nvSpPr>
          <p:spPr>
            <a:xfrm>
              <a:off x="381000" y="2571750"/>
              <a:ext cx="8382000" cy="1714500"/>
            </a:xfrm>
            <a:prstGeom prst="roundRect">
              <a:avLst>
                <a:gd name="adj" fmla="val 5555"/>
              </a:avLst>
            </a:prstGeom>
            <a:solidFill>
              <a:srgbClr val="20252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1"/>
            <p:cNvSpPr txBox="1"/>
            <p:nvPr/>
          </p:nvSpPr>
          <p:spPr>
            <a:xfrm>
              <a:off x="762000" y="2762245"/>
              <a:ext cx="4095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3F3F3"/>
                  </a:solidFill>
                </a:rPr>
                <a:t>O Papel das Pipelines</a:t>
              </a:r>
              <a:endParaRPr sz="1800" b="1">
                <a:solidFill>
                  <a:srgbClr val="F3F3F3"/>
                </a:solidFill>
              </a:endParaRPr>
            </a:p>
            <a:p>
              <a:pPr marL="0" lvl="0" indent="457200" algn="just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F3F3F3"/>
                  </a:solidFill>
                </a:rPr>
                <a:t>As pipelines de CI tornaram-se fundamentais no desenvolvimento moderno, automatizando validações e garantindo qualidade contínua durante todo o ciclo de entrega.</a:t>
              </a:r>
              <a:endParaRPr sz="1200">
                <a:solidFill>
                  <a:srgbClr val="F3F3F3"/>
                </a:solidFill>
              </a:endParaRPr>
            </a:p>
          </p:txBody>
        </p:sp>
        <p:pic>
          <p:nvPicPr>
            <p:cNvPr id="127" name="Google Shape;127;p21" descr="A high-tech digital visualization of a software delivery pipeline with glowing nodes and connecting lines, professional corporate style, dark theme."/>
            <p:cNvPicPr preferRelativeResize="0"/>
            <p:nvPr/>
          </p:nvPicPr>
          <p:blipFill rotWithShape="1">
            <a:blip r:embed="rId3">
              <a:alphaModFix/>
            </a:blip>
            <a:srcRect t="4288" b="4288"/>
            <a:stretch/>
          </p:blipFill>
          <p:spPr>
            <a:xfrm>
              <a:off x="5429250" y="2571750"/>
              <a:ext cx="3333900" cy="1714500"/>
            </a:xfrm>
            <a:prstGeom prst="roundRect">
              <a:avLst>
                <a:gd name="adj" fmla="val 5555"/>
              </a:avLst>
            </a:prstGeom>
            <a:noFill/>
            <a:ln>
              <a:noFill/>
            </a:ln>
          </p:spPr>
        </p:pic>
      </p:grpSp>
      <p:sp>
        <p:nvSpPr>
          <p:cNvPr id="128" name="Google Shape;128;p21"/>
          <p:cNvSpPr txBox="1"/>
          <p:nvPr/>
        </p:nvSpPr>
        <p:spPr>
          <a:xfrm>
            <a:off x="380925" y="452757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>
                <a:solidFill>
                  <a:srgbClr val="434343"/>
                </a:solidFill>
              </a:rPr>
              <a:t>"Qualidade contínua ao longo de todo o ciclo de entrega" SATO (2014).</a:t>
            </a:r>
            <a:endParaRPr i="1">
              <a:solidFill>
                <a:srgbClr val="434343"/>
              </a:solidFill>
            </a:endParaRPr>
          </a:p>
        </p:txBody>
      </p:sp>
      <p:grpSp>
        <p:nvGrpSpPr>
          <p:cNvPr id="129" name="Google Shape;129;p21"/>
          <p:cNvGrpSpPr/>
          <p:nvPr/>
        </p:nvGrpSpPr>
        <p:grpSpPr>
          <a:xfrm>
            <a:off x="4667100" y="1090055"/>
            <a:ext cx="4095900" cy="1428900"/>
            <a:chOff x="4667250" y="952500"/>
            <a:chExt cx="4095900" cy="1428900"/>
          </a:xfrm>
        </p:grpSpPr>
        <p:sp>
          <p:nvSpPr>
            <p:cNvPr id="130" name="Google Shape;130;p21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434343"/>
                </a:solidFill>
              </a:endParaRPr>
            </a:p>
          </p:txBody>
        </p:sp>
        <p:sp>
          <p:nvSpPr>
            <p:cNvPr id="131" name="Google Shape;131;p21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434343"/>
                  </a:solidFill>
                </a:rPr>
                <a:t>Definição de Pipeline</a:t>
              </a:r>
              <a:endParaRPr sz="1800" b="1">
                <a:solidFill>
                  <a:srgbClr val="434343"/>
                </a:solidFill>
              </a:endParaRPr>
            </a:p>
            <a:p>
              <a:pPr marL="0" lvl="0" indent="45720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>
                  <a:solidFill>
                    <a:srgbClr val="434343"/>
                  </a:solidFill>
                </a:rPr>
                <a:t>Responsável por executar validações, testes e processos de entrega da aplicação de forma contínua, confiável e padronizada.</a:t>
              </a:r>
              <a:endParaRPr>
                <a:solidFill>
                  <a:srgbClr val="43434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>
                  <a:solidFill>
                    <a:srgbClr val="434343"/>
                  </a:solidFill>
                </a:rPr>
                <a:t>Humble e Priklandnicki (2013).</a:t>
              </a:r>
              <a:endParaRPr>
                <a:solidFill>
                  <a:srgbClr val="43434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Reflexão Inicial</a:t>
            </a:r>
            <a:endParaRPr/>
          </a:p>
        </p:txBody>
      </p:sp>
      <p:grpSp>
        <p:nvGrpSpPr>
          <p:cNvPr id="137" name="Google Shape;137;p22"/>
          <p:cNvGrpSpPr/>
          <p:nvPr/>
        </p:nvGrpSpPr>
        <p:grpSpPr>
          <a:xfrm>
            <a:off x="523790" y="1115025"/>
            <a:ext cx="8096174" cy="762000"/>
            <a:chOff x="381000" y="1333500"/>
            <a:chExt cx="8382000" cy="762000"/>
          </a:xfrm>
        </p:grpSpPr>
        <p:sp>
          <p:nvSpPr>
            <p:cNvPr id="138" name="Google Shape;138;p22"/>
            <p:cNvSpPr/>
            <p:nvPr/>
          </p:nvSpPr>
          <p:spPr>
            <a:xfrm>
              <a:off x="381000" y="1333500"/>
              <a:ext cx="83820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2"/>
            <p:cNvSpPr txBox="1"/>
            <p:nvPr/>
          </p:nvSpPr>
          <p:spPr>
            <a:xfrm>
              <a:off x="666750" y="1333500"/>
              <a:ext cx="781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45720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i="1">
                  <a:solidFill>
                    <a:srgbClr val="434343"/>
                  </a:solidFill>
                </a:rPr>
                <a:t>“O que acontece quando as validações de software são realizadas apenas manualmente ou são inexistentes?”</a:t>
              </a:r>
              <a:endParaRPr sz="1800" i="1">
                <a:solidFill>
                  <a:srgbClr val="434343"/>
                </a:solidFill>
              </a:endParaRPr>
            </a:p>
          </p:txBody>
        </p:sp>
      </p:grpSp>
      <p:grpSp>
        <p:nvGrpSpPr>
          <p:cNvPr id="140" name="Google Shape;140;p22"/>
          <p:cNvGrpSpPr/>
          <p:nvPr/>
        </p:nvGrpSpPr>
        <p:grpSpPr>
          <a:xfrm>
            <a:off x="523800" y="2067525"/>
            <a:ext cx="8096400" cy="2571750"/>
            <a:chOff x="381000" y="2286000"/>
            <a:chExt cx="8096400" cy="2571750"/>
          </a:xfrm>
        </p:grpSpPr>
        <p:sp>
          <p:nvSpPr>
            <p:cNvPr id="141" name="Google Shape;141;p22"/>
            <p:cNvSpPr txBox="1"/>
            <p:nvPr/>
          </p:nvSpPr>
          <p:spPr>
            <a:xfrm>
              <a:off x="381000" y="228600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434343"/>
                  </a:solidFill>
                </a:rPr>
                <a:t>Possíveis Consequências</a:t>
              </a:r>
              <a:endParaRPr sz="1800" b="1">
                <a:solidFill>
                  <a:srgbClr val="434343"/>
                </a:solidFill>
              </a:endParaRPr>
            </a:p>
          </p:txBody>
        </p:sp>
        <p:grpSp>
          <p:nvGrpSpPr>
            <p:cNvPr id="142" name="Google Shape;142;p22"/>
            <p:cNvGrpSpPr/>
            <p:nvPr/>
          </p:nvGrpSpPr>
          <p:grpSpPr>
            <a:xfrm>
              <a:off x="381000" y="2762250"/>
              <a:ext cx="8096400" cy="2095500"/>
              <a:chOff x="381000" y="2762250"/>
              <a:chExt cx="8096400" cy="2095500"/>
            </a:xfrm>
          </p:grpSpPr>
          <p:grpSp>
            <p:nvGrpSpPr>
              <p:cNvPr id="143" name="Google Shape;143;p22"/>
              <p:cNvGrpSpPr/>
              <p:nvPr/>
            </p:nvGrpSpPr>
            <p:grpSpPr>
              <a:xfrm>
                <a:off x="381000" y="2762250"/>
                <a:ext cx="2571900" cy="2095500"/>
                <a:chOff x="0" y="0"/>
                <a:chExt cx="2571900" cy="2095500"/>
              </a:xfrm>
            </p:grpSpPr>
            <p:sp>
              <p:nvSpPr>
                <p:cNvPr id="144" name="Google Shape;144;p22"/>
                <p:cNvSpPr/>
                <p:nvPr/>
              </p:nvSpPr>
              <p:spPr>
                <a:xfrm>
                  <a:off x="0" y="0"/>
                  <a:ext cx="2571900" cy="95250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00"/>
                </a:p>
              </p:txBody>
            </p:sp>
            <p:sp>
              <p:nvSpPr>
                <p:cNvPr id="145" name="Google Shape;145;p22"/>
                <p:cNvSpPr txBox="1"/>
                <p:nvPr/>
              </p:nvSpPr>
              <p:spPr>
                <a:xfrm>
                  <a:off x="142875" y="95250"/>
                  <a:ext cx="2286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b="1">
                      <a:solidFill>
                        <a:srgbClr val="EF4444"/>
                      </a:solidFill>
                    </a:rPr>
                    <a:t>Erros Humanos</a:t>
                  </a:r>
                  <a:endParaRPr b="1">
                    <a:solidFill>
                      <a:srgbClr val="EF4444"/>
                    </a:solidFill>
                  </a:endParaRPr>
                </a:p>
                <a:p>
                  <a:pPr marL="0" lvl="0" indent="0" algn="l" rtl="0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pt-BR" sz="1200">
                      <a:solidFill>
                        <a:srgbClr val="475569"/>
                      </a:solidFill>
                    </a:rPr>
                    <a:t>Falhas manuais comprometem a qualidade e aumentam riscos durante as entregas.</a:t>
                  </a:r>
                  <a:endParaRPr sz="1200">
                    <a:solidFill>
                      <a:srgbClr val="475569"/>
                    </a:solidFill>
                  </a:endParaRPr>
                </a:p>
              </p:txBody>
            </p:sp>
            <p:sp>
              <p:nvSpPr>
                <p:cNvPr id="146" name="Google Shape;146;p22"/>
                <p:cNvSpPr/>
                <p:nvPr/>
              </p:nvSpPr>
              <p:spPr>
                <a:xfrm>
                  <a:off x="0" y="1143000"/>
                  <a:ext cx="2571900" cy="95250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00"/>
                </a:p>
              </p:txBody>
            </p:sp>
            <p:sp>
              <p:nvSpPr>
                <p:cNvPr id="147" name="Google Shape;147;p22"/>
                <p:cNvSpPr txBox="1"/>
                <p:nvPr/>
              </p:nvSpPr>
              <p:spPr>
                <a:xfrm>
                  <a:off x="142875" y="1238250"/>
                  <a:ext cx="2286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b="1">
                      <a:solidFill>
                        <a:srgbClr val="EF4444"/>
                      </a:solidFill>
                    </a:rPr>
                    <a:t>Falhas em Produção</a:t>
                  </a:r>
                  <a:endParaRPr b="1">
                    <a:solidFill>
                      <a:srgbClr val="EF4444"/>
                    </a:solidFill>
                  </a:endParaRPr>
                </a:p>
                <a:p>
                  <a:pPr marL="0" lvl="0" indent="0" algn="l" rtl="0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pt-BR" sz="1200">
                      <a:solidFill>
                        <a:srgbClr val="475569"/>
                      </a:solidFill>
                    </a:rPr>
                    <a:t>Bugs críticos afetam usuários e comprometem a estabilidade do sistema.</a:t>
                  </a:r>
                  <a:endParaRPr sz="1200">
                    <a:solidFill>
                      <a:srgbClr val="475569"/>
                    </a:solidFill>
                  </a:endParaRPr>
                </a:p>
              </p:txBody>
            </p:sp>
          </p:grpSp>
          <p:grpSp>
            <p:nvGrpSpPr>
              <p:cNvPr id="148" name="Google Shape;148;p22"/>
              <p:cNvGrpSpPr/>
              <p:nvPr/>
            </p:nvGrpSpPr>
            <p:grpSpPr>
              <a:xfrm>
                <a:off x="3143250" y="2762250"/>
                <a:ext cx="2571900" cy="2095500"/>
                <a:chOff x="0" y="0"/>
                <a:chExt cx="2571900" cy="2095500"/>
              </a:xfrm>
            </p:grpSpPr>
            <p:sp>
              <p:nvSpPr>
                <p:cNvPr id="149" name="Google Shape;149;p22"/>
                <p:cNvSpPr/>
                <p:nvPr/>
              </p:nvSpPr>
              <p:spPr>
                <a:xfrm>
                  <a:off x="0" y="0"/>
                  <a:ext cx="2571900" cy="95250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00"/>
                </a:p>
              </p:txBody>
            </p:sp>
            <p:sp>
              <p:nvSpPr>
                <p:cNvPr id="150" name="Google Shape;150;p22"/>
                <p:cNvSpPr txBox="1"/>
                <p:nvPr/>
              </p:nvSpPr>
              <p:spPr>
                <a:xfrm>
                  <a:off x="142875" y="95250"/>
                  <a:ext cx="2286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b="1">
                      <a:solidFill>
                        <a:srgbClr val="EF4444"/>
                      </a:solidFill>
                    </a:rPr>
                    <a:t>Retrabalho</a:t>
                  </a:r>
                  <a:endParaRPr b="1">
                    <a:solidFill>
                      <a:srgbClr val="EF4444"/>
                    </a:solidFill>
                  </a:endParaRPr>
                </a:p>
                <a:p>
                  <a:pPr marL="0" lvl="0" indent="0" algn="l" rtl="0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pt-BR" sz="1200">
                      <a:solidFill>
                        <a:srgbClr val="475569"/>
                      </a:solidFill>
                    </a:rPr>
                    <a:t>Tempo excessivo corrigindo problemas que poderiam ser identificados antecipadamente.</a:t>
                  </a:r>
                  <a:endParaRPr sz="1200">
                    <a:solidFill>
                      <a:srgbClr val="475569"/>
                    </a:solidFill>
                  </a:endParaRPr>
                </a:p>
              </p:txBody>
            </p:sp>
            <p:sp>
              <p:nvSpPr>
                <p:cNvPr id="151" name="Google Shape;151;p22"/>
                <p:cNvSpPr/>
                <p:nvPr/>
              </p:nvSpPr>
              <p:spPr>
                <a:xfrm>
                  <a:off x="0" y="1143000"/>
                  <a:ext cx="2571900" cy="95250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00"/>
                </a:p>
              </p:txBody>
            </p:sp>
            <p:sp>
              <p:nvSpPr>
                <p:cNvPr id="152" name="Google Shape;152;p22"/>
                <p:cNvSpPr txBox="1"/>
                <p:nvPr/>
              </p:nvSpPr>
              <p:spPr>
                <a:xfrm>
                  <a:off x="142875" y="1238250"/>
                  <a:ext cx="2286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b="1">
                      <a:solidFill>
                        <a:srgbClr val="EF4444"/>
                      </a:solidFill>
                    </a:rPr>
                    <a:t>Inconsistência</a:t>
                  </a:r>
                  <a:endParaRPr b="1">
                    <a:solidFill>
                      <a:srgbClr val="EF4444"/>
                    </a:solidFill>
                  </a:endParaRPr>
                </a:p>
                <a:p>
                  <a:pPr marL="0" lvl="0" indent="0" algn="l" rtl="0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pt-BR" sz="1200">
                      <a:solidFill>
                        <a:srgbClr val="475569"/>
                      </a:solidFill>
                    </a:rPr>
                    <a:t>Diferenças entre teste e produção geram comportamentos imprevisíveis.</a:t>
                  </a:r>
                  <a:endParaRPr sz="1200">
                    <a:solidFill>
                      <a:srgbClr val="475569"/>
                    </a:solidFill>
                  </a:endParaRPr>
                </a:p>
              </p:txBody>
            </p:sp>
          </p:grpSp>
          <p:grpSp>
            <p:nvGrpSpPr>
              <p:cNvPr id="153" name="Google Shape;153;p22"/>
              <p:cNvGrpSpPr/>
              <p:nvPr/>
            </p:nvGrpSpPr>
            <p:grpSpPr>
              <a:xfrm>
                <a:off x="5905500" y="2762250"/>
                <a:ext cx="2571900" cy="2095500"/>
                <a:chOff x="0" y="0"/>
                <a:chExt cx="2571900" cy="2095500"/>
              </a:xfrm>
            </p:grpSpPr>
            <p:sp>
              <p:nvSpPr>
                <p:cNvPr id="154" name="Google Shape;154;p22"/>
                <p:cNvSpPr/>
                <p:nvPr/>
              </p:nvSpPr>
              <p:spPr>
                <a:xfrm>
                  <a:off x="0" y="0"/>
                  <a:ext cx="2571900" cy="95250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00"/>
                </a:p>
              </p:txBody>
            </p:sp>
            <p:sp>
              <p:nvSpPr>
                <p:cNvPr id="155" name="Google Shape;155;p22"/>
                <p:cNvSpPr txBox="1"/>
                <p:nvPr/>
              </p:nvSpPr>
              <p:spPr>
                <a:xfrm>
                  <a:off x="142875" y="95250"/>
                  <a:ext cx="2286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b="1">
                      <a:solidFill>
                        <a:srgbClr val="EF4444"/>
                      </a:solidFill>
                    </a:rPr>
                    <a:t>Feedback lento</a:t>
                  </a:r>
                  <a:endParaRPr b="1">
                    <a:solidFill>
                      <a:srgbClr val="EF4444"/>
                    </a:solidFill>
                  </a:endParaRPr>
                </a:p>
                <a:p>
                  <a:pPr marL="0" lvl="0" indent="0" algn="l" rtl="0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pt-BR" sz="1200">
                      <a:solidFill>
                        <a:srgbClr val="475569"/>
                      </a:solidFill>
                    </a:rPr>
                    <a:t>A identificação tardia de falhas reduz a agilidade do desenvolvimento.</a:t>
                  </a:r>
                  <a:endParaRPr sz="1200">
                    <a:solidFill>
                      <a:srgbClr val="475569"/>
                    </a:solidFill>
                  </a:endParaRPr>
                </a:p>
              </p:txBody>
            </p:sp>
            <p:sp>
              <p:nvSpPr>
                <p:cNvPr id="156" name="Google Shape;156;p22"/>
                <p:cNvSpPr/>
                <p:nvPr/>
              </p:nvSpPr>
              <p:spPr>
                <a:xfrm>
                  <a:off x="0" y="1143000"/>
                  <a:ext cx="2571900" cy="95250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00"/>
                </a:p>
              </p:txBody>
            </p:sp>
            <p:sp>
              <p:nvSpPr>
                <p:cNvPr id="157" name="Google Shape;157;p22"/>
                <p:cNvSpPr txBox="1"/>
                <p:nvPr/>
              </p:nvSpPr>
              <p:spPr>
                <a:xfrm>
                  <a:off x="142875" y="1238250"/>
                  <a:ext cx="2286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b="1">
                      <a:solidFill>
                        <a:srgbClr val="EF4444"/>
                      </a:solidFill>
                    </a:rPr>
                    <a:t>Baixa Previsibilidade</a:t>
                  </a:r>
                  <a:endParaRPr b="1">
                    <a:solidFill>
                      <a:srgbClr val="EF4444"/>
                    </a:solidFill>
                  </a:endParaRPr>
                </a:p>
                <a:p>
                  <a:pPr marL="0" lvl="0" indent="0" algn="l" rtl="0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pt-BR" sz="1200">
                      <a:solidFill>
                        <a:srgbClr val="475569"/>
                      </a:solidFill>
                    </a:rPr>
                    <a:t>Dificuldade em manter prazos e garantir entregas de confiáveis.</a:t>
                  </a:r>
                  <a:endParaRPr sz="1200">
                    <a:solidFill>
                      <a:srgbClr val="475569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Situação-Problema</a:t>
            </a:r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body" idx="1"/>
          </p:nvPr>
        </p:nvSpPr>
        <p:spPr>
          <a:xfrm>
            <a:off x="2968375" y="1152475"/>
            <a:ext cx="586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/>
              <a:t>Vendedores de uma loja de roupas realizavam o cálculo de descontos manualmente, gerando </a:t>
            </a:r>
            <a:r>
              <a:rPr lang="pt-BR" sz="1600" b="1"/>
              <a:t>erros frequentes</a:t>
            </a:r>
            <a:r>
              <a:rPr lang="pt-BR" sz="1600"/>
              <a:t> e </a:t>
            </a:r>
            <a:r>
              <a:rPr lang="pt-BR" sz="1600" b="1"/>
              <a:t>inconsistências no atendimento</a:t>
            </a:r>
            <a:r>
              <a:rPr lang="pt-BR" sz="1600"/>
              <a:t>. A falta de padronização resultava em clientes insatisfeitos, retrabalho e perda de confiança no processo de vendas.</a:t>
            </a:r>
            <a:endParaRPr sz="1600"/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2562284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/>
          <p:nvPr/>
        </p:nvSpPr>
        <p:spPr>
          <a:xfrm>
            <a:off x="3079400" y="3159625"/>
            <a:ext cx="2793000" cy="1409400"/>
          </a:xfrm>
          <a:prstGeom prst="roundRect">
            <a:avLst>
              <a:gd name="adj" fmla="val 4676"/>
            </a:avLst>
          </a:prstGeom>
          <a:solidFill>
            <a:srgbClr val="F8FAFC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3254585" y="3321855"/>
            <a:ext cx="21177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pt-BR" sz="1200" b="1" i="0" u="none" strike="noStrike" cap="none">
                <a:solidFill>
                  <a:srgbClr val="272525"/>
                </a:solidFill>
              </a:rPr>
              <a:t>Erros humanos</a:t>
            </a:r>
            <a:endParaRPr sz="1200" i="0" u="none" strike="noStrike" cap="none"/>
          </a:p>
        </p:txBody>
      </p:sp>
      <p:sp>
        <p:nvSpPr>
          <p:cNvPr id="167" name="Google Shape;167;p23"/>
          <p:cNvSpPr/>
          <p:nvPr/>
        </p:nvSpPr>
        <p:spPr>
          <a:xfrm>
            <a:off x="3254585" y="3659618"/>
            <a:ext cx="24426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pt-BR" sz="1200" i="0" u="none" strike="noStrike" cap="none">
                <a:solidFill>
                  <a:srgbClr val="272525"/>
                </a:solidFill>
              </a:rPr>
              <a:t>Cálculos incorretos geravam divergências nos valores cobrados</a:t>
            </a:r>
            <a:endParaRPr sz="1200" i="0" u="none" strike="noStrike" cap="none"/>
          </a:p>
        </p:txBody>
      </p:sp>
      <p:sp>
        <p:nvSpPr>
          <p:cNvPr id="168" name="Google Shape;168;p23"/>
          <p:cNvSpPr/>
          <p:nvPr/>
        </p:nvSpPr>
        <p:spPr>
          <a:xfrm>
            <a:off x="6039200" y="3159625"/>
            <a:ext cx="2793000" cy="1409400"/>
          </a:xfrm>
          <a:prstGeom prst="roundRect">
            <a:avLst>
              <a:gd name="adj" fmla="val 4676"/>
            </a:avLst>
          </a:prstGeom>
          <a:solidFill>
            <a:srgbClr val="F8FAFC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3"/>
          <p:cNvSpPr/>
          <p:nvPr/>
        </p:nvSpPr>
        <p:spPr>
          <a:xfrm>
            <a:off x="6214385" y="3321855"/>
            <a:ext cx="21177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pt-BR" sz="1200" b="1" i="0" u="none" strike="noStrike" cap="none">
                <a:solidFill>
                  <a:srgbClr val="272525"/>
                </a:solidFill>
              </a:rPr>
              <a:t>Inconsistência</a:t>
            </a:r>
            <a:endParaRPr sz="1200" i="0" u="none" strike="noStrike" cap="none"/>
          </a:p>
        </p:txBody>
      </p:sp>
      <p:sp>
        <p:nvSpPr>
          <p:cNvPr id="170" name="Google Shape;170;p23"/>
          <p:cNvSpPr/>
          <p:nvPr/>
        </p:nvSpPr>
        <p:spPr>
          <a:xfrm>
            <a:off x="6214385" y="3659618"/>
            <a:ext cx="24426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pt-BR" sz="1200" i="0" u="none" strike="noStrike" cap="none">
                <a:solidFill>
                  <a:srgbClr val="272525"/>
                </a:solidFill>
              </a:rPr>
              <a:t>Cada vendedor aplicava descontos de forma diferente</a:t>
            </a:r>
            <a:endParaRPr sz="120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Situação-Problema</a:t>
            </a:r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431325" y="1152475"/>
            <a:ext cx="4523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/>
              <a:t>Foi desenvolvido um </a:t>
            </a:r>
            <a:r>
              <a:rPr lang="pt-BR" sz="1600" b="1"/>
              <a:t>sistema web</a:t>
            </a:r>
            <a:r>
              <a:rPr lang="pt-BR" sz="1600"/>
              <a:t> capaz de calcular descontos automaticamente, seguindo regras definidas pela empresa de forma </a:t>
            </a:r>
            <a:r>
              <a:rPr lang="pt-BR" sz="1600" b="1"/>
              <a:t>padronizada </a:t>
            </a:r>
            <a:r>
              <a:rPr lang="pt-BR" sz="1600"/>
              <a:t>e </a:t>
            </a:r>
            <a:r>
              <a:rPr lang="pt-BR" sz="1600" b="1"/>
              <a:t>confiável</a:t>
            </a:r>
            <a:r>
              <a:rPr lang="pt-BR" sz="1600"/>
              <a:t>. A automação reduziu falhas, agilizou o atendimento aos clientes e eliminou a dependência de cálculos manuais durante as vendas.</a:t>
            </a:r>
            <a:endParaRPr sz="1600"/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6978" y="1167049"/>
            <a:ext cx="3695321" cy="240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 txBox="1"/>
          <p:nvPr/>
        </p:nvSpPr>
        <p:spPr>
          <a:xfrm>
            <a:off x="5031925" y="3568388"/>
            <a:ext cx="390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434343"/>
                </a:solidFill>
              </a:rPr>
              <a:t>Fonte</a:t>
            </a:r>
            <a:r>
              <a:rPr lang="pt-BR" sz="1200">
                <a:solidFill>
                  <a:srgbClr val="434343"/>
                </a:solidFill>
              </a:rPr>
              <a:t>: </a:t>
            </a:r>
            <a:r>
              <a:rPr lang="pt-BR" sz="1200">
                <a:solidFill>
                  <a:srgbClr val="434343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Elaborado pelo autor.</a:t>
            </a:r>
            <a:endParaRPr sz="1200">
              <a:solidFill>
                <a:srgbClr val="434343"/>
              </a:solidFill>
            </a:endParaRPr>
          </a:p>
        </p:txBody>
      </p:sp>
      <p:grpSp>
        <p:nvGrpSpPr>
          <p:cNvPr id="179" name="Google Shape;179;p24"/>
          <p:cNvGrpSpPr/>
          <p:nvPr/>
        </p:nvGrpSpPr>
        <p:grpSpPr>
          <a:xfrm>
            <a:off x="304800" y="3997173"/>
            <a:ext cx="8534400" cy="765410"/>
            <a:chOff x="304800" y="4191000"/>
            <a:chExt cx="8534400" cy="571500"/>
          </a:xfrm>
        </p:grpSpPr>
        <p:sp>
          <p:nvSpPr>
            <p:cNvPr id="180" name="Google Shape;180;p24"/>
            <p:cNvSpPr/>
            <p:nvPr/>
          </p:nvSpPr>
          <p:spPr>
            <a:xfrm>
              <a:off x="304800" y="4191000"/>
              <a:ext cx="8534400" cy="5715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4"/>
            <p:cNvSpPr txBox="1"/>
            <p:nvPr/>
          </p:nvSpPr>
          <p:spPr>
            <a:xfrm>
              <a:off x="304800" y="4191000"/>
              <a:ext cx="8534400" cy="571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Compras </a:t>
              </a:r>
              <a:r>
                <a:rPr lang="pt-BR" b="1">
                  <a:solidFill>
                    <a:srgbClr val="434343"/>
                  </a:solidFill>
                </a:rPr>
                <a:t>abaixo </a:t>
              </a:r>
              <a:r>
                <a:rPr lang="pt-BR">
                  <a:solidFill>
                    <a:srgbClr val="434343"/>
                  </a:solidFill>
                </a:rPr>
                <a:t>de R$ 100 recebem </a:t>
              </a:r>
              <a:r>
                <a:rPr lang="pt-BR" b="1">
                  <a:solidFill>
                    <a:srgbClr val="434343"/>
                  </a:solidFill>
                </a:rPr>
                <a:t>10%</a:t>
              </a:r>
              <a:r>
                <a:rPr lang="pt-BR">
                  <a:solidFill>
                    <a:srgbClr val="434343"/>
                  </a:solidFill>
                </a:rPr>
                <a:t> de desconto.</a:t>
              </a:r>
              <a:endParaRPr>
                <a:solidFill>
                  <a:srgbClr val="434343"/>
                </a:solidFill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Char char="●"/>
              </a:pPr>
              <a:r>
                <a:rPr lang="pt-BR">
                  <a:solidFill>
                    <a:srgbClr val="434343"/>
                  </a:solidFill>
                </a:rPr>
                <a:t>Compras </a:t>
              </a:r>
              <a:r>
                <a:rPr lang="pt-BR" b="1">
                  <a:solidFill>
                    <a:srgbClr val="434343"/>
                  </a:solidFill>
                </a:rPr>
                <a:t>iguais ou superiores</a:t>
              </a:r>
              <a:r>
                <a:rPr lang="pt-BR">
                  <a:solidFill>
                    <a:srgbClr val="434343"/>
                  </a:solidFill>
                </a:rPr>
                <a:t> a R$ 100 recebem </a:t>
              </a:r>
              <a:r>
                <a:rPr lang="pt-BR" b="1">
                  <a:solidFill>
                    <a:srgbClr val="434343"/>
                  </a:solidFill>
                </a:rPr>
                <a:t>5%</a:t>
              </a:r>
              <a:r>
                <a:rPr lang="pt-BR">
                  <a:solidFill>
                    <a:srgbClr val="434343"/>
                  </a:solidFill>
                </a:rPr>
                <a:t> de desconto.</a:t>
              </a:r>
              <a:endParaRPr>
                <a:solidFill>
                  <a:srgbClr val="434343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5"/>
          <p:cNvPicPr preferRelativeResize="0"/>
          <p:nvPr/>
        </p:nvPicPr>
        <p:blipFill rotWithShape="1">
          <a:blip r:embed="rId3">
            <a:alphaModFix/>
          </a:blip>
          <a:srcRect t="4288"/>
          <a:stretch/>
        </p:blipFill>
        <p:spPr>
          <a:xfrm>
            <a:off x="1320250" y="596250"/>
            <a:ext cx="6503499" cy="401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/>
        </p:nvSpPr>
        <p:spPr>
          <a:xfrm>
            <a:off x="2310438" y="4607075"/>
            <a:ext cx="452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2"/>
                </a:solidFill>
              </a:rPr>
              <a:t>Fonte</a:t>
            </a:r>
            <a:r>
              <a:rPr lang="pt-BR" sz="1200">
                <a:solidFill>
                  <a:schemeClr val="dk2"/>
                </a:solidFill>
              </a:rPr>
              <a:t>: Elaborado pelo autor.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Utilizadas</a:t>
            </a:r>
            <a:endParaRPr/>
          </a:p>
        </p:txBody>
      </p:sp>
      <p:grpSp>
        <p:nvGrpSpPr>
          <p:cNvPr id="193" name="Google Shape;193;p26"/>
          <p:cNvGrpSpPr/>
          <p:nvPr/>
        </p:nvGrpSpPr>
        <p:grpSpPr>
          <a:xfrm>
            <a:off x="381000" y="1402900"/>
            <a:ext cx="8382000" cy="2809800"/>
            <a:chOff x="381000" y="1333500"/>
            <a:chExt cx="8382000" cy="2809800"/>
          </a:xfrm>
        </p:grpSpPr>
        <p:grpSp>
          <p:nvGrpSpPr>
            <p:cNvPr id="194" name="Google Shape;194;p26"/>
            <p:cNvGrpSpPr/>
            <p:nvPr/>
          </p:nvGrpSpPr>
          <p:grpSpPr>
            <a:xfrm>
              <a:off x="381000" y="1333500"/>
              <a:ext cx="2667000" cy="1285800"/>
              <a:chOff x="381000" y="1333500"/>
              <a:chExt cx="2667000" cy="1285800"/>
            </a:xfrm>
          </p:grpSpPr>
          <p:sp>
            <p:nvSpPr>
              <p:cNvPr id="195" name="Google Shape;195;p26"/>
              <p:cNvSpPr/>
              <p:nvPr/>
            </p:nvSpPr>
            <p:spPr>
              <a:xfrm>
                <a:off x="381000" y="1333500"/>
                <a:ext cx="2667000" cy="1285800"/>
              </a:xfrm>
              <a:prstGeom prst="roundRect">
                <a:avLst>
                  <a:gd name="adj" fmla="val 888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6"/>
              <p:cNvSpPr txBox="1"/>
              <p:nvPr/>
            </p:nvSpPr>
            <p:spPr>
              <a:xfrm>
                <a:off x="381000" y="1333500"/>
                <a:ext cx="26670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007AC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💻</a:t>
                </a:r>
                <a:endParaRPr sz="2400">
                  <a:solidFill>
                    <a:srgbClr val="007ACC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VS Code</a:t>
                </a:r>
                <a:endParaRPr sz="16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Desenvolvimento do projeto</a:t>
                </a:r>
                <a:endParaRPr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26"/>
            <p:cNvGrpSpPr/>
            <p:nvPr/>
          </p:nvGrpSpPr>
          <p:grpSpPr>
            <a:xfrm>
              <a:off x="3238500" y="1333500"/>
              <a:ext cx="2667000" cy="1285800"/>
              <a:chOff x="3238500" y="1333500"/>
              <a:chExt cx="2667000" cy="1285800"/>
            </a:xfrm>
          </p:grpSpPr>
          <p:sp>
            <p:nvSpPr>
              <p:cNvPr id="198" name="Google Shape;198;p26"/>
              <p:cNvSpPr/>
              <p:nvPr/>
            </p:nvSpPr>
            <p:spPr>
              <a:xfrm>
                <a:off x="3238500" y="1333500"/>
                <a:ext cx="2667000" cy="1285800"/>
              </a:xfrm>
              <a:prstGeom prst="roundRect">
                <a:avLst>
                  <a:gd name="adj" fmla="val 888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6"/>
              <p:cNvSpPr txBox="1"/>
              <p:nvPr/>
            </p:nvSpPr>
            <p:spPr>
              <a:xfrm>
                <a:off x="3238500" y="1333500"/>
                <a:ext cx="26670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F05032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📦</a:t>
                </a:r>
                <a:endParaRPr sz="2400">
                  <a:solidFill>
                    <a:srgbClr val="F05032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Git</a:t>
                </a:r>
                <a:endParaRPr sz="16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Versionamento</a:t>
                </a:r>
                <a:endParaRPr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26"/>
            <p:cNvGrpSpPr/>
            <p:nvPr/>
          </p:nvGrpSpPr>
          <p:grpSpPr>
            <a:xfrm>
              <a:off x="6096000" y="1333500"/>
              <a:ext cx="2667000" cy="1285800"/>
              <a:chOff x="6096000" y="1333500"/>
              <a:chExt cx="2667000" cy="1285800"/>
            </a:xfrm>
          </p:grpSpPr>
          <p:sp>
            <p:nvSpPr>
              <p:cNvPr id="201" name="Google Shape;201;p26"/>
              <p:cNvSpPr/>
              <p:nvPr/>
            </p:nvSpPr>
            <p:spPr>
              <a:xfrm>
                <a:off x="6096000" y="1333500"/>
                <a:ext cx="2667000" cy="1285800"/>
              </a:xfrm>
              <a:prstGeom prst="roundRect">
                <a:avLst>
                  <a:gd name="adj" fmla="val 888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6"/>
              <p:cNvSpPr txBox="1"/>
              <p:nvPr/>
            </p:nvSpPr>
            <p:spPr>
              <a:xfrm>
                <a:off x="6096000" y="1333500"/>
                <a:ext cx="26670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18171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📤</a:t>
                </a:r>
                <a:endParaRPr sz="2400">
                  <a:solidFill>
                    <a:srgbClr val="18171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GitHub</a:t>
                </a:r>
                <a:endParaRPr sz="16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Repositório remoto</a:t>
                </a:r>
                <a:endParaRPr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26"/>
            <p:cNvGrpSpPr/>
            <p:nvPr/>
          </p:nvGrpSpPr>
          <p:grpSpPr>
            <a:xfrm>
              <a:off x="381000" y="2857500"/>
              <a:ext cx="2667000" cy="1285800"/>
              <a:chOff x="381000" y="2857500"/>
              <a:chExt cx="2667000" cy="1285800"/>
            </a:xfrm>
          </p:grpSpPr>
          <p:sp>
            <p:nvSpPr>
              <p:cNvPr id="204" name="Google Shape;204;p26"/>
              <p:cNvSpPr/>
              <p:nvPr/>
            </p:nvSpPr>
            <p:spPr>
              <a:xfrm>
                <a:off x="381000" y="2857500"/>
                <a:ext cx="2667000" cy="1285800"/>
              </a:xfrm>
              <a:prstGeom prst="roundRect">
                <a:avLst>
                  <a:gd name="adj" fmla="val 888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6"/>
              <p:cNvSpPr txBox="1"/>
              <p:nvPr/>
            </p:nvSpPr>
            <p:spPr>
              <a:xfrm>
                <a:off x="381000" y="2857500"/>
                <a:ext cx="26670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2088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⚙️</a:t>
                </a:r>
                <a:endParaRPr sz="2400">
                  <a:solidFill>
                    <a:srgbClr val="2088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GitHub Actions</a:t>
                </a:r>
                <a:endParaRPr sz="16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Automação da pipeline</a:t>
                </a:r>
                <a:endParaRPr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26"/>
            <p:cNvGrpSpPr/>
            <p:nvPr/>
          </p:nvGrpSpPr>
          <p:grpSpPr>
            <a:xfrm>
              <a:off x="3238500" y="2857500"/>
              <a:ext cx="2667000" cy="1285800"/>
              <a:chOff x="3238500" y="2857500"/>
              <a:chExt cx="2667000" cy="1285800"/>
            </a:xfrm>
          </p:grpSpPr>
          <p:sp>
            <p:nvSpPr>
              <p:cNvPr id="207" name="Google Shape;207;p26"/>
              <p:cNvSpPr/>
              <p:nvPr/>
            </p:nvSpPr>
            <p:spPr>
              <a:xfrm>
                <a:off x="3238500" y="2857500"/>
                <a:ext cx="2667000" cy="1285800"/>
              </a:xfrm>
              <a:prstGeom prst="roundRect">
                <a:avLst>
                  <a:gd name="adj" fmla="val 888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6"/>
              <p:cNvSpPr txBox="1"/>
              <p:nvPr/>
            </p:nvSpPr>
            <p:spPr>
              <a:xfrm>
                <a:off x="3238500" y="2857500"/>
                <a:ext cx="26670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latin typeface="Material Icons"/>
                    <a:ea typeface="Material Icons"/>
                    <a:cs typeface="Material Icons"/>
                    <a:sym typeface="Material Icons"/>
                  </a:rPr>
                  <a:t>☁️</a:t>
                </a:r>
                <a:endParaRPr sz="24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Vercel</a:t>
                </a:r>
                <a:endParaRPr sz="16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Deploy da aplicação</a:t>
                </a:r>
                <a:endParaRPr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9" name="Google Shape;209;p26"/>
            <p:cNvGrpSpPr/>
            <p:nvPr/>
          </p:nvGrpSpPr>
          <p:grpSpPr>
            <a:xfrm>
              <a:off x="6096000" y="2857500"/>
              <a:ext cx="2667000" cy="1285800"/>
              <a:chOff x="6096000" y="2857500"/>
              <a:chExt cx="2667000" cy="1285800"/>
            </a:xfrm>
          </p:grpSpPr>
          <p:sp>
            <p:nvSpPr>
              <p:cNvPr id="210" name="Google Shape;210;p26"/>
              <p:cNvSpPr/>
              <p:nvPr/>
            </p:nvSpPr>
            <p:spPr>
              <a:xfrm>
                <a:off x="6096000" y="2857500"/>
                <a:ext cx="2667000" cy="1285800"/>
              </a:xfrm>
              <a:prstGeom prst="roundRect">
                <a:avLst>
                  <a:gd name="adj" fmla="val 8888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6"/>
              <p:cNvSpPr txBox="1"/>
              <p:nvPr/>
            </p:nvSpPr>
            <p:spPr>
              <a:xfrm>
                <a:off x="6096000" y="2857500"/>
                <a:ext cx="26670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61DAF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🎨</a:t>
                </a:r>
                <a:endParaRPr sz="2400">
                  <a:solidFill>
                    <a:srgbClr val="61DAF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React</a:t>
                </a:r>
                <a:endParaRPr sz="16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Front-end da aplicação</a:t>
                </a:r>
                <a:endParaRPr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Situação-Problema: GitHub Actions</a:t>
            </a:r>
            <a:endParaRPr/>
          </a:p>
        </p:txBody>
      </p:sp>
      <p:grpSp>
        <p:nvGrpSpPr>
          <p:cNvPr id="217" name="Google Shape;217;p27"/>
          <p:cNvGrpSpPr/>
          <p:nvPr/>
        </p:nvGrpSpPr>
        <p:grpSpPr>
          <a:xfrm>
            <a:off x="380925" y="2271781"/>
            <a:ext cx="4095900" cy="2109521"/>
            <a:chOff x="381000" y="2095500"/>
            <a:chExt cx="4095900" cy="2286000"/>
          </a:xfrm>
        </p:grpSpPr>
        <p:sp>
          <p:nvSpPr>
            <p:cNvPr id="218" name="Google Shape;218;p27"/>
            <p:cNvSpPr/>
            <p:nvPr/>
          </p:nvSpPr>
          <p:spPr>
            <a:xfrm>
              <a:off x="381000" y="2095500"/>
              <a:ext cx="40959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E1E4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19" name="Google Shape;219;p27"/>
            <p:cNvSpPr txBox="1"/>
            <p:nvPr/>
          </p:nvSpPr>
          <p:spPr>
            <a:xfrm>
              <a:off x="571500" y="22860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Gatilhos (Workflows)</a:t>
              </a:r>
              <a:endParaRPr sz="1800" b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7"/>
            <p:cNvSpPr txBox="1"/>
            <p:nvPr/>
          </p:nvSpPr>
          <p:spPr>
            <a:xfrm>
              <a:off x="571500" y="2714625"/>
              <a:ext cx="3714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Iniciam automaticamente em ações como:</a:t>
              </a:r>
              <a:endParaRPr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 sz="14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Push de código</a:t>
              </a:r>
              <a:endParaRPr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 sz="14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Pull Requests</a:t>
              </a:r>
              <a:endParaRPr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 sz="14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Criação de Releases</a:t>
              </a:r>
              <a:endParaRPr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0"/>
                </a:spcAft>
                <a:buClr>
                  <a:srgbClr val="434343"/>
                </a:buClr>
                <a:buSzPts val="1400"/>
                <a:buFont typeface="Arial"/>
                <a:buChar char="●"/>
              </a:pPr>
              <a:r>
                <a:rPr lang="pt-BR" sz="14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Publicação de Tags</a:t>
              </a:r>
              <a:endParaRPr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p27"/>
          <p:cNvGrpSpPr/>
          <p:nvPr/>
        </p:nvGrpSpPr>
        <p:grpSpPr>
          <a:xfrm>
            <a:off x="4667175" y="2271781"/>
            <a:ext cx="4095900" cy="2109521"/>
            <a:chOff x="4667250" y="2095500"/>
            <a:chExt cx="4095900" cy="2286000"/>
          </a:xfrm>
        </p:grpSpPr>
        <p:sp>
          <p:nvSpPr>
            <p:cNvPr id="222" name="Google Shape;222;p27"/>
            <p:cNvSpPr/>
            <p:nvPr/>
          </p:nvSpPr>
          <p:spPr>
            <a:xfrm>
              <a:off x="4667250" y="2095500"/>
              <a:ext cx="4095900" cy="2286000"/>
            </a:xfrm>
            <a:prstGeom prst="roundRect">
              <a:avLst>
                <a:gd name="adj" fmla="val 5000"/>
              </a:avLst>
            </a:prstGeom>
            <a:solidFill>
              <a:srgbClr val="0D1117"/>
            </a:solidFill>
            <a:ln w="9525" cap="flat" cmpd="sng">
              <a:solidFill>
                <a:srgbClr val="3036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7"/>
            <p:cNvSpPr txBox="1"/>
            <p:nvPr/>
          </p:nvSpPr>
          <p:spPr>
            <a:xfrm>
              <a:off x="4857750" y="2286000"/>
              <a:ext cx="3714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7D859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É uma ferramenta nativa do GitHub que permite automatizar processos de integração contínua, testes e deploy de aplicações.</a:t>
              </a:r>
              <a:endParaRPr sz="1300">
                <a:solidFill>
                  <a:srgbClr val="7D859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7D859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on:</a:t>
              </a:r>
              <a:r>
                <a:rPr lang="pt-BR" sz="130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[push]</a:t>
              </a:r>
              <a:endParaRPr sz="13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jobs:</a:t>
              </a:r>
              <a:endParaRPr sz="13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1905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build:</a:t>
              </a:r>
              <a:endParaRPr sz="13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3810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runs-on:</a:t>
              </a:r>
              <a:r>
                <a:rPr lang="pt-BR" sz="130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pt-BR" sz="1300">
                  <a:solidFill>
                    <a:srgbClr val="A5D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ubuntu-latest</a:t>
              </a:r>
              <a:endParaRPr sz="13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24" name="Google Shape;224;p27"/>
          <p:cNvGrpSpPr/>
          <p:nvPr/>
        </p:nvGrpSpPr>
        <p:grpSpPr>
          <a:xfrm>
            <a:off x="381000" y="4524375"/>
            <a:ext cx="8382000" cy="381000"/>
            <a:chOff x="381000" y="4524375"/>
            <a:chExt cx="8382000" cy="381000"/>
          </a:xfrm>
        </p:grpSpPr>
        <p:sp>
          <p:nvSpPr>
            <p:cNvPr id="225" name="Google Shape;225;p27"/>
            <p:cNvSpPr/>
            <p:nvPr/>
          </p:nvSpPr>
          <p:spPr>
            <a:xfrm>
              <a:off x="381000" y="4524375"/>
              <a:ext cx="8382000" cy="3810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26" name="Google Shape;226;p27"/>
            <p:cNvSpPr txBox="1"/>
            <p:nvPr/>
          </p:nvSpPr>
          <p:spPr>
            <a:xfrm>
              <a:off x="381000" y="4524375"/>
              <a:ext cx="8382000" cy="381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Exemplo: </a:t>
              </a:r>
              <a:r>
                <a:rPr lang="pt-BR" sz="1300">
                  <a:solidFill>
                    <a:srgbClr val="434343"/>
                  </a:solidFill>
                </a:rPr>
                <a:t>Execução da pipeline DevOps com GitHub Actions.</a:t>
              </a:r>
              <a:endParaRPr sz="1300">
                <a:solidFill>
                  <a:srgbClr val="434343"/>
                </a:solidFill>
              </a:endParaRPr>
            </a:p>
          </p:txBody>
        </p:sp>
      </p:grpSp>
      <p:grpSp>
        <p:nvGrpSpPr>
          <p:cNvPr id="227" name="Google Shape;227;p27"/>
          <p:cNvGrpSpPr/>
          <p:nvPr/>
        </p:nvGrpSpPr>
        <p:grpSpPr>
          <a:xfrm>
            <a:off x="381000" y="1319025"/>
            <a:ext cx="8382000" cy="809700"/>
            <a:chOff x="381000" y="1095375"/>
            <a:chExt cx="8382000" cy="809700"/>
          </a:xfrm>
        </p:grpSpPr>
        <p:sp>
          <p:nvSpPr>
            <p:cNvPr id="228" name="Google Shape;228;p27"/>
            <p:cNvSpPr/>
            <p:nvPr/>
          </p:nvSpPr>
          <p:spPr>
            <a:xfrm>
              <a:off x="381000" y="1095375"/>
              <a:ext cx="8382000" cy="809700"/>
            </a:xfrm>
            <a:prstGeom prst="roundRect">
              <a:avLst>
                <a:gd name="adj" fmla="val 14117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7"/>
            <p:cNvSpPr txBox="1"/>
            <p:nvPr/>
          </p:nvSpPr>
          <p:spPr>
            <a:xfrm>
              <a:off x="619125" y="1095375"/>
              <a:ext cx="7905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45720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434343"/>
                  </a:solidFill>
                </a:rPr>
                <a:t>A empresa adotou práticas do DevOps e Integração Contínua, utilizando GitHub Actions para automatizar testes, validações e builds continuamente.</a:t>
              </a:r>
              <a:endParaRPr sz="1600">
                <a:solidFill>
                  <a:srgbClr val="434343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Garantia de Qualidade Automatizada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" name="Google Shape;235;p28"/>
          <p:cNvGrpSpPr/>
          <p:nvPr/>
        </p:nvGrpSpPr>
        <p:grpSpPr>
          <a:xfrm>
            <a:off x="381000" y="1319025"/>
            <a:ext cx="8382000" cy="809700"/>
            <a:chOff x="381000" y="1095375"/>
            <a:chExt cx="8382000" cy="809700"/>
          </a:xfrm>
        </p:grpSpPr>
        <p:sp>
          <p:nvSpPr>
            <p:cNvPr id="236" name="Google Shape;236;p28"/>
            <p:cNvSpPr/>
            <p:nvPr/>
          </p:nvSpPr>
          <p:spPr>
            <a:xfrm>
              <a:off x="381000" y="1095375"/>
              <a:ext cx="8382000" cy="809700"/>
            </a:xfrm>
            <a:prstGeom prst="roundRect">
              <a:avLst>
                <a:gd name="adj" fmla="val 14117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8"/>
            <p:cNvSpPr txBox="1"/>
            <p:nvPr/>
          </p:nvSpPr>
          <p:spPr>
            <a:xfrm>
              <a:off x="619125" y="1095375"/>
              <a:ext cx="7905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45720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434343"/>
                  </a:solidFill>
                </a:rPr>
                <a:t>O pipeline executa automaticamente validações, testes e build da aplicação</a:t>
              </a:r>
              <a:r>
                <a:rPr lang="pt-BR" sz="1600" b="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, garantindo que novas alterações não quebrem funcionalidades existentes.</a:t>
              </a:r>
              <a:endParaRPr sz="1600" b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" name="Google Shape;238;p28"/>
          <p:cNvSpPr txBox="1"/>
          <p:nvPr/>
        </p:nvSpPr>
        <p:spPr>
          <a:xfrm>
            <a:off x="381000" y="2430025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Principais Funções</a:t>
            </a:r>
            <a:endParaRPr sz="1800" b="1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28"/>
          <p:cNvGrpSpPr/>
          <p:nvPr/>
        </p:nvGrpSpPr>
        <p:grpSpPr>
          <a:xfrm>
            <a:off x="363675" y="3000983"/>
            <a:ext cx="2667000" cy="1567910"/>
            <a:chOff x="381000" y="1333500"/>
            <a:chExt cx="2667000" cy="1714500"/>
          </a:xfrm>
        </p:grpSpPr>
        <p:sp>
          <p:nvSpPr>
            <p:cNvPr id="240" name="Google Shape;240;p28"/>
            <p:cNvSpPr/>
            <p:nvPr/>
          </p:nvSpPr>
          <p:spPr>
            <a:xfrm>
              <a:off x="381000" y="133350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8"/>
            <p:cNvSpPr txBox="1"/>
            <p:nvPr/>
          </p:nvSpPr>
          <p:spPr>
            <a:xfrm>
              <a:off x="571500" y="1559052"/>
              <a:ext cx="381000" cy="381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2400">
                  <a:solidFill>
                    <a:srgbClr val="2088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⚙️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2" name="Google Shape;242;p28"/>
            <p:cNvSpPr txBox="1"/>
            <p:nvPr/>
          </p:nvSpPr>
          <p:spPr>
            <a:xfrm>
              <a:off x="571500" y="2000250"/>
              <a:ext cx="2286000" cy="8574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500" b="1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Execução Automática</a:t>
              </a:r>
              <a:endParaRPr sz="1500" b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>
                  <a:solidFill>
                    <a:srgbClr val="64748B"/>
                  </a:solidFill>
                </a:rPr>
                <a:t>Roda testes de forma autônoma a cada integração</a:t>
              </a:r>
              <a:endParaRPr>
                <a:solidFill>
                  <a:srgbClr val="64748B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28"/>
          <p:cNvGrpSpPr/>
          <p:nvPr/>
        </p:nvGrpSpPr>
        <p:grpSpPr>
          <a:xfrm>
            <a:off x="3221175" y="3000983"/>
            <a:ext cx="2667000" cy="1567910"/>
            <a:chOff x="3238500" y="1333500"/>
            <a:chExt cx="2667000" cy="1714500"/>
          </a:xfrm>
        </p:grpSpPr>
        <p:sp>
          <p:nvSpPr>
            <p:cNvPr id="244" name="Google Shape;244;p28"/>
            <p:cNvSpPr/>
            <p:nvPr/>
          </p:nvSpPr>
          <p:spPr>
            <a:xfrm>
              <a:off x="3238500" y="133350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8"/>
            <p:cNvSpPr txBox="1"/>
            <p:nvPr/>
          </p:nvSpPr>
          <p:spPr>
            <a:xfrm>
              <a:off x="3429000" y="1559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238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✅ 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6" name="Google Shape;246;p28"/>
            <p:cNvSpPr txBox="1"/>
            <p:nvPr/>
          </p:nvSpPr>
          <p:spPr>
            <a:xfrm>
              <a:off x="3429000" y="20002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500" b="1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Validação Contínua</a:t>
              </a:r>
              <a:endParaRPr sz="1500" b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>
                  <a:solidFill>
                    <a:srgbClr val="64748B"/>
                  </a:solidFill>
                </a:rPr>
                <a:t>Monitoramento constante da saúde da aplicação.</a:t>
              </a:r>
              <a:endParaRPr>
                <a:solidFill>
                  <a:srgbClr val="64748B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28"/>
          <p:cNvGrpSpPr/>
          <p:nvPr/>
        </p:nvGrpSpPr>
        <p:grpSpPr>
          <a:xfrm>
            <a:off x="6078675" y="3000983"/>
            <a:ext cx="2667000" cy="1567910"/>
            <a:chOff x="6096000" y="1333500"/>
            <a:chExt cx="2667000" cy="1714500"/>
          </a:xfrm>
        </p:grpSpPr>
        <p:sp>
          <p:nvSpPr>
            <p:cNvPr id="248" name="Google Shape;248;p28"/>
            <p:cNvSpPr/>
            <p:nvPr/>
          </p:nvSpPr>
          <p:spPr>
            <a:xfrm>
              <a:off x="6096000" y="133350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8"/>
            <p:cNvSpPr txBox="1"/>
            <p:nvPr/>
          </p:nvSpPr>
          <p:spPr>
            <a:xfrm>
              <a:off x="6286500" y="1559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⏩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0" name="Google Shape;250;p28"/>
            <p:cNvSpPr txBox="1"/>
            <p:nvPr/>
          </p:nvSpPr>
          <p:spPr>
            <a:xfrm>
              <a:off x="6286500" y="20002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500" b="1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Identificação de Falhas</a:t>
              </a:r>
              <a:endParaRPr sz="1500" b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>
                  <a:solidFill>
                    <a:srgbClr val="64748B"/>
                  </a:solidFill>
                </a:rPr>
                <a:t>Feedback rápido para correções imediatas.</a:t>
              </a:r>
              <a:endParaRPr sz="15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pt-BR">
                <a:solidFill>
                  <a:srgbClr val="434343"/>
                </a:solidFill>
              </a:rPr>
              <a:t>Qualidade de software representa a capacidade do sistema atender requisitos, necessidades do usuário e objetivos do negócio com eficiência.</a:t>
            </a:r>
            <a:endParaRPr>
              <a:solidFill>
                <a:srgbClr val="434343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pt-BR">
                <a:solidFill>
                  <a:srgbClr val="434343"/>
                </a:solidFill>
              </a:rPr>
              <a:t>Um software de qualidade deve apresentar confiabilidade, estabilidade, facilidade de manutenção e capacidade de evolução ao longo do tempo.</a:t>
            </a:r>
            <a:endParaRPr>
              <a:solidFill>
                <a:srgbClr val="434343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pt-BR">
                <a:solidFill>
                  <a:srgbClr val="434343"/>
                </a:solidFill>
              </a:rPr>
              <a:t>Em ambientes DevOps, a qualidade deixa de ser responsabilidade exclusiva dos testes e passa a integrar todo o ciclo de desenvolvimento, entrega e operação.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56" name="Google Shape;25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Qualidade</a:t>
            </a:r>
            <a:endParaRPr/>
          </a:p>
        </p:txBody>
      </p:sp>
      <p:sp>
        <p:nvSpPr>
          <p:cNvPr id="257" name="Google Shape;257;p29"/>
          <p:cNvSpPr txBox="1"/>
          <p:nvPr/>
        </p:nvSpPr>
        <p:spPr>
          <a:xfrm>
            <a:off x="380925" y="452757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>
                <a:solidFill>
                  <a:srgbClr val="434343"/>
                </a:solidFill>
              </a:rPr>
              <a:t>“Qualidade deve fazer parte do processo de desenvolvimento” HUMBLE E PRIKLANDNICKI (2013).</a:t>
            </a:r>
            <a:endParaRPr i="1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Testes</a:t>
            </a:r>
            <a:endParaRPr/>
          </a:p>
        </p:txBody>
      </p:sp>
      <p:sp>
        <p:nvSpPr>
          <p:cNvPr id="263" name="Google Shape;26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Os diferentes tipos de testes técnicos atuam em conjunto para garantir qualidade, confiabilidade, estabilidade e o correto funcionamento do software, além de verificar seu alinhamento aos requisitos e objetivos definidos. Para este projeto, serão considerados os três tipos de testes a seguir:</a:t>
            </a:r>
            <a:endParaRPr/>
          </a:p>
        </p:txBody>
      </p:sp>
      <p:grpSp>
        <p:nvGrpSpPr>
          <p:cNvPr id="264" name="Google Shape;264;p30"/>
          <p:cNvGrpSpPr/>
          <p:nvPr/>
        </p:nvGrpSpPr>
        <p:grpSpPr>
          <a:xfrm>
            <a:off x="363675" y="3000983"/>
            <a:ext cx="2667000" cy="1567910"/>
            <a:chOff x="381000" y="1333500"/>
            <a:chExt cx="2667000" cy="1714500"/>
          </a:xfrm>
        </p:grpSpPr>
        <p:sp>
          <p:nvSpPr>
            <p:cNvPr id="265" name="Google Shape;265;p30"/>
            <p:cNvSpPr/>
            <p:nvPr/>
          </p:nvSpPr>
          <p:spPr>
            <a:xfrm>
              <a:off x="381000" y="133350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0"/>
            <p:cNvSpPr txBox="1"/>
            <p:nvPr/>
          </p:nvSpPr>
          <p:spPr>
            <a:xfrm>
              <a:off x="571500" y="1559052"/>
              <a:ext cx="381000" cy="381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2400">
                  <a:solidFill>
                    <a:srgbClr val="2088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⚙️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7" name="Google Shape;267;p30"/>
            <p:cNvSpPr txBox="1"/>
            <p:nvPr/>
          </p:nvSpPr>
          <p:spPr>
            <a:xfrm>
              <a:off x="571500" y="2000250"/>
              <a:ext cx="2286000" cy="8574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5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Unitários</a:t>
              </a:r>
              <a:endParaRPr sz="15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5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Validam funções e métodos de forma isolada.</a:t>
              </a:r>
              <a:endParaRPr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30"/>
          <p:cNvGrpSpPr/>
          <p:nvPr/>
        </p:nvGrpSpPr>
        <p:grpSpPr>
          <a:xfrm>
            <a:off x="3221175" y="3000983"/>
            <a:ext cx="2667000" cy="1567910"/>
            <a:chOff x="3238500" y="1333500"/>
            <a:chExt cx="2667000" cy="1714500"/>
          </a:xfrm>
        </p:grpSpPr>
        <p:sp>
          <p:nvSpPr>
            <p:cNvPr id="269" name="Google Shape;269;p30"/>
            <p:cNvSpPr/>
            <p:nvPr/>
          </p:nvSpPr>
          <p:spPr>
            <a:xfrm>
              <a:off x="3238500" y="133350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0"/>
            <p:cNvSpPr txBox="1"/>
            <p:nvPr/>
          </p:nvSpPr>
          <p:spPr>
            <a:xfrm>
              <a:off x="3429000" y="1559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38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✅ 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71" name="Google Shape;271;p30"/>
            <p:cNvSpPr txBox="1"/>
            <p:nvPr/>
          </p:nvSpPr>
          <p:spPr>
            <a:xfrm>
              <a:off x="3429000" y="20002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5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Integração</a:t>
              </a:r>
              <a:endParaRPr sz="15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5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Verificam a comunicação eficiente entre os módulos.</a:t>
              </a:r>
              <a:endParaRPr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30"/>
          <p:cNvGrpSpPr/>
          <p:nvPr/>
        </p:nvGrpSpPr>
        <p:grpSpPr>
          <a:xfrm>
            <a:off x="6078675" y="3000983"/>
            <a:ext cx="2667000" cy="1567910"/>
            <a:chOff x="6096000" y="1333500"/>
            <a:chExt cx="2667000" cy="1714500"/>
          </a:xfrm>
        </p:grpSpPr>
        <p:sp>
          <p:nvSpPr>
            <p:cNvPr id="273" name="Google Shape;273;p30"/>
            <p:cNvSpPr/>
            <p:nvPr/>
          </p:nvSpPr>
          <p:spPr>
            <a:xfrm>
              <a:off x="6096000" y="133350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0"/>
            <p:cNvSpPr txBox="1"/>
            <p:nvPr/>
          </p:nvSpPr>
          <p:spPr>
            <a:xfrm>
              <a:off x="6286500" y="1559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⏩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75" name="Google Shape;275;p30"/>
            <p:cNvSpPr txBox="1"/>
            <p:nvPr/>
          </p:nvSpPr>
          <p:spPr>
            <a:xfrm>
              <a:off x="6286500" y="20002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5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Performance</a:t>
              </a:r>
              <a:endParaRPr sz="15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5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Avaliam a velocidade e estabilidade sob carga.</a:t>
              </a:r>
              <a:endParaRPr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30"/>
          <p:cNvSpPr txBox="1"/>
          <p:nvPr/>
        </p:nvSpPr>
        <p:spPr>
          <a:xfrm>
            <a:off x="6078675" y="4568900"/>
            <a:ext cx="275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i="1">
                <a:solidFill>
                  <a:srgbClr val="434343"/>
                </a:solidFill>
              </a:rPr>
              <a:t>- Pires e Militão (2019).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Responsáveis pela validação de pequenas partes do sistema, como funções, métodos e componentes isolados do código.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São executados de forma rápida e automatizada, permitindo identificar falhas durante o desenvolvimento antes da integração completa da aplicação.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Facilitam a manutenção do software, aumentam a confiabilidade das funcionalidades e reduzem custos com correções futuras.</a:t>
            </a:r>
            <a:endParaRPr/>
          </a:p>
        </p:txBody>
      </p:sp>
      <p:sp>
        <p:nvSpPr>
          <p:cNvPr id="282" name="Google Shape;28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Unitários</a:t>
            </a:r>
            <a:endParaRPr/>
          </a:p>
        </p:txBody>
      </p:sp>
      <p:sp>
        <p:nvSpPr>
          <p:cNvPr id="283" name="Google Shape;283;p31"/>
          <p:cNvSpPr txBox="1"/>
          <p:nvPr/>
        </p:nvSpPr>
        <p:spPr>
          <a:xfrm>
            <a:off x="304800" y="3997173"/>
            <a:ext cx="85344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Exemplo Prático: </a:t>
            </a:r>
            <a:r>
              <a:rPr lang="pt-BR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Alterando a regra de desconto para 15%.</a:t>
            </a:r>
            <a:endParaRPr b="0">
              <a:solidFill>
                <a:srgbClr val="991B1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Problema</a:t>
            </a:r>
            <a:r>
              <a:rPr lang="pt-BR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: O sistema esperava desconto de 10% ou 5%.</a:t>
            </a:r>
            <a:endParaRPr b="1">
              <a:solidFill>
                <a:srgbClr val="991B1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84" name="Google Shape;284;p31"/>
          <p:cNvGrpSpPr/>
          <p:nvPr/>
        </p:nvGrpSpPr>
        <p:grpSpPr>
          <a:xfrm>
            <a:off x="304800" y="3997173"/>
            <a:ext cx="8534400" cy="765410"/>
            <a:chOff x="304800" y="4191000"/>
            <a:chExt cx="8534400" cy="571500"/>
          </a:xfrm>
        </p:grpSpPr>
        <p:sp>
          <p:nvSpPr>
            <p:cNvPr id="285" name="Google Shape;285;p31"/>
            <p:cNvSpPr/>
            <p:nvPr/>
          </p:nvSpPr>
          <p:spPr>
            <a:xfrm>
              <a:off x="304800" y="4191000"/>
              <a:ext cx="8534400" cy="571500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 w="9525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1"/>
            <p:cNvSpPr txBox="1"/>
            <p:nvPr/>
          </p:nvSpPr>
          <p:spPr>
            <a:xfrm>
              <a:off x="304800" y="4191000"/>
              <a:ext cx="85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Exemplo Prático: </a:t>
              </a:r>
              <a:r>
                <a:rPr lang="pt-BR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Alterando a regra de desconto para 15%.</a:t>
              </a:r>
              <a:endParaRPr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Problema</a:t>
              </a:r>
              <a:r>
                <a:rPr lang="pt-BR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O sistema esperava desconto de 10% ou 5%.</a:t>
              </a:r>
              <a:endParaRPr b="1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de Integração</a:t>
            </a:r>
            <a:endParaRPr/>
          </a:p>
        </p:txBody>
      </p:sp>
      <p:sp>
        <p:nvSpPr>
          <p:cNvPr id="292" name="Google Shape;29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Testam a comunicação e o funcionamento conjunto entre módulos, serviços, APIs e bancos de dados da aplicação.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Permitem identificar falhas na troca de informações entre componentes que funcionam corretamente de forma isolada.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Garantem maior estabilidade do sistema, validando fluxos completos e reduzindo riscos de inconsistências em ambientes de produção.</a:t>
            </a:r>
            <a:endParaRPr b="1"/>
          </a:p>
        </p:txBody>
      </p:sp>
      <p:grpSp>
        <p:nvGrpSpPr>
          <p:cNvPr id="293" name="Google Shape;293;p32"/>
          <p:cNvGrpSpPr/>
          <p:nvPr/>
        </p:nvGrpSpPr>
        <p:grpSpPr>
          <a:xfrm>
            <a:off x="304800" y="3997173"/>
            <a:ext cx="8534400" cy="765410"/>
            <a:chOff x="304800" y="4191000"/>
            <a:chExt cx="8534400" cy="571500"/>
          </a:xfrm>
        </p:grpSpPr>
        <p:sp>
          <p:nvSpPr>
            <p:cNvPr id="294" name="Google Shape;294;p32"/>
            <p:cNvSpPr/>
            <p:nvPr/>
          </p:nvSpPr>
          <p:spPr>
            <a:xfrm>
              <a:off x="304800" y="4191000"/>
              <a:ext cx="8534400" cy="571500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 w="9525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2"/>
            <p:cNvSpPr txBox="1"/>
            <p:nvPr/>
          </p:nvSpPr>
          <p:spPr>
            <a:xfrm>
              <a:off x="304800" y="4191000"/>
              <a:ext cx="85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Exemplo Prático</a:t>
              </a:r>
              <a:r>
                <a:rPr lang="pt-BR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Alterando o texto do botão para “Calcular”.</a:t>
              </a:r>
              <a:endParaRPr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Problema: </a:t>
              </a:r>
              <a:r>
                <a:rPr lang="pt-BR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Não encontrou o botão “Calcular Desconto” durante a interação.</a:t>
              </a:r>
              <a:endParaRPr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de Performance</a:t>
            </a:r>
            <a:endParaRPr/>
          </a:p>
        </p:txBody>
      </p:sp>
      <p:sp>
        <p:nvSpPr>
          <p:cNvPr id="301" name="Google Shape;301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pt-BR">
                <a:solidFill>
                  <a:srgbClr val="434343"/>
                </a:solidFill>
              </a:rPr>
              <a:t>Responsáveis por avaliar o comportamento da aplicação em situações de carga, tempo de resposta e consumo de recursos.</a:t>
            </a:r>
            <a:endParaRPr>
              <a:solidFill>
                <a:srgbClr val="434343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pt-BR">
                <a:solidFill>
                  <a:srgbClr val="434343"/>
                </a:solidFill>
              </a:rPr>
              <a:t>Permitem identificar gargalos, lentidão e falhas relacionadas ao desempenho do sistema antes da implantação em produção.</a:t>
            </a:r>
            <a:endParaRPr>
              <a:solidFill>
                <a:srgbClr val="434343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pt-BR">
                <a:solidFill>
                  <a:srgbClr val="434343"/>
                </a:solidFill>
              </a:rPr>
              <a:t>Garantem estabilidade, escalabilidade e melhor experiência do usuário, validando se a aplicação suporta operações dentro do tempo esperado.</a:t>
            </a:r>
            <a:endParaRPr>
              <a:solidFill>
                <a:srgbClr val="434343"/>
              </a:solidFill>
            </a:endParaRPr>
          </a:p>
        </p:txBody>
      </p:sp>
      <p:grpSp>
        <p:nvGrpSpPr>
          <p:cNvPr id="302" name="Google Shape;302;p33"/>
          <p:cNvGrpSpPr/>
          <p:nvPr/>
        </p:nvGrpSpPr>
        <p:grpSpPr>
          <a:xfrm>
            <a:off x="304800" y="3997173"/>
            <a:ext cx="8534400" cy="765410"/>
            <a:chOff x="304800" y="4191000"/>
            <a:chExt cx="8534400" cy="571500"/>
          </a:xfrm>
        </p:grpSpPr>
        <p:sp>
          <p:nvSpPr>
            <p:cNvPr id="303" name="Google Shape;303;p33"/>
            <p:cNvSpPr/>
            <p:nvPr/>
          </p:nvSpPr>
          <p:spPr>
            <a:xfrm>
              <a:off x="304800" y="4191000"/>
              <a:ext cx="8534400" cy="571500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 w="9525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3"/>
            <p:cNvSpPr txBox="1"/>
            <p:nvPr/>
          </p:nvSpPr>
          <p:spPr>
            <a:xfrm>
              <a:off x="304800" y="4191000"/>
              <a:ext cx="85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Exemplo Prático</a:t>
              </a:r>
              <a:r>
                <a:rPr lang="pt-BR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Alterando o tempo máximo esperado da resposta para 1ms.</a:t>
              </a:r>
              <a:endParaRPr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Problema: </a:t>
              </a:r>
              <a:r>
                <a:rPr lang="pt-BR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aplicação não conseguiu responder dentro do tempo configurado.</a:t>
              </a:r>
              <a:endParaRPr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34"/>
          <p:cNvGrpSpPr/>
          <p:nvPr/>
        </p:nvGrpSpPr>
        <p:grpSpPr>
          <a:xfrm>
            <a:off x="381000" y="1110068"/>
            <a:ext cx="8382000" cy="1986420"/>
            <a:chOff x="381000" y="1047750"/>
            <a:chExt cx="8382000" cy="1143000"/>
          </a:xfrm>
        </p:grpSpPr>
        <p:sp>
          <p:nvSpPr>
            <p:cNvPr id="310" name="Google Shape;310;p34"/>
            <p:cNvSpPr/>
            <p:nvPr/>
          </p:nvSpPr>
          <p:spPr>
            <a:xfrm>
              <a:off x="381000" y="1047750"/>
              <a:ext cx="8382000" cy="1143000"/>
            </a:xfrm>
            <a:prstGeom prst="roundRect">
              <a:avLst>
                <a:gd name="adj" fmla="val 8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4"/>
            <p:cNvSpPr txBox="1"/>
            <p:nvPr/>
          </p:nvSpPr>
          <p:spPr>
            <a:xfrm>
              <a:off x="571500" y="1047750"/>
              <a:ext cx="800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45720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O </a:t>
              </a:r>
              <a:r>
                <a:rPr lang="pt-BR" sz="1800">
                  <a:solidFill>
                    <a:srgbClr val="434343"/>
                  </a:solidFill>
                </a:rPr>
                <a:t>ESLint </a:t>
              </a:r>
              <a:r>
                <a:rPr lang="pt-BR" sz="18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é uma ferramenta de análise estática utilizada para identificar problemas de padronização, inconsistências e possíveis falhas em códigos JavaScript. No contexto de </a:t>
              </a:r>
              <a:r>
                <a:rPr lang="pt-BR" sz="1800">
                  <a:solidFill>
                    <a:srgbClr val="434343"/>
                  </a:solidFill>
                </a:rPr>
                <a:t>CI/CD</a:t>
              </a:r>
              <a:r>
                <a:rPr lang="pt-BR" sz="18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, ele atua como uma validação automatizada que impede a integração de códigos fora dos padrões estabelecidos.</a:t>
              </a:r>
              <a:endParaRPr sz="18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34"/>
          <p:cNvGrpSpPr/>
          <p:nvPr/>
        </p:nvGrpSpPr>
        <p:grpSpPr>
          <a:xfrm>
            <a:off x="381000" y="3297725"/>
            <a:ext cx="8382000" cy="1642521"/>
            <a:chOff x="381000" y="2333625"/>
            <a:chExt cx="8382000" cy="1428900"/>
          </a:xfrm>
        </p:grpSpPr>
        <p:sp>
          <p:nvSpPr>
            <p:cNvPr id="313" name="Google Shape;313;p34"/>
            <p:cNvSpPr/>
            <p:nvPr/>
          </p:nvSpPr>
          <p:spPr>
            <a:xfrm>
              <a:off x="381000" y="2333625"/>
              <a:ext cx="8382000" cy="1428900"/>
            </a:xfrm>
            <a:prstGeom prst="roundRect">
              <a:avLst>
                <a:gd name="adj" fmla="val 6666"/>
              </a:avLst>
            </a:prstGeom>
            <a:solidFill>
              <a:srgbClr val="EFF6FF"/>
            </a:solidFill>
            <a:ln w="9525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314" name="Google Shape;314;p34"/>
            <p:cNvSpPr txBox="1"/>
            <p:nvPr/>
          </p:nvSpPr>
          <p:spPr>
            <a:xfrm>
              <a:off x="571500" y="242887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Principais Benefícios</a:t>
              </a:r>
              <a:endParaRPr sz="1800" b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" name="Google Shape;315;p34"/>
            <p:cNvGrpSpPr/>
            <p:nvPr/>
          </p:nvGrpSpPr>
          <p:grpSpPr>
            <a:xfrm>
              <a:off x="571500" y="2792936"/>
              <a:ext cx="7905900" cy="857400"/>
              <a:chOff x="571500" y="2792936"/>
              <a:chExt cx="7905900" cy="857400"/>
            </a:xfrm>
          </p:grpSpPr>
          <p:sp>
            <p:nvSpPr>
              <p:cNvPr id="316" name="Google Shape;316;p34"/>
              <p:cNvSpPr txBox="1"/>
              <p:nvPr/>
            </p:nvSpPr>
            <p:spPr>
              <a:xfrm>
                <a:off x="571500" y="2792936"/>
                <a:ext cx="3905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rgbClr val="434343"/>
                    </a:solidFill>
                    <a:latin typeface="Arial"/>
                    <a:ea typeface="Arial"/>
                    <a:cs typeface="Arial"/>
                    <a:sym typeface="Arial"/>
                  </a:rPr>
                  <a:t>• Padronização do código</a:t>
                </a:r>
                <a:endParaRPr sz="16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rgbClr val="434343"/>
                    </a:solidFill>
                    <a:latin typeface="Arial"/>
                    <a:ea typeface="Arial"/>
                    <a:cs typeface="Arial"/>
                    <a:sym typeface="Arial"/>
                  </a:rPr>
                  <a:t>• Identificação antecipada de falhas</a:t>
                </a:r>
                <a:endParaRPr sz="16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rgbClr val="434343"/>
                    </a:solidFill>
                    <a:latin typeface="Arial"/>
                    <a:ea typeface="Arial"/>
                    <a:cs typeface="Arial"/>
                    <a:sym typeface="Arial"/>
                  </a:rPr>
                  <a:t>• Redução de inconsistências</a:t>
                </a:r>
                <a:endParaRPr sz="16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4"/>
              <p:cNvSpPr txBox="1"/>
              <p:nvPr/>
            </p:nvSpPr>
            <p:spPr>
              <a:xfrm>
                <a:off x="4572000" y="2792936"/>
                <a:ext cx="3905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rgbClr val="434343"/>
                    </a:solidFill>
                    <a:latin typeface="Arial"/>
                    <a:ea typeface="Arial"/>
                    <a:cs typeface="Arial"/>
                    <a:sym typeface="Arial"/>
                  </a:rPr>
                  <a:t>• Facilidade de manutenção</a:t>
                </a:r>
                <a:endParaRPr sz="16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rgbClr val="434343"/>
                    </a:solidFill>
                    <a:latin typeface="Arial"/>
                    <a:ea typeface="Arial"/>
                    <a:cs typeface="Arial"/>
                    <a:sym typeface="Arial"/>
                  </a:rPr>
                  <a:t>• Maior confiabilidade da aplicação</a:t>
                </a:r>
                <a:endParaRPr sz="16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8" name="Google Shape;31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ESLint: Verificador de Qualidade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ESLint: Verificador de Qualidade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Durante a execução da pipeline, o ESLint realiza verificações automáticas de qualidade sempre que novas alterações são enviadas ao repositório.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Caso problemas sejam identificados, a validação pode falhar automaticamente, impedindo que códigos fora do padrão avancem para as próximas etapas do processo.</a:t>
            </a:r>
            <a:endParaRPr/>
          </a:p>
        </p:txBody>
      </p:sp>
      <p:grpSp>
        <p:nvGrpSpPr>
          <p:cNvPr id="325" name="Google Shape;325;p35"/>
          <p:cNvGrpSpPr/>
          <p:nvPr/>
        </p:nvGrpSpPr>
        <p:grpSpPr>
          <a:xfrm>
            <a:off x="304800" y="3997173"/>
            <a:ext cx="8534400" cy="765410"/>
            <a:chOff x="304800" y="4191000"/>
            <a:chExt cx="8534400" cy="571500"/>
          </a:xfrm>
        </p:grpSpPr>
        <p:sp>
          <p:nvSpPr>
            <p:cNvPr id="326" name="Google Shape;326;p35"/>
            <p:cNvSpPr/>
            <p:nvPr/>
          </p:nvSpPr>
          <p:spPr>
            <a:xfrm>
              <a:off x="304800" y="4191000"/>
              <a:ext cx="8534400" cy="571500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 w="9525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5"/>
            <p:cNvSpPr txBox="1"/>
            <p:nvPr/>
          </p:nvSpPr>
          <p:spPr>
            <a:xfrm>
              <a:off x="304800" y="4191000"/>
              <a:ext cx="85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Exemplo Prático: </a:t>
              </a:r>
              <a:r>
                <a:rPr lang="pt-BR" b="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Adicionando const x=1; </a:t>
              </a:r>
              <a:endParaRPr b="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Problema</a:t>
              </a:r>
              <a:r>
                <a:rPr lang="pt-BR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Variável foi criada e nunca utilizada (no-unused-vars).</a:t>
              </a:r>
              <a:endParaRPr b="1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Workflow da Pipeline</a:t>
            </a:r>
            <a:endParaRPr/>
          </a:p>
        </p:txBody>
      </p:sp>
      <p:sp>
        <p:nvSpPr>
          <p:cNvPr id="333" name="Google Shape;333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Nome da pipeline que aparecerá no GitHub Actions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CI Pipeline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Evento que dispara a pipeline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500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Sempre que houver um push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500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Apenas na branch main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branches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500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endParaRPr sz="1500"/>
          </a:p>
        </p:txBody>
      </p:sp>
      <p:sp>
        <p:nvSpPr>
          <p:cNvPr id="334" name="Google Shape;334;p36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Definição dos trabalhos (jobs) da pipeline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jobs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500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Nome do job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quality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500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Sistema operacional utilizado pela máquina virtual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runs-on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ubuntu-latest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Etapas que serão executadas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steps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Workflow da Pipeline</a:t>
            </a:r>
            <a:endParaRPr/>
          </a:p>
        </p:txBody>
      </p:sp>
      <p:sp>
        <p:nvSpPr>
          <p:cNvPr id="340" name="Google Shape;34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Faz download do código do repositório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Action oficial do GitHub para clonar o projeto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uses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actions/checkout@v3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Configura o ambiente Node.js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Setup Node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Action para instalar Node.js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uses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actions/setup-node@v3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1" name="Google Shape;341;p37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Configurações da action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500">
              <a:solidFill>
                <a:srgbClr val="20202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Versão do Node 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node-version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5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Instala as dependências do projeto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Install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Executa instalação via npm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npm install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Workflow da Pipeline</a:t>
            </a:r>
            <a:endParaRPr/>
          </a:p>
        </p:txBody>
      </p:sp>
      <p:sp>
        <p:nvSpPr>
          <p:cNvPr id="347" name="Google Shape;347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Executa verificação de qualidade do código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ESLint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Roda o lint definido no package.json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npm run lint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Executa todos os testes automatizados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Tests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Executa testes unitários, integração e performance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npm test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8" name="Google Shape;348;p38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Gera a versão final da aplicação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6E778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Executa processo de build do projeto</a:t>
            </a: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500">
                <a:solidFill>
                  <a:srgbClr val="1163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pt-BR" sz="1500">
                <a:solidFill>
                  <a:srgbClr val="20202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npm run build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6E778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Situação-Problema: Conclusão</a:t>
            </a:r>
            <a:endParaRPr/>
          </a:p>
        </p:txBody>
      </p:sp>
      <p:sp>
        <p:nvSpPr>
          <p:cNvPr id="354" name="Google Shape;354;p39"/>
          <p:cNvSpPr txBox="1">
            <a:spLocks noGrp="1"/>
          </p:cNvSpPr>
          <p:nvPr>
            <p:ph type="body" idx="1"/>
          </p:nvPr>
        </p:nvSpPr>
        <p:spPr>
          <a:xfrm>
            <a:off x="2968375" y="1152475"/>
            <a:ext cx="586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Com a adoção de práticas de DevOps e Integração Contínua, a aplicação tornou-se mais confiável, segura e preparada para mudanças constantes.</a:t>
            </a:r>
            <a:endParaRPr sz="1600"/>
          </a:p>
          <a:p>
            <a:pPr marL="0" lvl="0" indent="457200" algn="just" rtl="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/>
              <a:t>A automação de testes, validações e builds permitiu reduzir falhas, aumentar a qualidade das entregas e acelerar o desenvolvimento continuamente.</a:t>
            </a:r>
            <a:endParaRPr sz="1600"/>
          </a:p>
        </p:txBody>
      </p:sp>
      <p:pic>
        <p:nvPicPr>
          <p:cNvPr id="355" name="Google Shape;3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2562284" cy="341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39"/>
          <p:cNvGrpSpPr/>
          <p:nvPr/>
        </p:nvGrpSpPr>
        <p:grpSpPr>
          <a:xfrm>
            <a:off x="3053888" y="3405427"/>
            <a:ext cx="1357268" cy="1163460"/>
            <a:chOff x="314325" y="2571750"/>
            <a:chExt cx="2000100" cy="1714500"/>
          </a:xfrm>
        </p:grpSpPr>
        <p:sp>
          <p:nvSpPr>
            <p:cNvPr id="357" name="Google Shape;357;p39"/>
            <p:cNvSpPr/>
            <p:nvPr/>
          </p:nvSpPr>
          <p:spPr>
            <a:xfrm>
              <a:off x="314325" y="2571750"/>
              <a:ext cx="2000100" cy="1714500"/>
            </a:xfrm>
            <a:prstGeom prst="roundRect">
              <a:avLst>
                <a:gd name="adj" fmla="val 6666"/>
              </a:avLst>
            </a:prstGeom>
            <a:solidFill>
              <a:srgbClr val="EFF6FF"/>
            </a:solidFill>
            <a:ln w="12925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9"/>
            <p:cNvSpPr txBox="1"/>
            <p:nvPr/>
          </p:nvSpPr>
          <p:spPr>
            <a:xfrm>
              <a:off x="314325" y="257175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975" tIns="96975" rIns="96975" bIns="969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43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🧪</a:t>
              </a:r>
              <a:endParaRPr sz="2443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509"/>
                </a:spcBef>
                <a:spcAft>
                  <a:spcPts val="0"/>
                </a:spcAft>
                <a:buNone/>
              </a:pPr>
              <a:r>
                <a:rPr lang="pt-BR" sz="119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Testes Unit.</a:t>
              </a:r>
              <a:endParaRPr sz="1190" b="1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255"/>
                </a:spcBef>
                <a:spcAft>
                  <a:spcPts val="0"/>
                </a:spcAft>
                <a:buNone/>
              </a:pPr>
              <a:r>
                <a:rPr lang="pt-BR" sz="1190">
                  <a:solidFill>
                    <a:srgbClr val="60A5FA"/>
                  </a:solidFill>
                  <a:latin typeface="Arial"/>
                  <a:ea typeface="Arial"/>
                  <a:cs typeface="Arial"/>
                  <a:sym typeface="Arial"/>
                </a:rPr>
                <a:t>Garantia de lógica individual</a:t>
              </a:r>
              <a:endParaRPr sz="1190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39"/>
          <p:cNvGrpSpPr/>
          <p:nvPr/>
        </p:nvGrpSpPr>
        <p:grpSpPr>
          <a:xfrm>
            <a:off x="4527604" y="3405427"/>
            <a:ext cx="1357268" cy="1163460"/>
            <a:chOff x="2486025" y="2571750"/>
            <a:chExt cx="2000100" cy="1714500"/>
          </a:xfrm>
        </p:grpSpPr>
        <p:sp>
          <p:nvSpPr>
            <p:cNvPr id="360" name="Google Shape;360;p39"/>
            <p:cNvSpPr/>
            <p:nvPr/>
          </p:nvSpPr>
          <p:spPr>
            <a:xfrm>
              <a:off x="2486025" y="2571750"/>
              <a:ext cx="2000100" cy="1714500"/>
            </a:xfrm>
            <a:prstGeom prst="roundRect">
              <a:avLst>
                <a:gd name="adj" fmla="val 6666"/>
              </a:avLst>
            </a:prstGeom>
            <a:solidFill>
              <a:srgbClr val="EFF6FF"/>
            </a:solidFill>
            <a:ln w="12925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9"/>
            <p:cNvSpPr txBox="1"/>
            <p:nvPr/>
          </p:nvSpPr>
          <p:spPr>
            <a:xfrm>
              <a:off x="2486025" y="257175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975" tIns="96975" rIns="96975" bIns="969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43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🔗</a:t>
              </a:r>
              <a:endParaRPr sz="2443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509"/>
                </a:spcBef>
                <a:spcAft>
                  <a:spcPts val="0"/>
                </a:spcAft>
                <a:buNone/>
              </a:pPr>
              <a:r>
                <a:rPr lang="pt-BR" sz="119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Integração</a:t>
              </a:r>
              <a:endParaRPr sz="1190" b="1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255"/>
                </a:spcBef>
                <a:spcAft>
                  <a:spcPts val="0"/>
                </a:spcAft>
                <a:buNone/>
              </a:pPr>
              <a:r>
                <a:rPr lang="pt-BR" sz="1190">
                  <a:solidFill>
                    <a:srgbClr val="60A5FA"/>
                  </a:solidFill>
                  <a:latin typeface="Arial"/>
                  <a:ea typeface="Arial"/>
                  <a:cs typeface="Arial"/>
                  <a:sym typeface="Arial"/>
                </a:rPr>
                <a:t>Validação entre módulos</a:t>
              </a:r>
              <a:endParaRPr sz="1190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39"/>
          <p:cNvGrpSpPr/>
          <p:nvPr/>
        </p:nvGrpSpPr>
        <p:grpSpPr>
          <a:xfrm>
            <a:off x="6001320" y="3405427"/>
            <a:ext cx="1357268" cy="1163460"/>
            <a:chOff x="4657725" y="2571750"/>
            <a:chExt cx="2000100" cy="1714500"/>
          </a:xfrm>
        </p:grpSpPr>
        <p:sp>
          <p:nvSpPr>
            <p:cNvPr id="363" name="Google Shape;363;p39"/>
            <p:cNvSpPr/>
            <p:nvPr/>
          </p:nvSpPr>
          <p:spPr>
            <a:xfrm>
              <a:off x="4657725" y="2571750"/>
              <a:ext cx="2000100" cy="1714500"/>
            </a:xfrm>
            <a:prstGeom prst="roundRect">
              <a:avLst>
                <a:gd name="adj" fmla="val 6666"/>
              </a:avLst>
            </a:prstGeom>
            <a:solidFill>
              <a:srgbClr val="EFF6FF"/>
            </a:solidFill>
            <a:ln w="12925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9"/>
            <p:cNvSpPr txBox="1"/>
            <p:nvPr/>
          </p:nvSpPr>
          <p:spPr>
            <a:xfrm>
              <a:off x="4657725" y="257175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975" tIns="96975" rIns="96975" bIns="969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43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📈</a:t>
              </a:r>
              <a:endParaRPr sz="2443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509"/>
                </a:spcBef>
                <a:spcAft>
                  <a:spcPts val="0"/>
                </a:spcAft>
                <a:buNone/>
              </a:pPr>
              <a:r>
                <a:rPr lang="pt-BR" sz="119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Performance</a:t>
              </a:r>
              <a:endParaRPr sz="1190" b="1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255"/>
                </a:spcBef>
                <a:spcAft>
                  <a:spcPts val="0"/>
                </a:spcAft>
                <a:buNone/>
              </a:pPr>
              <a:r>
                <a:rPr lang="pt-BR" sz="1190">
                  <a:solidFill>
                    <a:srgbClr val="60A5FA"/>
                  </a:solidFill>
                  <a:latin typeface="Arial"/>
                  <a:ea typeface="Arial"/>
                  <a:cs typeface="Arial"/>
                  <a:sym typeface="Arial"/>
                </a:rPr>
                <a:t>Monitoramento de carga</a:t>
              </a:r>
              <a:endParaRPr sz="1190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39"/>
          <p:cNvGrpSpPr/>
          <p:nvPr/>
        </p:nvGrpSpPr>
        <p:grpSpPr>
          <a:xfrm>
            <a:off x="7475035" y="3405427"/>
            <a:ext cx="1357268" cy="1163460"/>
            <a:chOff x="6829425" y="2571750"/>
            <a:chExt cx="2000100" cy="1714500"/>
          </a:xfrm>
        </p:grpSpPr>
        <p:sp>
          <p:nvSpPr>
            <p:cNvPr id="366" name="Google Shape;366;p39"/>
            <p:cNvSpPr/>
            <p:nvPr/>
          </p:nvSpPr>
          <p:spPr>
            <a:xfrm>
              <a:off x="6829425" y="2571750"/>
              <a:ext cx="2000100" cy="1714500"/>
            </a:xfrm>
            <a:prstGeom prst="roundRect">
              <a:avLst>
                <a:gd name="adj" fmla="val 6666"/>
              </a:avLst>
            </a:prstGeom>
            <a:solidFill>
              <a:srgbClr val="F0FDF4"/>
            </a:solidFill>
            <a:ln w="12925" cap="flat" cmpd="sng">
              <a:solidFill>
                <a:srgbClr val="22C5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9"/>
            <p:cNvSpPr txBox="1"/>
            <p:nvPr/>
          </p:nvSpPr>
          <p:spPr>
            <a:xfrm>
              <a:off x="6829425" y="257175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975" tIns="96975" rIns="96975" bIns="969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43">
                  <a:solidFill>
                    <a:srgbClr val="16653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🏆</a:t>
              </a:r>
              <a:endParaRPr sz="2443">
                <a:solidFill>
                  <a:srgbClr val="16653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509"/>
                </a:spcBef>
                <a:spcAft>
                  <a:spcPts val="0"/>
                </a:spcAft>
                <a:buNone/>
              </a:pPr>
              <a:r>
                <a:rPr lang="pt-BR" sz="1190" b="1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ESLint</a:t>
              </a:r>
              <a:endParaRPr sz="1190" b="1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255"/>
                </a:spcBef>
                <a:spcAft>
                  <a:spcPts val="0"/>
                </a:spcAft>
                <a:buNone/>
              </a:pPr>
              <a:r>
                <a:rPr lang="pt-BR" sz="119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Qualidade e padronização</a:t>
              </a:r>
              <a:endParaRPr sz="1190">
                <a:solidFill>
                  <a:srgbClr val="4ADE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  <p:sp>
        <p:nvSpPr>
          <p:cNvPr id="373" name="Google Shape;37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34328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Como atividade prática, os alunos deverão analisar o funcionamento da pipeline apresentada, interpretando suas etapas de validação, testes automatizados e verificação de qualidade no processo de Integração e Entrega Contínuas.</a:t>
            </a:r>
            <a:endParaRPr/>
          </a:p>
          <a:p>
            <a:pPr marL="457200" lvl="0" indent="-334328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Durante a atividade, os alunos deverão identificar possíveis falhas no workflow e compreender como testes automatizados e validações contínuas contribuem para prevenir erros e aumentar a confiabilidade da aplicação.</a:t>
            </a:r>
            <a:endParaRPr/>
          </a:p>
          <a:p>
            <a:pPr marL="457200" lvl="0" indent="-334328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Ao final, serão propostas melhorias relacionadas à qualidade do código, automação de validações e garantia contínua da qualidade dentro do pipeline CI/CD.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379" name="Google Shape;379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457200" lvl="0" indent="-317183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HUMBLE, Jez; PRIKLANDNICKI, Rafael. Entrega Contínua: Como Entregar Software de Forma Rápida e Confiável. São Paulo: Bookman, 2013.</a:t>
            </a:r>
            <a:endParaRPr/>
          </a:p>
          <a:p>
            <a:pPr marL="457200" lvl="0" indent="-317183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MUNIZ, A.; et al. Jornada DevOps: Unindo Cultura Ágil, Lean e Tecnologia Para Entrega de Software com Qualidade. São Paulo: Brasport, 2019.</a:t>
            </a:r>
            <a:endParaRPr/>
          </a:p>
          <a:p>
            <a:pPr marL="457200" lvl="0" indent="-317183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SATO, Danilo. DevOps na prática: entrega de software confiável e automatizada. São Paulo: Casa do Código, 2014.</a:t>
            </a:r>
            <a:endParaRPr/>
          </a:p>
          <a:p>
            <a:pPr marL="457200" lvl="0" indent="-317183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MORAES, Gabriel. Caixa de Ferramentas DevOps: Um guia para construção, administração e arquitetura de sistemas modernos. São Paulo: Casa do Código, 2015.</a:t>
            </a:r>
            <a:endParaRPr/>
          </a:p>
          <a:p>
            <a:pPr marL="457200" lvl="0" indent="-317183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PIRES, Alexandre; MILITÃO, João. Integração Contínua com Jenkins. São Paulo: Casa do Código, 2019.</a:t>
            </a:r>
            <a:endParaRPr/>
          </a:p>
          <a:p>
            <a:pPr marL="457200" lvl="0" indent="-317183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SILVERMAN, Richard E. Git: guia prático. São Paulo: Novatec, 2019.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>
            <a:spLocks noGrp="1"/>
          </p:cNvSpPr>
          <p:nvPr>
            <p:ph type="ctrTitle"/>
          </p:nvPr>
        </p:nvSpPr>
        <p:spPr>
          <a:xfrm>
            <a:off x="727950" y="1936463"/>
            <a:ext cx="7688100" cy="129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02529"/>
                </a:solidFill>
              </a:rPr>
              <a:t>Garantia de Qualidade Automatizada no Pipeline de Integração e Entrega Contínuas</a:t>
            </a:r>
            <a:endParaRPr sz="3200">
              <a:solidFill>
                <a:srgbClr val="202529"/>
              </a:solidFill>
            </a:endParaRPr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1"/>
          </p:nvPr>
        </p:nvSpPr>
        <p:spPr>
          <a:xfrm>
            <a:off x="449550" y="3914850"/>
            <a:ext cx="82449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098658"/>
                </a:solidFill>
              </a:rPr>
              <a:t>Prof. Me. Deivison S. Takatu</a:t>
            </a:r>
            <a:endParaRPr b="1">
              <a:solidFill>
                <a:srgbClr val="098658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98658"/>
                </a:solidFill>
              </a:rPr>
              <a:t>deivison.takatu@cps.sp.gov.br</a:t>
            </a:r>
            <a:endParaRPr>
              <a:solidFill>
                <a:srgbClr val="09865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1896</Words>
  <Application>Microsoft Office PowerPoint</Application>
  <PresentationFormat>Apresentação na tela (16:9)</PresentationFormat>
  <Paragraphs>236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25</vt:i4>
      </vt:variant>
    </vt:vector>
  </HeadingPairs>
  <TitlesOfParts>
    <vt:vector size="34" baseType="lpstr">
      <vt:lpstr>Lato</vt:lpstr>
      <vt:lpstr>Material Icons</vt:lpstr>
      <vt:lpstr>Courier New</vt:lpstr>
      <vt:lpstr>Raleway</vt:lpstr>
      <vt:lpstr>Roboto</vt:lpstr>
      <vt:lpstr>Arial</vt:lpstr>
      <vt:lpstr>Inter</vt:lpstr>
      <vt:lpstr>Simple Light</vt:lpstr>
      <vt:lpstr>Streamline</vt:lpstr>
      <vt:lpstr>Garantia de Qualidade Automatizada no Pipeline de Integração e Entrega Contínuas</vt:lpstr>
      <vt:lpstr>Sumário</vt:lpstr>
      <vt:lpstr>Objetivos e Conhecimentos Prévios</vt:lpstr>
      <vt:lpstr>Entregas de Software e Automação</vt:lpstr>
      <vt:lpstr>Reflexão Inicial</vt:lpstr>
      <vt:lpstr>Situação-Problema</vt:lpstr>
      <vt:lpstr>Situação-Problema</vt:lpstr>
      <vt:lpstr>Apresentação do PowerPoint</vt:lpstr>
      <vt:lpstr>Ferramentas Utilizadas</vt:lpstr>
      <vt:lpstr>Situação-Problema: GitHub Actions</vt:lpstr>
      <vt:lpstr>Garantia de Qualidade Automatizada  </vt:lpstr>
      <vt:lpstr>Conceito de Qualidade</vt:lpstr>
      <vt:lpstr>Tipos de Testes</vt:lpstr>
      <vt:lpstr>Testes Unitários</vt:lpstr>
      <vt:lpstr>Testes de Integração</vt:lpstr>
      <vt:lpstr>Testes de Performance</vt:lpstr>
      <vt:lpstr>ESLint: Verificador de Qualidade </vt:lpstr>
      <vt:lpstr>ESLint: Verificador de Qualidade </vt:lpstr>
      <vt:lpstr>Workflow da Pipeline</vt:lpstr>
      <vt:lpstr>Workflow da Pipeline</vt:lpstr>
      <vt:lpstr>Workflow da Pipeline</vt:lpstr>
      <vt:lpstr>Situação-Problema: Conclusão</vt:lpstr>
      <vt:lpstr>Atividade</vt:lpstr>
      <vt:lpstr>Referências</vt:lpstr>
      <vt:lpstr>Garantia de Qualidade Automatizada no Pipeline de Integração e Entrega Contínuas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</dc:creator>
  <cp:lastModifiedBy>Andre Cassulino Araujo Souza</cp:lastModifiedBy>
  <cp:revision>1</cp:revision>
  <dcterms:modified xsi:type="dcterms:W3CDTF">2026-08-14T02:50:06Z</dcterms:modified>
</cp:coreProperties>
</file>