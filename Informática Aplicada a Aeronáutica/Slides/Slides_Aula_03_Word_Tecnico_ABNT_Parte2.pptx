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Arial"/>
              </a:defRPr>
            </a:pPr>
            <a:r>
              <a:t>FATEC SOROCABA — CURSO SUPERIOR DE TECNOLOGIA EM MANUTENÇÃO DE AERONAVES</a:t>
            </a:r>
          </a:p>
          <a:p>
            <a:pPr>
              <a:spcBef>
                <a:spcPts val="800"/>
              </a:spcBef>
              <a:defRPr sz="1400">
                <a:solidFill>
                  <a:srgbClr val="C8E1FF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spcBef>
                <a:spcPts val="1400"/>
              </a:spcBef>
              <a:defRPr sz="2400" b="1">
                <a:solidFill>
                  <a:srgbClr val="FFFFFF"/>
                </a:solidFill>
                <a:latin typeface="Arial"/>
              </a:defRPr>
            </a:pPr>
            <a:r>
              <a:t>MS Word Técnico — Normas ABNT (Parte 2)</a:t>
            </a:r>
          </a:p>
          <a:p>
            <a:pPr>
              <a:spcBef>
                <a:spcPts val="800"/>
              </a:spcBef>
              <a:defRPr sz="1300">
                <a:solidFill>
                  <a:srgbClr val="DCEBFA"/>
                </a:solidFill>
                <a:latin typeface="Arial"/>
              </a:defRPr>
            </a:pPr>
            <a:r>
              <a:t>Quebras de Seção, Numeração ABNT Diferenciada, Figuras/Tabelas e Sumário Automático</a:t>
            </a:r>
          </a:p>
          <a:p>
            <a:pPr>
              <a:spcBef>
                <a:spcPts val="2600"/>
              </a:spcBef>
              <a:defRPr sz="1200" b="1">
                <a:solidFill>
                  <a:srgbClr val="0072CE"/>
                </a:solidFill>
                <a:latin typeface="Arial"/>
              </a:defRPr>
            </a:pPr>
            <a:r>
              <a:t>Prof. André Souza  |  Aula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Objetivos de Aprendizagem da Aula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2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Quebras de Seção vs. Quebras de Página:</a:t>
            </a:r>
            <a:r>
              <a:rPr sz="1150">
                <a:solidFill>
                  <a:srgbClr val="282828"/>
                </a:solidFill>
                <a:latin typeface="Arial"/>
              </a:rPr>
              <a:t> Compreender a diferença estrutural e computacional entre mudar de página e criar partições independentes de cabeçalho.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Numeração de Páginas ABNT:</a:t>
            </a:r>
            <a:r>
              <a:rPr sz="1150">
                <a:solidFill>
                  <a:srgbClr val="282828"/>
                </a:solidFill>
                <a:latin typeface="Arial"/>
              </a:rPr>
              <a:t> Configurar a contagem desde a Capa, mas exibindo o número impresso apenas a partir da Introdução, no canto superior direito.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Desvinculação de Cabeçalhos e Rodapés:</a:t>
            </a:r>
            <a:r>
              <a:rPr sz="1150">
                <a:solidFill>
                  <a:srgbClr val="282828"/>
                </a:solidFill>
                <a:latin typeface="Arial"/>
              </a:rPr>
              <a:t> Operar com precisão o comando 'Vincular ao Anterior' para isolar a Capa e o Sumário.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Tabelas Técnicas e Legendas de Figuras:</a:t>
            </a:r>
            <a:r>
              <a:rPr sz="1150">
                <a:solidFill>
                  <a:srgbClr val="282828"/>
                </a:solidFill>
                <a:latin typeface="Arial"/>
              </a:rPr>
              <a:t> Inserir legendas automáticas numeradas (Figura 1, Tabela 1) e padronizar a indicação de fonte consultada.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Sumário Automático Dinâmico:</a:t>
            </a:r>
            <a:r>
              <a:rPr sz="1150">
                <a:solidFill>
                  <a:srgbClr val="282828"/>
                </a:solidFill>
                <a:latin typeface="Arial"/>
              </a:rPr>
              <a:t> Gerar o sumário automático com 1 clique a partir dos Estilos e atualizá-lo via atalho F9.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Exportação Oficial PDF/A:</a:t>
            </a:r>
            <a:r>
              <a:rPr sz="1150">
                <a:solidFill>
                  <a:srgbClr val="282828"/>
                </a:solidFill>
                <a:latin typeface="Arial"/>
              </a:rPr>
              <a:t> Gerar o documento final preservando a conformidade para arquivo de longo prazo (ISO 19005).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O Desafio da Numeração ABNT (NBR 14724)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3 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356616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0F2043"/>
                </a:solidFill>
              </a:defRPr>
            </a:pPr>
            <a:r>
              <a:t>REGRA NORMATIVA DA ABNT</a:t>
            </a:r>
          </a:p>
          <a:p>
            <a:pPr>
              <a:spcBef>
                <a:spcPts val="200"/>
              </a:spcBef>
              <a:defRPr sz="1000">
                <a:solidFill>
                  <a:srgbClr val="282828"/>
                </a:solidFill>
              </a:defRPr>
            </a:pPr>
            <a:r>
              <a:t>O que a norma exige?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Todas as folhas são CONTADAS a partir da Capa (Capa = 1, Sumário = 2, Introdução = 3...).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A numeração só deve aparecer IMPRESSA a partir da primeira folha da parte textual (Introdução).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O número deve ser posicionado no canto superior direito, a 2 cm da borda da folha.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Capa, Sumário e elementos pré-textuais NÃO podem exibir número de página visível!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5156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0072CE"/>
                </a:solidFill>
              </a:defRPr>
            </a:pPr>
            <a:r>
              <a:t>A SOLUÇÃO COMPUTACIONAL</a:t>
            </a:r>
          </a:p>
          <a:p>
            <a:pPr>
              <a:spcBef>
                <a:spcPts val="200"/>
              </a:spcBef>
              <a:defRPr sz="1000">
                <a:solidFill>
                  <a:srgbClr val="282828"/>
                </a:solidFill>
              </a:defRPr>
            </a:pPr>
            <a:r>
              <a:t>Como o MS Word resolve?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Um documento comum do Word replica o mesmo cabeçalho em todas as páginas.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Para criar regras diferentes, dividimos o arquivo em SEÇÕES independentes.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Seção 1: Capa e Sumário (Cabeçalho em branco).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Seção 2: Introdução e Desenvolvimento (Cabeçalho com número visível iniciando em 3).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A chave de tudo: Desativar o botão 'Vincular ao Anterior'!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Quebra de Página vs. Quebra de Seção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4 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QUEBRA DE PÁGINA COMUM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Atalho: Ctrl + Enter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Apenas empurra o cursor para o topo da folha seguinte.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Mantém rigorosamente o mesmo cabeçalho, rodapé e orientação da página anterior.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Se você inserir um número de página após uma quebra simples, ele aparecerá em TODAS as folhas.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Uso: Mudar de página dentro do mesmo capítulo.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51560"/>
            <a:ext cx="3931920" cy="356616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QUEBRA DE SEÇÃO (PRÓXIMA PÁGINA)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Menu: Layout -&gt; Quebras -&gt; Seção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Cria uma barreira computacional isolando o documento em blocos autônomos.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Permite cabeçalhos independentes, rodapés com formatos distintos e até mudar a orientação (Retrato / Paisagem).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Permite desvincular a numeração da Introdução para não poluir a Capa e o Sumário.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Uso: Divisão entre Capa/Sumário (Seção 1) e Conteúdo (Seção 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Passo a Passo: Desvinculando Cabeçalhos e Rodapés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5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Passo 1: Inserir a Quebra de Seção: </a:t>
            </a:r>
            <a:r>
              <a:rPr sz="1150">
                <a:solidFill>
                  <a:srgbClr val="282828"/>
                </a:solidFill>
                <a:latin typeface="Arial"/>
              </a:rPr>
              <a:t>Posicione o cursor no final da página do Sumário (Página 2). Acesse Layout -&gt; Quebras -&gt; Quebras de Seção: Próxima Página.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Passo 2: Ativar o Caractere Invisível (¶): </a:t>
            </a:r>
            <a:r>
              <a:rPr sz="1150">
                <a:solidFill>
                  <a:srgbClr val="282828"/>
                </a:solidFill>
                <a:latin typeface="Arial"/>
              </a:rPr>
              <a:t>Na guia Página Inicial, clique no botão ¶ (Mostrar Tudo) para confirmar visualmente onde a quebra de seção está posicionada.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Passo 3: Abrir o Cabeçalho da Seção 2: </a:t>
            </a:r>
            <a:r>
              <a:rPr sz="1150">
                <a:solidFill>
                  <a:srgbClr val="282828"/>
                </a:solidFill>
                <a:latin typeface="Arial"/>
              </a:rPr>
              <a:t>Vá até a página da Introdução (Seção 2) e dê um DUPLO CLIQUE na área superior da folha (cabeçalho).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Passo 4: Desativar 'Vincular ao Anterior': </a:t>
            </a:r>
            <a:r>
              <a:rPr sz="1150">
                <a:solidFill>
                  <a:srgbClr val="282828"/>
                </a:solidFill>
                <a:latin typeface="Arial"/>
              </a:rPr>
              <a:t>Na barra superior 'Cabeçalho e Rodapé', localize o botão 'Vincular ao Anterior' (que estará sombreado/ativo). CLIQUE NELE PARA DESATIVÁ-LO!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08C3C"/>
                </a:solidFill>
                <a:latin typeface="Arial"/>
              </a:rPr>
              <a:t>Resultado:: </a:t>
            </a:r>
            <a:r>
              <a:rPr sz="1150">
                <a:solidFill>
                  <a:srgbClr val="282828"/>
                </a:solidFill>
                <a:latin typeface="Arial"/>
              </a:rPr>
              <a:t>Agora o cabeçalho da Seção 2 está 100% independente do cabeçalho da Capa e do Sumário!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Inserindo e Formatando o Número de Página ABNT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6 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1. FORMATAR NÚMERO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Definir o valor inicial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Com o cabeçalho da Seção 2 aberto: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Acesse: Número de Página -&gt; Formatar Números de Página...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Marque: 'Iniciar em:' e digite o número 3 (contando Capa=1 e Sumário=2).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Clique em 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97280"/>
            <a:ext cx="2560320" cy="347472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2. POSICIONAR NÚMERO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Canto superior direito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Acesse: Número de Página -&gt; Início da Página.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Escolha: 'Número Sem Formatação 3' (alinhado à direita).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O número 3 aparecerá automaticamente na Introdução.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Dê duplo clique no corpo do texto para sair do cabeçalho.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972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3. CONFERÊNCIA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Verificação obrigatória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Role o documento até a Capa (Página 1) -&gt; Não deve ter número!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Verifique o Sumário (Página 2) -&gt; Não deve ter número!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Verifique a Introdução (Página 3) -&gt; Exibe o número 3 no canto superior direito!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As páginas seguintes continuam em 4, 5, 6...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Tabelas Técnicas e Legendas Automáticas de Figuras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7 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LEGENDAS AUTOMÁTICAS DE FIGURAS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Padrão ABNT para ilustrações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Clique com o botão direito sobre a imagem -&gt; 'Inserir Legenda...'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Rótulo: selecione 'Figura'.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Digite o título descritivo (ex: ': Aeronave Embraer E195-E2').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Posição: Acima ou abaixo da figura (conforme padrão institucional).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Abaixo da imagem, insira em fonte 10 pt: 'Fonte: ANAC (2026)'.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51560"/>
            <a:ext cx="3931920" cy="356616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TABELAS TÉCNICAS PROFISSIONAIS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Estrutura e dados de engenharia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Guia Inserir -&gt; Tabela -&gt; Definir colunas e linhas.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Formatar cabeçalho com fundo escuro e texto em negrito.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Alinhar dados numéricos e técnicos verticalmente ao centro.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Inserir legenda oficial: botão direito -&gt; Inserir Legenda -&gt; Rótulo: 'Tabela'.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Adicionar 'Fonte: Autores (2026)' no rodapé da tabela em 10 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Sumário Automático e a Tecla F9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8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Como o Word constrói o Sumário? </a:t>
            </a:r>
            <a:r>
              <a:rPr sz="1150">
                <a:solidFill>
                  <a:srgbClr val="282828"/>
                </a:solidFill>
                <a:latin typeface="Arial"/>
              </a:rPr>
              <a:t> O Word varre todo o documento procurando parágrafos formatados com os estilos Título 1, Título 2 e Título 3, associando o texto com o número exato da página onde eles se encontram.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Inserção na Página 2: </a:t>
            </a:r>
            <a:r>
              <a:rPr sz="1150">
                <a:solidFill>
                  <a:srgbClr val="282828"/>
                </a:solidFill>
                <a:latin typeface="Arial"/>
              </a:rPr>
              <a:t> Posicione o cursor na página do Sumário -&gt; Acesse a guia Referências -&gt; Sumário -&gt; Sumário Automático 1.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O que fazer quando o texto for alterado? </a:t>
            </a:r>
            <a:r>
              <a:rPr sz="1150">
                <a:solidFill>
                  <a:srgbClr val="282828"/>
                </a:solidFill>
                <a:latin typeface="Arial"/>
              </a:rPr>
              <a:t> Se você adicionar parágrafos ou mudar títulos, o sumário NÃO muda sozinho na mesma hora. Você deve atualizá-lo!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Atalho Dinâmico F9: </a:t>
            </a:r>
            <a:r>
              <a:rPr sz="1150">
                <a:solidFill>
                  <a:srgbClr val="282828"/>
                </a:solidFill>
                <a:latin typeface="Arial"/>
              </a:rPr>
              <a:t> Clique sobre qualquer parte do sumário e pressione a tecla F9 (ou clique com o botão direito -&gt; 'Atualizar Campo') -&gt; Escolha 'Atualizar o índice inteiro' -&gt; OK!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Vantagem de Engenharia: </a:t>
            </a:r>
            <a:r>
              <a:rPr sz="1150">
                <a:solidFill>
                  <a:srgbClr val="282828"/>
                </a:solidFill>
                <a:latin typeface="Arial"/>
              </a:rPr>
              <a:t> Elimina para sempre o erro clássico de sumários digitados à mão com pontinhos que não alinham!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Exportação Oficial no Padrão PDF/A (ISO 19005)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9 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POR QUE USAR PDF/A?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Padrão oficial de arquivamento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PDF/A é uma versão padronizada pela ISO para arquivamento digital de longo prazo.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Garante que fontes, diagramas e fórmulas fiquem 100% embutidos no arquivo.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Garante que o avaliador ou órgão regulador verá exatamente a mesma diagramação, sem desconfigurações.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Formato obrigatório para entrega de TCC e relatórios técnicos da Fatec.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51560"/>
            <a:ext cx="3931920" cy="356616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COMO EXPORTAR NO MS WORD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3 passos simples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1. Acesse: Arquivo -&gt; Salvar Como (ou Exportar).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2. Selecione o formato: PDF (*.pdf).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3. Clique em 'Mais opções...' (ou 'Opções').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4. Marque a caixa de seleção: 'Compatível com ISO 19005-1 (PDF/A)'.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5. Clique em Salvar.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Atividade Prática de Fixação no Laboratório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10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200">
                <a:solidFill>
                  <a:srgbClr val="0F2043"/>
                </a:solidFill>
                <a:latin typeface="Arial"/>
              </a:rPr>
              <a:t>1. Abrir o Documento da Aula 2: </a:t>
            </a:r>
            <a:r>
              <a:rPr sz="1200">
                <a:solidFill>
                  <a:srgbClr val="282828"/>
                </a:solidFill>
                <a:latin typeface="Arial"/>
              </a:rPr>
              <a:t> Abra o relatório com os estilos ABNT já configurados na aula passada.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2043"/>
                </a:solidFill>
                <a:latin typeface="Arial"/>
              </a:rPr>
              <a:t>2. Inserir Quebra de Seção: </a:t>
            </a:r>
            <a:r>
              <a:rPr sz="1200">
                <a:solidFill>
                  <a:srgbClr val="282828"/>
                </a:solidFill>
                <a:latin typeface="Arial"/>
              </a:rPr>
              <a:t> Crie a fronteira de seção no final do Sumário.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2043"/>
                </a:solidFill>
                <a:latin typeface="Arial"/>
              </a:rPr>
              <a:t>3. Desvincular e Numerar: </a:t>
            </a:r>
            <a:r>
              <a:rPr sz="1200">
                <a:solidFill>
                  <a:srgbClr val="282828"/>
                </a:solidFill>
                <a:latin typeface="Arial"/>
              </a:rPr>
              <a:t> Desative 'Vincular ao Anterior', configure a numeração iniciando em 3 e posicione no topo direito.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2043"/>
                </a:solidFill>
                <a:latin typeface="Arial"/>
              </a:rPr>
              <a:t>4. Legendas e Tabela: </a:t>
            </a:r>
            <a:r>
              <a:rPr sz="1200">
                <a:solidFill>
                  <a:srgbClr val="282828"/>
                </a:solidFill>
                <a:latin typeface="Arial"/>
              </a:rPr>
              <a:t> Adicione a tabela técnica com cabeçalho formatado e a figura com legenda oficial.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2043"/>
                </a:solidFill>
                <a:latin typeface="Arial"/>
              </a:rPr>
              <a:t>5. Sumário Automático &amp; PDF/A: </a:t>
            </a:r>
            <a:r>
              <a:rPr sz="1200">
                <a:solidFill>
                  <a:srgbClr val="282828"/>
                </a:solidFill>
                <a:latin typeface="Arial"/>
              </a:rPr>
              <a:t> Insira o Sumário Automático 1 e exporte o arquivo final no formato PDF/A.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Dicas de Produtividade &amp; Atalhos no MS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11 de 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7680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7548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ATALHO DE TECLADO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FUNÇÃO NO MICROSOFT WORD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Ctrl + Shift + 8 (Ctrl + *)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Exibe ou oculta os caracteres não imprimíveis (¶) e quebras de seção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Alt + Shift +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Insere o campo dinâmico de Número de Página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F9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Atualiza campos selecionados (como o Sumário Automático)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Ctrl + 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Insere uma Quebra de Página simples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F12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Abre a janela 'Salvar Como' instantaneamente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Ctrl + 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Aplica o alinhamento Justificado ao parágrafo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Ctrl + E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Aplica o alinhamento Centralizado ao parágrafo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