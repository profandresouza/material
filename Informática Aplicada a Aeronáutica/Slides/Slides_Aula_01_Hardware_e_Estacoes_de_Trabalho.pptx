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72CE"/>
                </a:solidFill>
                <a:latin typeface="Arial"/>
              </a:defRPr>
            </a:pPr>
            <a:r>
              <a:t>FATEC SOROCABA — CURSO SUPERIOR DE TECNOLOGIA EM MANUTENÇÃO DE AERONAVES</a:t>
            </a:r>
          </a:p>
          <a:p>
            <a:pPr>
              <a:spcBef>
                <a:spcPts val="1000"/>
              </a:spcBef>
              <a:defRPr sz="1300">
                <a:solidFill>
                  <a:srgbClr val="C8E1FF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spcBef>
                <a:spcPts val="14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Hardware, Processadores &amp; Estações de Trabalho</a:t>
            </a:r>
          </a:p>
          <a:p>
            <a:pPr>
              <a:spcBef>
                <a:spcPts val="1000"/>
              </a:spcBef>
              <a:defRPr sz="1100">
                <a:solidFill>
                  <a:srgbClr val="DCE6F5"/>
                </a:solidFill>
                <a:latin typeface="Arial"/>
              </a:defRPr>
            </a:pPr>
            <a:r>
              <a:t>Fundamentos da Arquitetura Computacional, Especificação MRO/Engenharia e Tópico Especial em Computação Quântica</a:t>
            </a:r>
          </a:p>
          <a:p>
            <a:pPr>
              <a:spcBef>
                <a:spcPts val="2400"/>
              </a:spcBef>
              <a:defRPr sz="1100" b="1">
                <a:solidFill>
                  <a:srgbClr val="0072CE"/>
                </a:solidFill>
                <a:latin typeface="Arial"/>
              </a:defRPr>
            </a:pPr>
            <a:r>
              <a:t>Prof. André Souza  |  Aula 01</a:t>
            </a:r>
          </a:p>
        </p:txBody>
      </p:sp>
      <p:pic>
        <p:nvPicPr>
          <p:cNvPr id="4" name="Picture 3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73152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900" b="1">
                <a:solidFill>
                  <a:srgbClr val="0072CE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Objetivos de Aprendizagem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5A5A"/>
                </a:solidFill>
                <a:latin typeface="Arial"/>
              </a:defRPr>
            </a:pPr>
            <a:r>
              <a:t>Fatec Sorocaba — CST em Manutenção de Aeronaves  |  Slide 2 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b="1" sz="1300">
                <a:solidFill>
                  <a:srgbClr val="0F2043"/>
                </a:solidFill>
                <a:latin typeface="Arial"/>
              </a:rPr>
              <a:t>•  Competências de Hardware:</a:t>
            </a:r>
            <a:r>
              <a:rPr sz="1300">
                <a:solidFill>
                  <a:srgbClr val="282828"/>
                </a:solidFill>
                <a:latin typeface="Arial"/>
              </a:rPr>
              <a:t> Compreender a atuação da CPU, Memória RAM, SSD NVMe e GPU em sistemas computacionais aeronáuticos.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0F2043"/>
                </a:solidFill>
                <a:latin typeface="Arial"/>
              </a:rPr>
              <a:t>•  Arquitetura de Armazenamento e Leitura:</a:t>
            </a:r>
            <a:r>
              <a:rPr sz="1300">
                <a:solidFill>
                  <a:srgbClr val="282828"/>
                </a:solidFill>
                <a:latin typeface="Arial"/>
              </a:rPr>
              <a:t> Avaliar o impacto da velocidade de disco na abertura de manuais técnicos pesados (AMM, IPC, SRM com 3.000+ páginas em PDF) e arquivos CAD 3D.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0F2043"/>
                </a:solidFill>
                <a:latin typeface="Arial"/>
              </a:rPr>
              <a:t>•  Dimensionamento Técnico por Perfil:</a:t>
            </a:r>
            <a:r>
              <a:rPr sz="1300">
                <a:solidFill>
                  <a:srgbClr val="282828"/>
                </a:solidFill>
                <a:latin typeface="Arial"/>
              </a:rPr>
              <a:t> Especificar e justificar computadores adequados para dois ambientes distintos: Hangar/Oficina MRO vs. Engenharia/PCM.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0F2043"/>
                </a:solidFill>
                <a:latin typeface="Arial"/>
              </a:rPr>
              <a:t>•  Diagnóstico Prático no Sistema Operacional:</a:t>
            </a:r>
            <a:r>
              <a:rPr sz="1300">
                <a:solidFill>
                  <a:srgbClr val="282828"/>
                </a:solidFill>
                <a:latin typeface="Arial"/>
              </a:rPr>
              <a:t> Utilizar ferramentas do Windows 11 para identificar gargalos de hardware em tempo real.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0F2043"/>
                </a:solidFill>
                <a:latin typeface="Arial"/>
              </a:rPr>
              <a:t>•  Visão de Fronteira Tecnológica (Computação Quântica):</a:t>
            </a:r>
            <a:r>
              <a:rPr sz="1300">
                <a:solidFill>
                  <a:srgbClr val="282828"/>
                </a:solidFill>
                <a:latin typeface="Arial"/>
              </a:rPr>
              <a:t> Compreender conceitos básicos de qubits e superposição quântica aplicados ao setor aeroespacial.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900" b="1">
                <a:solidFill>
                  <a:srgbClr val="0072CE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Fundamentos — Hardware vs. Software na Aviação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5A5A"/>
                </a:solidFill>
                <a:latin typeface="Arial"/>
              </a:defRPr>
            </a:pPr>
            <a:r>
              <a:t>Fatec Sorocaba — CST em Manutenção de Aeronaves  |  Slide 3 de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2560320" cy="3474720"/>
          </a:xfrm>
          <a:prstGeom prst="roundRect">
            <a:avLst/>
          </a:prstGeom>
          <a:solidFill>
            <a:srgbClr val="E6F0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2286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043"/>
                </a:solidFill>
              </a:defRPr>
            </a:pPr>
            <a:r>
              <a:t>HARDWARE AERONÁUTICO</a:t>
            </a:r>
          </a:p>
          <a:p>
            <a:pPr>
              <a:spcBef>
                <a:spcPts val="200"/>
              </a:spcBef>
              <a:defRPr sz="1000">
                <a:solidFill>
                  <a:srgbClr val="0072CE"/>
                </a:solidFill>
              </a:defRPr>
            </a:pPr>
            <a:r>
              <a:t>A infraestrutura física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Processadores (CPU) de alto desempenho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Memórias RAM DDR4/DDR5 de alta frequência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Armazenamento SSD NVMe PCIe ultra-rápido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Placas de Vídeo (GPU) dedicadas para 3D/CAD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Terminais industriais e monitores antirreflexo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097280"/>
            <a:ext cx="256032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1188720"/>
            <a:ext cx="2286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043"/>
                </a:solidFill>
              </a:defRPr>
            </a:pPr>
            <a:r>
              <a:t>SOFTWARE DE SISTEMA</a:t>
            </a:r>
          </a:p>
          <a:p>
            <a:pPr>
              <a:spcBef>
                <a:spcPts val="200"/>
              </a:spcBef>
              <a:defRPr sz="1000">
                <a:solidFill>
                  <a:srgbClr val="0072CE"/>
                </a:solidFill>
              </a:defRPr>
            </a:pPr>
            <a:r>
              <a:t>A camada de gerenciamento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Sistemas Operacionais (Windows 11 / Linux)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Gerenciamento de processos e alocação de RAM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Drivers homologados e certificados para engenharia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Segurança de dados e conectividade de rede MRO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Gerenciamento de periféricos de teste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097280"/>
            <a:ext cx="2560320" cy="3474720"/>
          </a:xfrm>
          <a:prstGeom prst="roundRect">
            <a:avLst/>
          </a:prstGeom>
          <a:solidFill>
            <a:srgbClr val="E6F0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188720"/>
            <a:ext cx="2286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043"/>
                </a:solidFill>
              </a:defRPr>
            </a:pPr>
            <a:r>
              <a:t>SOFTWARE DE APLICAÇÃO</a:t>
            </a:r>
          </a:p>
          <a:p>
            <a:pPr>
              <a:spcBef>
                <a:spcPts val="200"/>
              </a:spcBef>
              <a:defRPr sz="1000">
                <a:solidFill>
                  <a:srgbClr val="0072CE"/>
                </a:solidFill>
              </a:defRPr>
            </a:pPr>
            <a:r>
              <a:t>As ferramentas de trabalho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MS Excel (Modelos de $CG$, PERT/CPM e Confiabilidade)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MS Word (Relatórios Técnicos e OS padronizadas)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Softwares CAD (AutoCAD, SolidWorks, CATIA 3D)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Leitores de Manuais (PDF Vetorial AMM/IPC/SRM)</a:t>
            </a:r>
          </a:p>
          <a:p>
            <a:pPr>
              <a:spcBef>
                <a:spcPts val="600"/>
              </a:spcBef>
              <a:defRPr sz="1000">
                <a:solidFill>
                  <a:srgbClr val="282828"/>
                </a:solidFill>
              </a:defRPr>
            </a:pPr>
            <a:r>
              <a:t>• Sistemas ERP/MRO (TRAX, AMOS, SAP Aviation)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900" b="1">
                <a:solidFill>
                  <a:srgbClr val="0072CE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O Processador (CPU): O Cérebro do 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5A5A"/>
                </a:solidFill>
                <a:latin typeface="Arial"/>
              </a:defRPr>
            </a:pPr>
            <a:r>
              <a:t>Fatec Sorocaba — CST em Manutenção de Aeronaves  |  Slide 4 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b="1" sz="1200">
                <a:solidFill>
                  <a:srgbClr val="0F2043"/>
                </a:solidFill>
              </a:rPr>
              <a:t>Arquitetura Interna:</a:t>
            </a:r>
            <a:r>
              <a:rPr sz="1200">
                <a:solidFill>
                  <a:srgbClr val="282828"/>
                </a:solidFill>
              </a:rPr>
              <a:t> Núcleos (Cores) executam tarefas independentes; Threads simulam núcleos virtuais para maior dinamismo.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Frequência de Clock (GHz):</a:t>
            </a:r>
            <a:r>
              <a:rPr sz="1200">
                <a:solidFill>
                  <a:srgbClr val="282828"/>
                </a:solidFill>
              </a:rPr>
              <a:t> Define a velocidade de ciclos por segundo. Clocks elevados (&gt;= 4.7 GHz) aceleram desenhos e cálculos individuais.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Memória Cache (L1/L2/L3):</a:t>
            </a:r>
            <a:r>
              <a:rPr sz="1200">
                <a:solidFill>
                  <a:srgbClr val="282828"/>
                </a:solidFill>
              </a:rPr>
              <a:t> Memória ultrarrápida dentro do chip da CPU que armazena instruções imediatas para evitar gargalos.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Impacto Direto no MS Excel:</a:t>
            </a:r>
            <a:r>
              <a:rPr sz="1200">
                <a:solidFill>
                  <a:srgbClr val="282828"/>
                </a:solidFill>
              </a:rPr>
              <a:t> O motor de cálculo do Excel utiliza múltiplos núcleos em paralelo para reavaliar planilhas com milhares de fórmulas matriciais e redes PERT/CPM.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Recomendação Técnica:</a:t>
            </a:r>
            <a:r>
              <a:rPr sz="1200">
                <a:solidFill>
                  <a:srgbClr val="282828"/>
                </a:solidFill>
              </a:rPr>
              <a:t> 6 a 8 núcleos (Intel Core i5/i7 ou AMD Ryzen 5/7).</a:t>
            </a:r>
          </a:p>
        </p:txBody>
      </p:sp>
      <p:pic>
        <p:nvPicPr>
          <p:cNvPr id="5" name="Picture 4" descr="cp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097280"/>
            <a:ext cx="3657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900" b="1">
                <a:solidFill>
                  <a:srgbClr val="0072CE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Memória RAM e Armazenamento SSD NVMe vs. HDD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5A5A"/>
                </a:solidFill>
                <a:latin typeface="Arial"/>
              </a:defRPr>
            </a:pPr>
            <a:r>
              <a:t>Fatec Sorocaba — CST em Manutenção de Aeronaves  |  Slide 5 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b="1" sz="1200">
                <a:solidFill>
                  <a:srgbClr val="0F2043"/>
                </a:solidFill>
              </a:rPr>
              <a:t>Memória RAM (Volátil):</a:t>
            </a:r>
            <a:r>
              <a:rPr sz="1200">
                <a:solidFill>
                  <a:srgbClr val="282828"/>
                </a:solidFill>
              </a:rPr>
              <a:t> Armazena temporariamente os programas em uso (Excel, CAD, Manuais). Sem RAM suficiente, o Windows usa o disco (*Paging File*), gerando lentidão crítica.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Capacidade Necessária:</a:t>
            </a:r>
            <a:r>
              <a:rPr sz="1200">
                <a:solidFill>
                  <a:srgbClr val="282828"/>
                </a:solidFill>
              </a:rPr>
              <a:t> 16 GB (Hangar/MRO) a 32 GB / 64 GB DDR5 (Engenharia/PCM).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SSD NVMe PCIe 4.0 (Persistente):</a:t>
            </a:r>
            <a:r>
              <a:rPr sz="1200">
                <a:solidFill>
                  <a:srgbClr val="282828"/>
                </a:solidFill>
              </a:rPr>
              <a:t> Taxas de leitura de 5.000 a 7.000 MB/s. Chips Flash 100% imunes a vibrações de ferramentas pneumáticas em hangares.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HDD Mecânico (Obsoleto em MRO):</a:t>
            </a:r>
            <a:r>
              <a:rPr sz="1200">
                <a:solidFill>
                  <a:srgbClr val="282828"/>
                </a:solidFill>
              </a:rPr>
              <a:t> Apenas ~150 MB/s. Possui agulhas e pratos magnéticos móveis extremamente vulneráveis a impactos e quedas.</a:t>
            </a:r>
          </a:p>
        </p:txBody>
      </p:sp>
      <p:pic>
        <p:nvPicPr>
          <p:cNvPr id="5" name="Picture 4" descr="stor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097280"/>
            <a:ext cx="3657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900" b="1">
                <a:solidFill>
                  <a:srgbClr val="0072CE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Processamento Gráfico (GPU) e Periféricos Ergonomicos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5A5A"/>
                </a:solidFill>
                <a:latin typeface="Arial"/>
              </a:defRPr>
            </a:pPr>
            <a:r>
              <a:t>Fatec Sorocaba — CST em Manutenção de Aeronaves  |  Slide 6 de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38404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3657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2043"/>
                </a:solidFill>
              </a:defRPr>
            </a:pPr>
            <a:r>
              <a:t>PLACA DE VÍDEO (GPU)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• VRAM Dedicada (GDDR6):</a:t>
            </a:r>
            <a:r>
              <a:rPr sz="1100">
                <a:solidFill>
                  <a:srgbClr val="282828"/>
                </a:solidFill>
              </a:rPr>
              <a:t>  Permite rotação fluida de modelos CAD 3D de turbinas e fuselagens.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• GPU Integrada vs. Dedicada:</a:t>
            </a:r>
            <a:r>
              <a:rPr sz="1100">
                <a:solidFill>
                  <a:srgbClr val="282828"/>
                </a:solidFill>
              </a:rPr>
              <a:t>  Vídeo integrado (Intel Iris Xe) atende diagramas 2D; GPU dedicada (NVIDIA RTX) é necessária para engenharia 3D.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• Liberação do Processador:</a:t>
            </a:r>
            <a:r>
              <a:rPr sz="1100">
                <a:solidFill>
                  <a:srgbClr val="282828"/>
                </a:solidFill>
              </a:rPr>
              <a:t>  A GPU realiza os cálculos geométricos de renderização, liberando a CPU para a lógica de programas.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097280"/>
            <a:ext cx="38404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188720"/>
            <a:ext cx="3657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2043"/>
                </a:solidFill>
              </a:defRPr>
            </a:pPr>
            <a:r>
              <a:t>PERIFÉRICOS &amp; ERGONOMIA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• Monitores Duplos (QHD):</a:t>
            </a:r>
            <a:r>
              <a:rPr sz="1100">
                <a:solidFill>
                  <a:srgbClr val="282828"/>
                </a:solidFill>
              </a:rPr>
              <a:t>  Permitem comparar o manual estrutural (SRM) em uma tela enquanto elabora a Ordem de Serviço na outra.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• Tratamento Antirreflexo (*Matte*):</a:t>
            </a:r>
            <a:r>
              <a:rPr sz="1100">
                <a:solidFill>
                  <a:srgbClr val="282828"/>
                </a:solidFill>
              </a:rPr>
              <a:t>  Essencial contra a forte iluminação industrial dos galpões de hangar.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• Teclado Numérico Dedicado:</a:t>
            </a:r>
            <a:r>
              <a:rPr sz="1100">
                <a:solidFill>
                  <a:srgbClr val="282828"/>
                </a:solidFill>
              </a:rPr>
              <a:t>  Acelera a digitação constante de códigos e Part Numbers de peças aeronáuticas.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• Conectividade I/O:</a:t>
            </a:r>
            <a:r>
              <a:rPr sz="1100">
                <a:solidFill>
                  <a:srgbClr val="282828"/>
                </a:solidFill>
              </a:rPr>
              <a:t>  Portas USB 3.2 e Ethernet Gigabit para sincronização com instrumentos de bancada.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900" b="1">
                <a:solidFill>
                  <a:srgbClr val="0072CE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Especificação 1 — Estação para Hangar &amp; Oficina MRO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5A5A"/>
                </a:solidFill>
                <a:latin typeface="Arial"/>
              </a:defRPr>
            </a:pPr>
            <a:r>
              <a:t>Fatec Sorocaba — CST em Manutenção de Aeronaves  |  Slide 7 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b="1" sz="1100">
                <a:solidFill>
                  <a:srgbClr val="0F2043"/>
                </a:solidFill>
              </a:rPr>
              <a:t>• CPU:</a:t>
            </a:r>
            <a:r>
              <a:rPr sz="1100">
                <a:solidFill>
                  <a:srgbClr val="282828"/>
                </a:solidFill>
              </a:rPr>
              <a:t>  Intel Core i5 / AMD Ryzen 5 (6 Cores / 12 Threads)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RAM:</a:t>
            </a:r>
            <a:r>
              <a:rPr sz="1100">
                <a:solidFill>
                  <a:srgbClr val="282828"/>
                </a:solidFill>
              </a:rPr>
              <a:t>  16 GB DDR4 3200 MHz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Armazenamento:</a:t>
            </a:r>
            <a:r>
              <a:rPr sz="1100">
                <a:solidFill>
                  <a:srgbClr val="282828"/>
                </a:solidFill>
              </a:rPr>
              <a:t>  SSD NVMe M.2 512 GB PCIe 3.0/4.0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GPU:</a:t>
            </a:r>
            <a:r>
              <a:rPr sz="1100">
                <a:solidFill>
                  <a:srgbClr val="282828"/>
                </a:solidFill>
              </a:rPr>
              <a:t>  Vídeo Integrado (Intel Iris Xe / AMD Radeon Vega)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Monitor:</a:t>
            </a:r>
            <a:r>
              <a:rPr sz="1100">
                <a:solidFill>
                  <a:srgbClr val="282828"/>
                </a:solidFill>
              </a:rPr>
              <a:t>  24" Full HD com Tratamento Antirreflexo (*Matte*)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Justificativa Técnica:</a:t>
            </a:r>
            <a:r>
              <a:rPr sz="1100">
                <a:solidFill>
                  <a:srgbClr val="282828"/>
                </a:solidFill>
              </a:rPr>
              <a:t>  Manuais AMM ocupam 2 a 4 GB de RAM ao renderizar PDF vetorial. 16 GB garante alternância fluida com o sistema MRO. O SSD NVMe é resistente a choques mecânicos e vibrações do hangar, carregando o sistema em 5s.</a:t>
            </a:r>
          </a:p>
        </p:txBody>
      </p:sp>
      <p:pic>
        <p:nvPicPr>
          <p:cNvPr id="5" name="Picture 4" descr="hang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097280"/>
            <a:ext cx="3657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900" b="1">
                <a:solidFill>
                  <a:srgbClr val="0072CE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Especificação 2 — Workstation de Engenharia &amp; PCM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5A5A"/>
                </a:solidFill>
                <a:latin typeface="Arial"/>
              </a:defRPr>
            </a:pPr>
            <a:r>
              <a:t>Fatec Sorocaba — CST em Manutenção de Aeronaves  |  Slide 8 de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8046720" cy="3474720"/>
          </a:xfrm>
          <a:prstGeom prst="roundRect">
            <a:avLst/>
          </a:prstGeom>
          <a:solidFill>
            <a:srgbClr val="E6F0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680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b="1" sz="1100">
                <a:solidFill>
                  <a:srgbClr val="0F2043"/>
                </a:solidFill>
              </a:rPr>
              <a:t>• Processador (CPU):</a:t>
            </a:r>
            <a:r>
              <a:rPr sz="1100" b="1">
                <a:solidFill>
                  <a:srgbClr val="0072CE"/>
                </a:solidFill>
              </a:rPr>
              <a:t>  Intel Core i7/i9 ou Ryzen 7/9 (8 a 16 Cores, Clock Boost &gt;= 4.7 GHz)</a:t>
            </a:r>
            <a:r>
              <a:rPr sz="1000">
                <a:solidFill>
                  <a:srgbClr val="282828"/>
                </a:solidFill>
              </a:rPr>
              <a:t> —  Alto clock acelerado para CAD paramétrico e múltiplos núcleos para cálculo matricial do Excel.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Memória RAM:</a:t>
            </a:r>
            <a:r>
              <a:rPr sz="1100" b="1">
                <a:solidFill>
                  <a:srgbClr val="0072CE"/>
                </a:solidFill>
              </a:rPr>
              <a:t>  32 GB a 64 GB DDR5 5600 MHz (Dual Channel)</a:t>
            </a:r>
            <a:r>
              <a:rPr sz="1000">
                <a:solidFill>
                  <a:srgbClr val="282828"/>
                </a:solidFill>
              </a:rPr>
              <a:t> —  Suporta bases de confiabilidade com 500k+ registros e montagens 3D de mais de 20 GB em RAM.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Armazenamento:</a:t>
            </a:r>
            <a:r>
              <a:rPr sz="1100" b="1">
                <a:solidFill>
                  <a:srgbClr val="0072CE"/>
                </a:solidFill>
              </a:rPr>
              <a:t>  SSD NVMe 1 TB a 2 TB PCIe 4.0 (Leitura &gt;= 7.000 MB/s)</a:t>
            </a:r>
            <a:r>
              <a:rPr sz="1000">
                <a:solidFill>
                  <a:srgbClr val="282828"/>
                </a:solidFill>
              </a:rPr>
              <a:t> —  Alta taxa de IOPS reduz o tempo de abertura de projetos CAD complexos de minutos para segundos.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Placa de Vídeo (GPU):</a:t>
            </a:r>
            <a:r>
              <a:rPr sz="1100" b="1">
                <a:solidFill>
                  <a:srgbClr val="0072CE"/>
                </a:solidFill>
              </a:rPr>
              <a:t>  NVIDIA RTX Profissional Dedicada (8 a 12 GB VRAM GDDR6)</a:t>
            </a:r>
            <a:r>
              <a:rPr sz="1000">
                <a:solidFill>
                  <a:srgbClr val="282828"/>
                </a:solidFill>
              </a:rPr>
              <a:t> —  Renderização 3D de turbinas em tempo real com drivers de precisão homologados.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Telas:</a:t>
            </a:r>
            <a:r>
              <a:rPr sz="1100" b="1">
                <a:solidFill>
                  <a:srgbClr val="0072CE"/>
                </a:solidFill>
              </a:rPr>
              <a:t>  2 Monitores de 27" IPS QHD (2560x1440) em Braço Articulado</a:t>
            </a:r>
            <a:r>
              <a:rPr sz="1000">
                <a:solidFill>
                  <a:srgbClr val="282828"/>
                </a:solidFill>
              </a:rPr>
              <a:t> —  77% mais área visual que 1080p, permitindo exibir manual SRM em uma tela e CAD/Excel na outra.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900" b="1">
                <a:solidFill>
                  <a:srgbClr val="0072CE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Tópico Especial — Computação Quântica na Aviação (Pergunta dos Alunos)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5A5A"/>
                </a:solidFill>
                <a:latin typeface="Arial"/>
              </a:defRPr>
            </a:pPr>
            <a:r>
              <a:t>Fatec Sorocaba — CST em Manutenção de Aeronaves  |  Slide 9 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b="1" sz="1100">
                <a:solidFill>
                  <a:srgbClr val="0F2043"/>
                </a:solidFill>
              </a:rPr>
              <a:t>• O que é o Qubit?</a:t>
            </a:r>
            <a:r>
              <a:rPr sz="1100">
                <a:solidFill>
                  <a:srgbClr val="282828"/>
                </a:solidFill>
              </a:rPr>
              <a:t>  Ao contrário do bit clássico (0 ou 1), o *qubit* utiliza princípios quânticos como **Superposição** (0 e 1 simultaneamente) e **Emaranhamento**.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Aplicações na Aviação:</a:t>
            </a:r>
            <a:r>
              <a:rPr sz="1100">
                <a:solidFill>
                  <a:srgbClr val="282828"/>
                </a:solidFill>
              </a:rPr>
              <a:t>  Otimização combinatória extrema de malhas aéreas e rotas em tempo real considerando ventos, tráfego e combustível.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Ciência de Materiais Aeronáuticos:</a:t>
            </a:r>
            <a:r>
              <a:rPr sz="1100">
                <a:solidFill>
                  <a:srgbClr val="282828"/>
                </a:solidFill>
              </a:rPr>
              <a:t>  Simulação molecular de novas ligas metálicas mais leves e compósitos resistentes a altíssimas temperaturas.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Manutenção Preditiva Global:</a:t>
            </a:r>
            <a:r>
              <a:rPr sz="1100">
                <a:solidFill>
                  <a:srgbClr val="282828"/>
                </a:solidFill>
              </a:rPr>
              <a:t>  Alocação ideal de frotas e cronogramas de revisão (*Fleet Scheduling &amp; Maintenance Alignment*).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2043"/>
                </a:solidFill>
              </a:rPr>
              <a:t>• Quântico vs. Clássico:</a:t>
            </a:r>
            <a:r>
              <a:rPr sz="1100">
                <a:solidFill>
                  <a:srgbClr val="282828"/>
                </a:solidFill>
              </a:rPr>
              <a:t>  A computação quântica **não substitui** computadores pessoais ou workstations de hangar; ela atua como supercomputador acelerador em nuvem para cálculos massivos.</a:t>
            </a:r>
          </a:p>
        </p:txBody>
      </p:sp>
      <p:pic>
        <p:nvPicPr>
          <p:cNvPr id="5" name="Picture 4" descr="quant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097280"/>
            <a:ext cx="3657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900" b="1">
                <a:solidFill>
                  <a:srgbClr val="0072CE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Prática em Laboratório — Diagnóstico no Windows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5A5A"/>
                </a:solidFill>
                <a:latin typeface="Arial"/>
              </a:defRPr>
            </a:pPr>
            <a:r>
              <a:t>Fatec Sorocaba — CST em Manutenção de Aeronaves  |  Slide 10 de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8046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043"/>
                </a:solidFill>
              </a:defRPr>
            </a:pPr>
            <a:r>
              <a:t>1. Informações do Sistema (`msinfo32` / Settings)</a:t>
            </a:r>
          </a:p>
          <a:p>
            <a:pPr>
              <a:spcBef>
                <a:spcPts val="200"/>
              </a:spcBef>
              <a:defRPr sz="1000">
                <a:solidFill>
                  <a:srgbClr val="282828"/>
                </a:solidFill>
              </a:defRPr>
            </a:pPr>
            <a:r>
              <a:t>Verifique o modelo exato do processador (CPU), clock base e quantidade de Memória RAM instalada no computador da bancada.</a:t>
            </a:r>
          </a:p>
          <a:p>
            <a:pPr>
              <a:spcBef>
                <a:spcPts val="200"/>
              </a:spcBef>
              <a:defRPr sz="900" b="1">
                <a:solidFill>
                  <a:srgbClr val="0072CE"/>
                </a:solidFill>
              </a:defRPr>
            </a:pPr>
            <a:r>
              <a:t>💡 Dica Prática: Atalho: Win + Pause/Break ou Configurações -&gt; Sistema -&gt; Sobre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8046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59152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043"/>
                </a:solidFill>
              </a:defRPr>
            </a:pPr>
            <a:r>
              <a:t>2. Gerenciador de Tarefas (`Ctrl + Shift + Esc`)</a:t>
            </a:r>
          </a:p>
          <a:p>
            <a:pPr>
              <a:spcBef>
                <a:spcPts val="200"/>
              </a:spcBef>
              <a:defRPr sz="1000">
                <a:solidFill>
                  <a:srgbClr val="282828"/>
                </a:solidFill>
              </a:defRPr>
            </a:pPr>
            <a:r>
              <a:t>Abra a aba Desempenho para monitorar a utilização da CPU em tempo real e se a memória está saturada.</a:t>
            </a:r>
          </a:p>
          <a:p>
            <a:pPr>
              <a:spcBef>
                <a:spcPts val="200"/>
              </a:spcBef>
              <a:defRPr sz="900" b="1">
                <a:solidFill>
                  <a:srgbClr val="0072CE"/>
                </a:solidFill>
              </a:defRPr>
            </a:pPr>
            <a:r>
              <a:t>💡 Dica Prática: Identifique o tipo de disco (SSD NVMe vs HDD) e a taxa de uso em 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74720"/>
            <a:ext cx="8046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547872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043"/>
                </a:solidFill>
              </a:defRPr>
            </a:pPr>
            <a:r>
              <a:t>3. Identificação de Gargalos Computacionais</a:t>
            </a:r>
          </a:p>
          <a:p>
            <a:pPr>
              <a:spcBef>
                <a:spcPts val="200"/>
              </a:spcBef>
              <a:defRPr sz="1000">
                <a:solidFill>
                  <a:srgbClr val="282828"/>
                </a:solidFill>
              </a:defRPr>
            </a:pPr>
            <a:r>
              <a:t>Avalie se a taxa de ocupação da RAM supera 80% e se o disco atinge 100% de uso constante durante a abertura de arquivos grandes.</a:t>
            </a:r>
          </a:p>
          <a:p>
            <a:pPr>
              <a:spcBef>
                <a:spcPts val="200"/>
              </a:spcBef>
              <a:defRPr sz="900" b="1">
                <a:solidFill>
                  <a:srgbClr val="0072CE"/>
                </a:solidFill>
              </a:defRPr>
            </a:pPr>
            <a:r>
              <a:t>💡 Dica Prática: Gargalo no disco indica necessidade imediata de upgrade para SSD NVMe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900" b="1">
                <a:solidFill>
                  <a:srgbClr val="0072CE"/>
                </a:solidFill>
                <a:latin typeface="Arial"/>
              </a:defRPr>
            </a:pPr>
            <a:r>
              <a:t>INF-117 — INFORMÁTICA APLICADA A AERONÁUTICA</a:t>
            </a:r>
          </a:p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Exercício de Fixação Computacional — Parecer Técnico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5A5A"/>
                </a:solidFill>
                <a:latin typeface="Arial"/>
              </a:defRPr>
            </a:pPr>
            <a:r>
              <a:t>Fatec Sorocaba — CST em Manutenção de Aeronaves  |  Slide 11 de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8046720" cy="3474720"/>
          </a:xfrm>
          <a:prstGeom prst="roundRect">
            <a:avLst/>
          </a:prstGeom>
          <a:solidFill>
            <a:srgbClr val="E6F0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680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F2043"/>
                </a:solidFill>
              </a:defRPr>
            </a:pPr>
            <a:r>
              <a:t>DESAFIO INDIVIDUAL NO LABORATORIO</a:t>
            </a:r>
          </a:p>
          <a:p>
            <a:pPr>
              <a:spcBef>
                <a:spcPts val="800"/>
              </a:spcBef>
              <a:defRPr b="1" sz="1200">
                <a:solidFill>
                  <a:srgbClr val="0F2043"/>
                </a:solidFill>
              </a:defRPr>
            </a:pPr>
            <a:r>
              <a:t>Cenário Prático: Você foi designado para emitir o parecer técnico de aquisição de 2 computadores para a nova base da oficina:</a:t>
            </a:r>
          </a:p>
          <a:p>
            <a:pPr>
              <a:spcBef>
                <a:spcPts val="400"/>
              </a:spcBef>
              <a:defRPr sz="1100">
                <a:solidFill>
                  <a:srgbClr val="282828"/>
                </a:solidFill>
              </a:defRPr>
            </a:pPr>
            <a:r>
              <a:t>1. Estação de Bancada / Hangar: Lançamento de Ordens de Serviço (OS) e consulta a manuais técnicos AMM/IPC.</a:t>
            </a:r>
          </a:p>
          <a:p>
            <a:pPr>
              <a:spcBef>
                <a:spcPts val="400"/>
              </a:spcBef>
              <a:defRPr sz="1100">
                <a:solidFill>
                  <a:srgbClr val="282828"/>
                </a:solidFill>
              </a:defRPr>
            </a:pPr>
            <a:r>
              <a:t>2. Workstation de Engenharia &amp; Confiabilidade: Análise de falhas de frota, cálculos em planilhas pesadas e modelos CAD 3D.</a:t>
            </a:r>
          </a:p>
          <a:p>
            <a:pPr>
              <a:spcBef>
                <a:spcPts val="800"/>
              </a:spcBef>
              <a:defRPr b="1" sz="1200">
                <a:solidFill>
                  <a:srgbClr val="0F2043"/>
                </a:solidFill>
              </a:defRPr>
            </a:pPr>
            <a:r>
              <a:t>Entregável Esperado:</a:t>
            </a:r>
          </a:p>
          <a:p>
            <a:pPr>
              <a:spcBef>
                <a:spcPts val="400"/>
              </a:spcBef>
              <a:defRPr sz="1100">
                <a:solidFill>
                  <a:srgbClr val="282828"/>
                </a:solidFill>
              </a:defRPr>
            </a:pPr>
            <a:r>
              <a:t>• Monte uma tabela especificada detalhando: CPU (Cores/Clock), RAM (GB/Freq.), Armazenamento (Tipo/Capacidade), GPU e Monitores.</a:t>
            </a:r>
          </a:p>
          <a:p>
            <a:pPr>
              <a:spcBef>
                <a:spcPts val="400"/>
              </a:spcBef>
              <a:defRPr sz="1100">
                <a:solidFill>
                  <a:srgbClr val="282828"/>
                </a:solidFill>
              </a:defRPr>
            </a:pPr>
            <a:r>
              <a:t>• Apresente a JUSTIFICATIVA TÉCNICA para cada componente selecionado com base nos conceitos aprendidos nesta aula.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72CE"/>
                </a:solidFill>
              </a:defRPr>
            </a:pPr>
            <a:r>
              <a:t>INF-117 — Informática Aplicada a Aeronáutica</a:t>
            </a:r>
          </a:p>
          <a:p>
            <a:pPr>
              <a:spcBef>
                <a:spcPts val="1200"/>
              </a:spcBef>
              <a:defRPr sz="2600" b="1">
                <a:solidFill>
                  <a:srgbClr val="FFFFFF"/>
                </a:solidFill>
              </a:defRPr>
            </a:pPr>
            <a:r>
              <a:t>Obrigado e Bom Trabalho Prático!</a:t>
            </a:r>
          </a:p>
          <a:p>
            <a:pPr>
              <a:spcBef>
                <a:spcPts val="1600"/>
              </a:spcBef>
              <a:defRPr sz="1300">
                <a:solidFill>
                  <a:srgbClr val="C8E1FF"/>
                </a:solidFill>
              </a:defRPr>
            </a:pPr>
            <a:r>
              <a:t>Próxima Aula (Aula 02): MS Word Técnico para Relatórios Formais — Estilos ABNT, Quebras de Seção, Sumários Automáticos e Tabelas de Engenharia.</a:t>
            </a:r>
          </a:p>
          <a:p>
            <a:pPr>
              <a:spcBef>
                <a:spcPts val="3000"/>
              </a:spcBef>
              <a:defRPr sz="1100">
                <a:solidFill>
                  <a:srgbClr val="5A5A5A"/>
                </a:solidFill>
              </a:defRPr>
            </a:pPr>
            <a:r>
              <a:t>Fatec Sorocaba — CST em Manutenção de Aeronaves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