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3" r:id="rId1"/>
    <p:sldMasterId id="2147483664" r:id="rId2"/>
  </p:sldMasterIdLst>
  <p:notesMasterIdLst>
    <p:notesMasterId r:id="rId14"/>
  </p:notesMasterIdLst>
  <p:sldIdLst>
    <p:sldId id="256" r:id="rId3"/>
    <p:sldId id="257" r:id="rId4"/>
    <p:sldId id="298" r:id="rId5"/>
    <p:sldId id="299" r:id="rId6"/>
    <p:sldId id="300" r:id="rId7"/>
    <p:sldId id="301" r:id="rId8"/>
    <p:sldId id="302" r:id="rId9"/>
    <p:sldId id="303" r:id="rId10"/>
    <p:sldId id="304" r:id="rId11"/>
    <p:sldId id="305" r:id="rId12"/>
    <p:sldId id="306" r:id="rId13"/>
  </p:sldIdLst>
  <p:sldSz cx="9144000" cy="5143500" type="screen16x9"/>
  <p:notesSz cx="6858000" cy="9144000"/>
  <p:embeddedFontLst>
    <p:embeddedFont>
      <p:font typeface="Lato" panose="020F0502020204030203" pitchFamily="34" charset="0"/>
      <p:regular r:id="rId15"/>
      <p:bold r:id="rId16"/>
      <p:italic r:id="rId17"/>
      <p:boldItalic r:id="rId18"/>
    </p:embeddedFont>
    <p:embeddedFont>
      <p:font typeface="Raleway" pitchFamily="2" charset="0"/>
      <p:regular r:id="rId19"/>
      <p:bold r:id="rId20"/>
      <p:italic r:id="rId21"/>
      <p:boldItalic r:id="rId22"/>
    </p:embeddedFont>
    <p:embeddedFont>
      <p:font typeface="Roboto" panose="02000000000000000000" pitchFamily="2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138" y="13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4.fntdata"/><Relationship Id="rId26" Type="http://schemas.openxmlformats.org/officeDocument/2006/relationships/font" Target="fonts/font12.fntdata"/><Relationship Id="rId3" Type="http://schemas.openxmlformats.org/officeDocument/2006/relationships/slide" Target="slides/slide1.xml"/><Relationship Id="rId21" Type="http://schemas.openxmlformats.org/officeDocument/2006/relationships/font" Target="fonts/font7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2" Type="http://schemas.openxmlformats.org/officeDocument/2006/relationships/slideMaster" Target="slideMasters/slideMaster2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10.fntdata"/><Relationship Id="rId5" Type="http://schemas.openxmlformats.org/officeDocument/2006/relationships/slide" Target="slides/slide3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font" Target="fonts/font5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66C5D67-ECD6-4BF7-91EE-F646FC4286CF}" type="doc">
      <dgm:prSet loTypeId="urn:microsoft.com/office/officeart/2024/layout/HorizontalActionList" loCatId="textcard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t-BR"/>
        </a:p>
      </dgm:t>
    </dgm:pt>
    <dgm:pt modelId="{9EE6F64E-A03A-4A17-8053-11D4CE702D92}">
      <dgm:prSet phldrT="[Texto]"/>
      <dgm:spPr/>
      <dgm:t>
        <a:bodyPr/>
        <a:lstStyle/>
        <a:p>
          <a:r>
            <a:rPr lang="pt-BR" dirty="0"/>
            <a:t>HARDWARE AERONÁUTICO</a:t>
          </a:r>
        </a:p>
      </dgm:t>
    </dgm:pt>
    <dgm:pt modelId="{AE10C7DF-0DA6-4D6B-8031-ADBD7A996630}" type="parTrans" cxnId="{33A66FFA-5613-47A0-91F7-7039D2E18134}">
      <dgm:prSet/>
      <dgm:spPr/>
      <dgm:t>
        <a:bodyPr/>
        <a:lstStyle/>
        <a:p>
          <a:endParaRPr lang="pt-BR"/>
        </a:p>
      </dgm:t>
    </dgm:pt>
    <dgm:pt modelId="{D4CDD68B-F203-42D0-9878-6051D5885416}" type="sibTrans" cxnId="{33A66FFA-5613-47A0-91F7-7039D2E18134}">
      <dgm:prSet phldrT="01" phldr="0"/>
      <dgm:spPr/>
    </dgm:pt>
    <dgm:pt modelId="{03CE66E2-370D-4C9B-BC32-B41432A96294}">
      <dgm:prSet phldrT="[Texto]"/>
      <dgm:spPr/>
      <dgm:t>
        <a:bodyPr/>
        <a:lstStyle/>
        <a:p>
          <a:r>
            <a:rPr lang="pt-BR" dirty="0"/>
            <a:t>SOFTWARE DE SISTEMA</a:t>
          </a:r>
        </a:p>
      </dgm:t>
    </dgm:pt>
    <dgm:pt modelId="{687F1435-CB28-4303-BD38-563B2688B8FF}" type="parTrans" cxnId="{35DE3618-E1E6-4FEE-B77F-59E159EE4E78}">
      <dgm:prSet/>
      <dgm:spPr/>
      <dgm:t>
        <a:bodyPr/>
        <a:lstStyle/>
        <a:p>
          <a:endParaRPr lang="pt-BR"/>
        </a:p>
      </dgm:t>
    </dgm:pt>
    <dgm:pt modelId="{C5239B6C-B9CC-49EA-B2E4-2ABCBF6CCA45}" type="sibTrans" cxnId="{35DE3618-E1E6-4FEE-B77F-59E159EE4E78}">
      <dgm:prSet phldrT="02" phldr="0"/>
      <dgm:spPr/>
    </dgm:pt>
    <dgm:pt modelId="{7EB921E8-B033-4AD1-B0A0-6A87BBDE2978}">
      <dgm:prSet phldrT="[Texto]"/>
      <dgm:spPr/>
      <dgm:t>
        <a:bodyPr/>
        <a:lstStyle/>
        <a:p>
          <a:r>
            <a:rPr lang="pt-BR" dirty="0"/>
            <a:t>SOFTWARE DE APLICAÇÃO</a:t>
          </a:r>
        </a:p>
        <a:p>
          <a:endParaRPr lang="pt-BR" dirty="0"/>
        </a:p>
      </dgm:t>
    </dgm:pt>
    <dgm:pt modelId="{1D9D42EA-6CB8-43CF-9105-07503C5927C4}" type="parTrans" cxnId="{97D7C03D-EB3A-4544-885B-A0B3089056DC}">
      <dgm:prSet/>
      <dgm:spPr/>
      <dgm:t>
        <a:bodyPr/>
        <a:lstStyle/>
        <a:p>
          <a:endParaRPr lang="pt-BR"/>
        </a:p>
      </dgm:t>
    </dgm:pt>
    <dgm:pt modelId="{59ED388A-81A1-43E0-929E-62FA40F4D3E8}" type="sibTrans" cxnId="{97D7C03D-EB3A-4544-885B-A0B3089056DC}">
      <dgm:prSet phldrT="03" phldr="0"/>
      <dgm:spPr/>
    </dgm:pt>
    <dgm:pt modelId="{828C7278-BA07-4AA2-BA1B-A2E467E45F6B}">
      <dgm:prSet custT="1"/>
      <dgm:spPr/>
      <dgm:t>
        <a:bodyPr/>
        <a:lstStyle/>
        <a:p>
          <a:r>
            <a:rPr lang="pt-BR" sz="1200" dirty="0"/>
            <a:t>A infraestrutura física</a:t>
          </a:r>
        </a:p>
      </dgm:t>
    </dgm:pt>
    <dgm:pt modelId="{AB47B82B-C626-431F-B62A-9EFEE966C839}" type="parTrans" cxnId="{B81F18ED-E38B-4EBB-ABD0-341FE376594C}">
      <dgm:prSet/>
      <dgm:spPr/>
      <dgm:t>
        <a:bodyPr/>
        <a:lstStyle/>
        <a:p>
          <a:endParaRPr lang="pt-BR"/>
        </a:p>
      </dgm:t>
    </dgm:pt>
    <dgm:pt modelId="{25107340-3F9B-40B7-9A78-C2FBC77D91F9}" type="sibTrans" cxnId="{B81F18ED-E38B-4EBB-ABD0-341FE376594C}">
      <dgm:prSet phldrT="02" phldr="0"/>
      <dgm:spPr/>
    </dgm:pt>
    <dgm:pt modelId="{6D73A149-4AAD-4938-8862-B7C8A357CA90}">
      <dgm:prSet custT="1"/>
      <dgm:spPr/>
      <dgm:t>
        <a:bodyPr/>
        <a:lstStyle/>
        <a:p>
          <a:r>
            <a:rPr lang="pt-BR" sz="1000" dirty="0"/>
            <a:t>Processadores (CPU) de alto desempenho</a:t>
          </a:r>
        </a:p>
      </dgm:t>
    </dgm:pt>
    <dgm:pt modelId="{FBD670F3-AE1E-4B5B-BBEA-F9BD9E4F9F2C}" type="parTrans" cxnId="{00840BA1-BE80-4886-8683-8C0D013EDDF4}">
      <dgm:prSet/>
      <dgm:spPr/>
      <dgm:t>
        <a:bodyPr/>
        <a:lstStyle/>
        <a:p>
          <a:endParaRPr lang="pt-BR"/>
        </a:p>
      </dgm:t>
    </dgm:pt>
    <dgm:pt modelId="{C4DC8F87-3921-4E68-8DAD-0F05FE60F371}" type="sibTrans" cxnId="{00840BA1-BE80-4886-8683-8C0D013EDDF4}">
      <dgm:prSet phldrT="02" phldr="0"/>
      <dgm:spPr/>
    </dgm:pt>
    <dgm:pt modelId="{C8FE3370-7BFB-4F30-A61C-A474C08812EC}">
      <dgm:prSet custT="1"/>
      <dgm:spPr/>
      <dgm:t>
        <a:bodyPr/>
        <a:lstStyle/>
        <a:p>
          <a:r>
            <a:rPr lang="pt-BR" sz="1000" dirty="0"/>
            <a:t>Memórias RAM DDR4/DDR5 de alta frequência</a:t>
          </a:r>
        </a:p>
      </dgm:t>
    </dgm:pt>
    <dgm:pt modelId="{2EB15F76-3ADE-4036-883F-A9F11F288DBD}" type="parTrans" cxnId="{59EF69D5-BBA3-4CB2-86CC-71BD509DF678}">
      <dgm:prSet/>
      <dgm:spPr/>
      <dgm:t>
        <a:bodyPr/>
        <a:lstStyle/>
        <a:p>
          <a:endParaRPr lang="pt-BR"/>
        </a:p>
      </dgm:t>
    </dgm:pt>
    <dgm:pt modelId="{8D8333F9-33FD-443E-BAA6-CF5C820C0E33}" type="sibTrans" cxnId="{59EF69D5-BBA3-4CB2-86CC-71BD509DF678}">
      <dgm:prSet phldrT="02" phldr="0"/>
      <dgm:spPr/>
    </dgm:pt>
    <dgm:pt modelId="{BD3D085D-4F24-40FE-9AD1-0F4785619F24}">
      <dgm:prSet custT="1"/>
      <dgm:spPr/>
      <dgm:t>
        <a:bodyPr/>
        <a:lstStyle/>
        <a:p>
          <a:r>
            <a:rPr lang="pt-BR" sz="1000" dirty="0"/>
            <a:t>Armazenamento SSD </a:t>
          </a:r>
          <a:r>
            <a:rPr lang="pt-BR" sz="1000" dirty="0" err="1"/>
            <a:t>NVMe</a:t>
          </a:r>
          <a:r>
            <a:rPr lang="pt-BR" sz="1000" dirty="0"/>
            <a:t> </a:t>
          </a:r>
          <a:r>
            <a:rPr lang="pt-BR" sz="1000" dirty="0" err="1"/>
            <a:t>PCIe</a:t>
          </a:r>
          <a:r>
            <a:rPr lang="pt-BR" sz="1000" dirty="0"/>
            <a:t> </a:t>
          </a:r>
          <a:r>
            <a:rPr lang="pt-BR" sz="1000" dirty="0" err="1"/>
            <a:t>ultra-rápido</a:t>
          </a:r>
          <a:endParaRPr lang="pt-BR" sz="1000" dirty="0"/>
        </a:p>
      </dgm:t>
    </dgm:pt>
    <dgm:pt modelId="{E0B473C6-072D-4C18-90BF-FBFB95B8E840}" type="parTrans" cxnId="{201A56B6-BE53-4A2C-8EA0-3330C0D48FEE}">
      <dgm:prSet/>
      <dgm:spPr/>
      <dgm:t>
        <a:bodyPr/>
        <a:lstStyle/>
        <a:p>
          <a:endParaRPr lang="pt-BR"/>
        </a:p>
      </dgm:t>
    </dgm:pt>
    <dgm:pt modelId="{40E1C215-0C92-44AF-887C-172723A6FAEE}" type="sibTrans" cxnId="{201A56B6-BE53-4A2C-8EA0-3330C0D48FEE}">
      <dgm:prSet phldrT="02" phldr="0"/>
      <dgm:spPr/>
    </dgm:pt>
    <dgm:pt modelId="{03F3CC7A-E1FA-4764-A962-A174CB96403B}">
      <dgm:prSet custT="1"/>
      <dgm:spPr/>
      <dgm:t>
        <a:bodyPr/>
        <a:lstStyle/>
        <a:p>
          <a:r>
            <a:rPr lang="pt-BR" sz="1000" dirty="0"/>
            <a:t>Placas de Vídeo (GPU) dedicadas para 3D/CAD</a:t>
          </a:r>
        </a:p>
      </dgm:t>
    </dgm:pt>
    <dgm:pt modelId="{64483C06-2B06-4F4E-8CC2-4FDDF9EC6444}" type="parTrans" cxnId="{BD105FEE-049A-4FBE-8EEC-10B6E47F0F75}">
      <dgm:prSet/>
      <dgm:spPr/>
      <dgm:t>
        <a:bodyPr/>
        <a:lstStyle/>
        <a:p>
          <a:endParaRPr lang="pt-BR"/>
        </a:p>
      </dgm:t>
    </dgm:pt>
    <dgm:pt modelId="{3B875154-DE5A-4100-85DE-A89204B860DC}" type="sibTrans" cxnId="{BD105FEE-049A-4FBE-8EEC-10B6E47F0F75}">
      <dgm:prSet phldrT="02" phldr="0"/>
      <dgm:spPr/>
    </dgm:pt>
    <dgm:pt modelId="{24114A06-1E1E-4754-B1B0-9C3E9A17B01E}">
      <dgm:prSet custT="1"/>
      <dgm:spPr/>
      <dgm:t>
        <a:bodyPr/>
        <a:lstStyle/>
        <a:p>
          <a:r>
            <a:rPr lang="pt-BR" sz="1000" dirty="0"/>
            <a:t>Terminais industriais e monitores antirreflexo</a:t>
          </a:r>
        </a:p>
      </dgm:t>
    </dgm:pt>
    <dgm:pt modelId="{04E2A8D4-8C0C-4CEE-82BA-8DE98E52C6E6}" type="parTrans" cxnId="{9BAEBA32-AD80-492A-B9C6-92EB0053E4A3}">
      <dgm:prSet/>
      <dgm:spPr/>
      <dgm:t>
        <a:bodyPr/>
        <a:lstStyle/>
        <a:p>
          <a:endParaRPr lang="pt-BR"/>
        </a:p>
      </dgm:t>
    </dgm:pt>
    <dgm:pt modelId="{343FCC9E-3A08-4BB3-B72E-08D6B2417545}" type="sibTrans" cxnId="{9BAEBA32-AD80-492A-B9C6-92EB0053E4A3}">
      <dgm:prSet phldrT="02" phldr="0"/>
      <dgm:spPr/>
    </dgm:pt>
    <dgm:pt modelId="{5DB97403-CB04-4C67-903D-26DA3E31CB7E}">
      <dgm:prSet custT="1"/>
      <dgm:spPr/>
      <dgm:t>
        <a:bodyPr/>
        <a:lstStyle/>
        <a:p>
          <a:r>
            <a:rPr lang="pt-BR" sz="1200" dirty="0"/>
            <a:t>A camada de gerenciamento</a:t>
          </a:r>
        </a:p>
      </dgm:t>
    </dgm:pt>
    <dgm:pt modelId="{5917CD0E-B581-4612-B198-3C6AE59A2967}" type="parTrans" cxnId="{6A7CC03D-454C-497B-B07F-10D872D5E1F9}">
      <dgm:prSet/>
      <dgm:spPr/>
      <dgm:t>
        <a:bodyPr/>
        <a:lstStyle/>
        <a:p>
          <a:endParaRPr lang="pt-BR"/>
        </a:p>
      </dgm:t>
    </dgm:pt>
    <dgm:pt modelId="{73B71B63-7627-4FED-9A19-4C80E8B6B72F}" type="sibTrans" cxnId="{6A7CC03D-454C-497B-B07F-10D872D5E1F9}">
      <dgm:prSet phldrT="03" phldr="0"/>
      <dgm:spPr/>
    </dgm:pt>
    <dgm:pt modelId="{2A078418-DA1E-4AD4-B9C6-FA65A1692633}">
      <dgm:prSet custT="1"/>
      <dgm:spPr/>
      <dgm:t>
        <a:bodyPr/>
        <a:lstStyle/>
        <a:p>
          <a:r>
            <a:rPr lang="pt-BR" sz="1000" dirty="0"/>
            <a:t>Sistemas Operacionais (Windows 11 / Linux)</a:t>
          </a:r>
        </a:p>
      </dgm:t>
    </dgm:pt>
    <dgm:pt modelId="{C3EE62E4-C402-4511-B4CB-7CBE73B973D2}" type="parTrans" cxnId="{B2A51846-6E71-432A-86C6-D22790D356A3}">
      <dgm:prSet/>
      <dgm:spPr/>
      <dgm:t>
        <a:bodyPr/>
        <a:lstStyle/>
        <a:p>
          <a:endParaRPr lang="pt-BR"/>
        </a:p>
      </dgm:t>
    </dgm:pt>
    <dgm:pt modelId="{5A4DA48C-E33B-4D9C-B071-573603CCC0C2}" type="sibTrans" cxnId="{B2A51846-6E71-432A-86C6-D22790D356A3}">
      <dgm:prSet phldrT="03" phldr="0"/>
      <dgm:spPr/>
    </dgm:pt>
    <dgm:pt modelId="{B3C80711-2B06-48E6-898A-DBFA5618FE28}">
      <dgm:prSet custT="1"/>
      <dgm:spPr/>
      <dgm:t>
        <a:bodyPr/>
        <a:lstStyle/>
        <a:p>
          <a:r>
            <a:rPr lang="pt-BR" sz="1000" dirty="0"/>
            <a:t>Gerenciamento de processos e alocação de RAM</a:t>
          </a:r>
        </a:p>
      </dgm:t>
    </dgm:pt>
    <dgm:pt modelId="{93BBB993-361E-4C28-BE00-3578F8CEFFD8}" type="parTrans" cxnId="{7628A955-F57F-4BDD-AB8E-E3B96A694B2C}">
      <dgm:prSet/>
      <dgm:spPr/>
      <dgm:t>
        <a:bodyPr/>
        <a:lstStyle/>
        <a:p>
          <a:endParaRPr lang="pt-BR"/>
        </a:p>
      </dgm:t>
    </dgm:pt>
    <dgm:pt modelId="{530F49C0-1D43-4566-960F-E1955B802279}" type="sibTrans" cxnId="{7628A955-F57F-4BDD-AB8E-E3B96A694B2C}">
      <dgm:prSet phldrT="04" phldr="0"/>
      <dgm:spPr/>
    </dgm:pt>
    <dgm:pt modelId="{D1E4DB7F-0E85-4611-BA44-3653F83EBDC6}">
      <dgm:prSet custT="1"/>
      <dgm:spPr/>
      <dgm:t>
        <a:bodyPr/>
        <a:lstStyle/>
        <a:p>
          <a:r>
            <a:rPr lang="pt-BR" sz="1000" dirty="0"/>
            <a:t>Drivers homologados e certificados para engenharia</a:t>
          </a:r>
        </a:p>
      </dgm:t>
    </dgm:pt>
    <dgm:pt modelId="{9A131D46-7AA1-4E3B-AB22-E2F51A1163D2}" type="parTrans" cxnId="{A6562646-12B4-432B-8965-7876F415DC37}">
      <dgm:prSet/>
      <dgm:spPr/>
      <dgm:t>
        <a:bodyPr/>
        <a:lstStyle/>
        <a:p>
          <a:endParaRPr lang="pt-BR"/>
        </a:p>
      </dgm:t>
    </dgm:pt>
    <dgm:pt modelId="{3F065E69-E9BF-4D44-AA49-F474D79E82CE}" type="sibTrans" cxnId="{A6562646-12B4-432B-8965-7876F415DC37}">
      <dgm:prSet phldrT="05" phldr="0"/>
      <dgm:spPr/>
    </dgm:pt>
    <dgm:pt modelId="{E16BA52F-B2F0-4044-BEBA-C8C8EEDB81D6}">
      <dgm:prSet custT="1"/>
      <dgm:spPr/>
      <dgm:t>
        <a:bodyPr/>
        <a:lstStyle/>
        <a:p>
          <a:r>
            <a:rPr lang="pt-BR" sz="1000" dirty="0"/>
            <a:t>Segurança de dados e conectividade de rede MRO</a:t>
          </a:r>
        </a:p>
      </dgm:t>
    </dgm:pt>
    <dgm:pt modelId="{0D54D554-9043-4403-B1DC-5AA2A32F5C8E}" type="parTrans" cxnId="{EB443B98-FE4A-43D6-B21B-9AD687AC8283}">
      <dgm:prSet/>
      <dgm:spPr/>
      <dgm:t>
        <a:bodyPr/>
        <a:lstStyle/>
        <a:p>
          <a:endParaRPr lang="pt-BR"/>
        </a:p>
      </dgm:t>
    </dgm:pt>
    <dgm:pt modelId="{4D51F1F0-41BB-4E90-8B3F-94BECE4F1E64}" type="sibTrans" cxnId="{EB443B98-FE4A-43D6-B21B-9AD687AC8283}">
      <dgm:prSet phldrT="06" phldr="0"/>
      <dgm:spPr/>
    </dgm:pt>
    <dgm:pt modelId="{53F54D27-D9C5-45CA-843C-57A4E2091DD8}">
      <dgm:prSet custT="1"/>
      <dgm:spPr/>
      <dgm:t>
        <a:bodyPr/>
        <a:lstStyle/>
        <a:p>
          <a:r>
            <a:rPr lang="pt-BR" sz="1000" dirty="0"/>
            <a:t>Gerenciamento de periféricos de teste</a:t>
          </a:r>
        </a:p>
      </dgm:t>
    </dgm:pt>
    <dgm:pt modelId="{CD3165CC-F5B1-417D-9871-7ABA0811C473}" type="parTrans" cxnId="{797F27E3-55AA-4126-AF77-98F30BA3EBE1}">
      <dgm:prSet/>
      <dgm:spPr/>
      <dgm:t>
        <a:bodyPr/>
        <a:lstStyle/>
        <a:p>
          <a:endParaRPr lang="pt-BR"/>
        </a:p>
      </dgm:t>
    </dgm:pt>
    <dgm:pt modelId="{027C7344-F3E9-4A52-95F8-8A7E6E7A5358}" type="sibTrans" cxnId="{797F27E3-55AA-4126-AF77-98F30BA3EBE1}">
      <dgm:prSet phldrT="07" phldr="0"/>
      <dgm:spPr/>
    </dgm:pt>
    <dgm:pt modelId="{D463245A-0E0E-4FB4-9C52-550061682640}">
      <dgm:prSet phldrT="[Texto]" custT="1"/>
      <dgm:spPr/>
      <dgm:t>
        <a:bodyPr/>
        <a:lstStyle/>
        <a:p>
          <a:r>
            <a:rPr lang="pt-BR" sz="1200" dirty="0"/>
            <a:t>As ferramentas de trabalho</a:t>
          </a:r>
        </a:p>
      </dgm:t>
    </dgm:pt>
    <dgm:pt modelId="{A78035C3-E8E1-4B36-A812-80582A2F1714}" type="parTrans" cxnId="{F20811FD-DDBA-4DF9-A14F-2DD74C51D682}">
      <dgm:prSet/>
      <dgm:spPr/>
      <dgm:t>
        <a:bodyPr/>
        <a:lstStyle/>
        <a:p>
          <a:endParaRPr lang="pt-BR"/>
        </a:p>
      </dgm:t>
    </dgm:pt>
    <dgm:pt modelId="{5545F46E-8365-4F21-9CBF-93CF76D7C2DE}" type="sibTrans" cxnId="{F20811FD-DDBA-4DF9-A14F-2DD74C51D682}">
      <dgm:prSet phldrT="04" phldr="0"/>
      <dgm:spPr/>
    </dgm:pt>
    <dgm:pt modelId="{9165EE9C-E4C7-46B3-8A1F-F194E5B67700}">
      <dgm:prSet phldrT="[Texto]" custT="1"/>
      <dgm:spPr/>
      <dgm:t>
        <a:bodyPr/>
        <a:lstStyle/>
        <a:p>
          <a:r>
            <a:rPr lang="pt-BR" sz="1000" dirty="0"/>
            <a:t>MS Excel (Modelos de $CG$, PERT/CPM e Confiabilidade)</a:t>
          </a:r>
        </a:p>
      </dgm:t>
    </dgm:pt>
    <dgm:pt modelId="{0693637B-669F-423B-A0C8-59D21997A8BA}" type="parTrans" cxnId="{A8BC3352-194A-4DFA-8693-FEA9E07E2126}">
      <dgm:prSet/>
      <dgm:spPr/>
      <dgm:t>
        <a:bodyPr/>
        <a:lstStyle/>
        <a:p>
          <a:endParaRPr lang="pt-BR"/>
        </a:p>
      </dgm:t>
    </dgm:pt>
    <dgm:pt modelId="{69E4FF19-65F9-47EB-A759-EA227E3DB72A}" type="sibTrans" cxnId="{A8BC3352-194A-4DFA-8693-FEA9E07E2126}">
      <dgm:prSet/>
      <dgm:spPr/>
      <dgm:t>
        <a:bodyPr/>
        <a:lstStyle/>
        <a:p>
          <a:endParaRPr lang="pt-BR"/>
        </a:p>
      </dgm:t>
    </dgm:pt>
    <dgm:pt modelId="{BADA3553-C911-4FDC-A70C-99612D3B50F9}">
      <dgm:prSet phldrT="[Texto]" custT="1"/>
      <dgm:spPr/>
      <dgm:t>
        <a:bodyPr/>
        <a:lstStyle/>
        <a:p>
          <a:r>
            <a:rPr lang="pt-BR" sz="1000" dirty="0"/>
            <a:t>MS Word (Relatórios Técnicos e OS padronizadas)</a:t>
          </a:r>
        </a:p>
      </dgm:t>
    </dgm:pt>
    <dgm:pt modelId="{C6B7B317-49D1-43F0-BBD5-D0826C6FBD8D}" type="parTrans" cxnId="{92B19108-CBD3-4165-B7B8-986CFF61B2F3}">
      <dgm:prSet/>
      <dgm:spPr/>
      <dgm:t>
        <a:bodyPr/>
        <a:lstStyle/>
        <a:p>
          <a:endParaRPr lang="pt-BR"/>
        </a:p>
      </dgm:t>
    </dgm:pt>
    <dgm:pt modelId="{0B60D6F2-3EC9-42ED-8B9F-81CB9FC1AF35}" type="sibTrans" cxnId="{92B19108-CBD3-4165-B7B8-986CFF61B2F3}">
      <dgm:prSet/>
      <dgm:spPr/>
      <dgm:t>
        <a:bodyPr/>
        <a:lstStyle/>
        <a:p>
          <a:endParaRPr lang="pt-BR"/>
        </a:p>
      </dgm:t>
    </dgm:pt>
    <dgm:pt modelId="{DD861F57-C362-49F5-913D-516D8D42BFB5}">
      <dgm:prSet phldrT="[Texto]" custT="1"/>
      <dgm:spPr/>
      <dgm:t>
        <a:bodyPr/>
        <a:lstStyle/>
        <a:p>
          <a:r>
            <a:rPr lang="en-US" sz="1000" dirty="0" err="1"/>
            <a:t>Softwares</a:t>
          </a:r>
          <a:r>
            <a:rPr lang="en-US" sz="1000" dirty="0"/>
            <a:t> CAD (AutoCAD, SolidWorks, CATIA 3D)</a:t>
          </a:r>
          <a:endParaRPr lang="pt-BR" sz="1000" dirty="0"/>
        </a:p>
      </dgm:t>
    </dgm:pt>
    <dgm:pt modelId="{032F1491-D8E4-4DCE-BE86-3744C93F7131}" type="parTrans" cxnId="{7F59EE1B-0B05-4DA0-90A1-300401BD667D}">
      <dgm:prSet/>
      <dgm:spPr/>
      <dgm:t>
        <a:bodyPr/>
        <a:lstStyle/>
        <a:p>
          <a:endParaRPr lang="pt-BR"/>
        </a:p>
      </dgm:t>
    </dgm:pt>
    <dgm:pt modelId="{D3EA89AB-4BC6-4E07-914D-92795141FDDE}" type="sibTrans" cxnId="{7F59EE1B-0B05-4DA0-90A1-300401BD667D}">
      <dgm:prSet/>
      <dgm:spPr/>
      <dgm:t>
        <a:bodyPr/>
        <a:lstStyle/>
        <a:p>
          <a:endParaRPr lang="pt-BR"/>
        </a:p>
      </dgm:t>
    </dgm:pt>
    <dgm:pt modelId="{DFFD9849-C8A4-4C81-9FEB-BCAC7C1609DE}">
      <dgm:prSet phldrT="[Texto]" custT="1"/>
      <dgm:spPr/>
      <dgm:t>
        <a:bodyPr/>
        <a:lstStyle/>
        <a:p>
          <a:r>
            <a:rPr lang="pt-BR" sz="1000" dirty="0"/>
            <a:t>Leitores de Manuais (PDF Vetorial AMM/IPC/SRM)</a:t>
          </a:r>
        </a:p>
      </dgm:t>
    </dgm:pt>
    <dgm:pt modelId="{86073CBE-A9F5-473C-8D5B-6D4BDD63503C}" type="parTrans" cxnId="{08EAA44F-4D62-4936-A36C-89D4999157C6}">
      <dgm:prSet/>
      <dgm:spPr/>
      <dgm:t>
        <a:bodyPr/>
        <a:lstStyle/>
        <a:p>
          <a:endParaRPr lang="pt-BR"/>
        </a:p>
      </dgm:t>
    </dgm:pt>
    <dgm:pt modelId="{5C38D8AB-23D0-4A9E-9B74-E5A24F8669F4}" type="sibTrans" cxnId="{08EAA44F-4D62-4936-A36C-89D4999157C6}">
      <dgm:prSet/>
      <dgm:spPr/>
      <dgm:t>
        <a:bodyPr/>
        <a:lstStyle/>
        <a:p>
          <a:endParaRPr lang="pt-BR"/>
        </a:p>
      </dgm:t>
    </dgm:pt>
    <dgm:pt modelId="{6DC4C0B6-D8CF-4CEB-9622-DA27F24336BC}">
      <dgm:prSet phldrT="[Texto]" custT="1"/>
      <dgm:spPr/>
      <dgm:t>
        <a:bodyPr/>
        <a:lstStyle/>
        <a:p>
          <a:r>
            <a:rPr lang="pt-BR" sz="1000" dirty="0"/>
            <a:t>Sistemas ERP/MRO (TRAX, AMOS, SAP </a:t>
          </a:r>
          <a:r>
            <a:rPr lang="pt-BR" sz="1000" dirty="0" err="1"/>
            <a:t>Aviation</a:t>
          </a:r>
          <a:r>
            <a:rPr lang="pt-BR" sz="1000" dirty="0"/>
            <a:t>)</a:t>
          </a:r>
        </a:p>
      </dgm:t>
    </dgm:pt>
    <dgm:pt modelId="{201EAD89-9C01-447A-8C21-3E4A1DD42136}" type="parTrans" cxnId="{2BA5F595-25D2-40B9-B8CF-9EBFC097797B}">
      <dgm:prSet/>
      <dgm:spPr/>
      <dgm:t>
        <a:bodyPr/>
        <a:lstStyle/>
        <a:p>
          <a:endParaRPr lang="pt-BR"/>
        </a:p>
      </dgm:t>
    </dgm:pt>
    <dgm:pt modelId="{84F75E26-91AF-4F57-AAB3-2C26729B8A3E}" type="sibTrans" cxnId="{2BA5F595-25D2-40B9-B8CF-9EBFC097797B}">
      <dgm:prSet/>
      <dgm:spPr/>
      <dgm:t>
        <a:bodyPr/>
        <a:lstStyle/>
        <a:p>
          <a:endParaRPr lang="pt-BR"/>
        </a:p>
      </dgm:t>
    </dgm:pt>
    <dgm:pt modelId="{4E5B7038-6A1D-41A2-AB39-EEAC05E43AB7}" type="pres">
      <dgm:prSet presAssocID="{766C5D67-ECD6-4BF7-91EE-F646FC4286CF}" presName="Name0" presStyleCnt="0">
        <dgm:presLayoutVars>
          <dgm:dir/>
          <dgm:animLvl val="lvl"/>
          <dgm:resizeHandles val="exact"/>
        </dgm:presLayoutVars>
      </dgm:prSet>
      <dgm:spPr/>
    </dgm:pt>
    <dgm:pt modelId="{88F80CE5-3B76-4FE5-9355-8A767141C828}" type="pres">
      <dgm:prSet presAssocID="{9EE6F64E-A03A-4A17-8053-11D4CE702D92}" presName="composite" presStyleCnt="0"/>
      <dgm:spPr/>
    </dgm:pt>
    <dgm:pt modelId="{4EB497EA-02ED-4254-AFDA-E87D6B77DED1}" type="pres">
      <dgm:prSet presAssocID="{9EE6F64E-A03A-4A17-8053-11D4CE702D92}" presName="parTx" presStyleLbl="alignNode1" presStyleIdx="0" presStyleCnt="3">
        <dgm:presLayoutVars>
          <dgm:chMax val="0"/>
          <dgm:chPref val="0"/>
        </dgm:presLayoutVars>
      </dgm:prSet>
      <dgm:spPr/>
    </dgm:pt>
    <dgm:pt modelId="{C42D0DD2-BD67-4A77-AC14-813FC1EA5E73}" type="pres">
      <dgm:prSet presAssocID="{9EE6F64E-A03A-4A17-8053-11D4CE702D92}" presName="bgOutline" presStyleLbl="fgAcc1" presStyleIdx="0" presStyleCnt="3">
        <dgm:presLayoutVars>
          <dgm:bulletEnabled/>
        </dgm:presLayoutVars>
      </dgm:prSet>
      <dgm:spPr/>
    </dgm:pt>
    <dgm:pt modelId="{5775B844-BC58-4CB1-AA9B-C40615D8642C}" type="pres">
      <dgm:prSet presAssocID="{D4CDD68B-F203-42D0-9878-6051D5885416}" presName="space" presStyleCnt="0"/>
      <dgm:spPr/>
    </dgm:pt>
    <dgm:pt modelId="{2622F00E-A00C-4C3E-9D7C-37CD4CE7917A}" type="pres">
      <dgm:prSet presAssocID="{03CE66E2-370D-4C9B-BC32-B41432A96294}" presName="composite" presStyleCnt="0"/>
      <dgm:spPr/>
    </dgm:pt>
    <dgm:pt modelId="{9CFA7834-BE17-47F8-B365-78F10E92FAB8}" type="pres">
      <dgm:prSet presAssocID="{03CE66E2-370D-4C9B-BC32-B41432A96294}" presName="parTx" presStyleLbl="alignNode1" presStyleIdx="1" presStyleCnt="3">
        <dgm:presLayoutVars>
          <dgm:chMax val="0"/>
          <dgm:chPref val="0"/>
        </dgm:presLayoutVars>
      </dgm:prSet>
      <dgm:spPr/>
    </dgm:pt>
    <dgm:pt modelId="{F013D0C3-71A9-44FE-BE68-7C8DB629CECA}" type="pres">
      <dgm:prSet presAssocID="{03CE66E2-370D-4C9B-BC32-B41432A96294}" presName="bgOutline" presStyleLbl="fgAcc1" presStyleIdx="1" presStyleCnt="3">
        <dgm:presLayoutVars>
          <dgm:bulletEnabled/>
        </dgm:presLayoutVars>
      </dgm:prSet>
      <dgm:spPr/>
    </dgm:pt>
    <dgm:pt modelId="{67C346F6-B16C-4138-BD90-DC54458BA747}" type="pres">
      <dgm:prSet presAssocID="{C5239B6C-B9CC-49EA-B2E4-2ABCBF6CCA45}" presName="space" presStyleCnt="0"/>
      <dgm:spPr/>
    </dgm:pt>
    <dgm:pt modelId="{990E0D54-373E-45EF-8E84-14A0B4EF587B}" type="pres">
      <dgm:prSet presAssocID="{7EB921E8-B033-4AD1-B0A0-6A87BBDE2978}" presName="composite" presStyleCnt="0"/>
      <dgm:spPr/>
    </dgm:pt>
    <dgm:pt modelId="{66AF67A1-F2D1-43B2-ADBE-15BCD55A38C6}" type="pres">
      <dgm:prSet presAssocID="{7EB921E8-B033-4AD1-B0A0-6A87BBDE2978}" presName="parTx" presStyleLbl="alignNode1" presStyleIdx="2" presStyleCnt="3">
        <dgm:presLayoutVars>
          <dgm:chMax val="0"/>
          <dgm:chPref val="0"/>
        </dgm:presLayoutVars>
      </dgm:prSet>
      <dgm:spPr/>
    </dgm:pt>
    <dgm:pt modelId="{264C9483-FC90-4473-9EE4-9EB31009876A}" type="pres">
      <dgm:prSet presAssocID="{7EB921E8-B033-4AD1-B0A0-6A87BBDE2978}" presName="bgOutline" presStyleLbl="fgAcc1" presStyleIdx="2" presStyleCnt="3">
        <dgm:presLayoutVars>
          <dgm:bulletEnabled/>
        </dgm:presLayoutVars>
      </dgm:prSet>
      <dgm:spPr/>
    </dgm:pt>
  </dgm:ptLst>
  <dgm:cxnLst>
    <dgm:cxn modelId="{F01B2308-7E0D-45AA-A54F-76EBA526CB74}" type="presOf" srcId="{6DC4C0B6-D8CF-4CEB-9622-DA27F24336BC}" destId="{264C9483-FC90-4473-9EE4-9EB31009876A}" srcOrd="0" destOrd="5" presId="urn:microsoft.com/office/officeart/2024/layout/HorizontalActionList"/>
    <dgm:cxn modelId="{92B19108-CBD3-4165-B7B8-986CFF61B2F3}" srcId="{D463245A-0E0E-4FB4-9C52-550061682640}" destId="{BADA3553-C911-4FDC-A70C-99612D3B50F9}" srcOrd="1" destOrd="0" parTransId="{C6B7B317-49D1-43F0-BBD5-D0826C6FBD8D}" sibTransId="{0B60D6F2-3EC9-42ED-8B9F-81CB9FC1AF35}"/>
    <dgm:cxn modelId="{5A221F16-9A2E-449E-B1CC-41239AFB04AC}" type="presOf" srcId="{C8FE3370-7BFB-4F30-A61C-A474C08812EC}" destId="{C42D0DD2-BD67-4A77-AC14-813FC1EA5E73}" srcOrd="0" destOrd="2" presId="urn:microsoft.com/office/officeart/2024/layout/HorizontalActionList"/>
    <dgm:cxn modelId="{35DE3618-E1E6-4FEE-B77F-59E159EE4E78}" srcId="{766C5D67-ECD6-4BF7-91EE-F646FC4286CF}" destId="{03CE66E2-370D-4C9B-BC32-B41432A96294}" srcOrd="1" destOrd="0" parTransId="{687F1435-CB28-4303-BD38-563B2688B8FF}" sibTransId="{C5239B6C-B9CC-49EA-B2E4-2ABCBF6CCA45}"/>
    <dgm:cxn modelId="{7F59EE1B-0B05-4DA0-90A1-300401BD667D}" srcId="{D463245A-0E0E-4FB4-9C52-550061682640}" destId="{DD861F57-C362-49F5-913D-516D8D42BFB5}" srcOrd="2" destOrd="0" parTransId="{032F1491-D8E4-4DCE-BE86-3744C93F7131}" sibTransId="{D3EA89AB-4BC6-4E07-914D-92795141FDDE}"/>
    <dgm:cxn modelId="{248F4F1D-8AC3-4177-B5CD-C058A358777C}" type="presOf" srcId="{DFFD9849-C8A4-4C81-9FEB-BCAC7C1609DE}" destId="{264C9483-FC90-4473-9EE4-9EB31009876A}" srcOrd="0" destOrd="4" presId="urn:microsoft.com/office/officeart/2024/layout/HorizontalActionList"/>
    <dgm:cxn modelId="{B868962A-8A96-4D79-BBFF-E2F2CEDE84D0}" type="presOf" srcId="{BD3D085D-4F24-40FE-9AD1-0F4785619F24}" destId="{C42D0DD2-BD67-4A77-AC14-813FC1EA5E73}" srcOrd="0" destOrd="3" presId="urn:microsoft.com/office/officeart/2024/layout/HorizontalActionList"/>
    <dgm:cxn modelId="{2EC5972A-F8E4-4B03-92A0-DD6CE4499C3B}" type="presOf" srcId="{2A078418-DA1E-4AD4-B9C6-FA65A1692633}" destId="{F013D0C3-71A9-44FE-BE68-7C8DB629CECA}" srcOrd="0" destOrd="1" presId="urn:microsoft.com/office/officeart/2024/layout/HorizontalActionList"/>
    <dgm:cxn modelId="{9BAEBA32-AD80-492A-B9C6-92EB0053E4A3}" srcId="{828C7278-BA07-4AA2-BA1B-A2E467E45F6B}" destId="{24114A06-1E1E-4754-B1B0-9C3E9A17B01E}" srcOrd="4" destOrd="0" parTransId="{04E2A8D4-8C0C-4CEE-82BA-8DE98E52C6E6}" sibTransId="{343FCC9E-3A08-4BB3-B72E-08D6B2417545}"/>
    <dgm:cxn modelId="{6A7CC03D-454C-497B-B07F-10D872D5E1F9}" srcId="{03CE66E2-370D-4C9B-BC32-B41432A96294}" destId="{5DB97403-CB04-4C67-903D-26DA3E31CB7E}" srcOrd="0" destOrd="0" parTransId="{5917CD0E-B581-4612-B198-3C6AE59A2967}" sibTransId="{73B71B63-7627-4FED-9A19-4C80E8B6B72F}"/>
    <dgm:cxn modelId="{97D7C03D-EB3A-4544-885B-A0B3089056DC}" srcId="{766C5D67-ECD6-4BF7-91EE-F646FC4286CF}" destId="{7EB921E8-B033-4AD1-B0A0-6A87BBDE2978}" srcOrd="2" destOrd="0" parTransId="{1D9D42EA-6CB8-43CF-9105-07503C5927C4}" sibTransId="{59ED388A-81A1-43E0-929E-62FA40F4D3E8}"/>
    <dgm:cxn modelId="{34D45E64-1857-431E-97E5-A35DDDEC8764}" type="presOf" srcId="{5DB97403-CB04-4C67-903D-26DA3E31CB7E}" destId="{F013D0C3-71A9-44FE-BE68-7C8DB629CECA}" srcOrd="0" destOrd="0" presId="urn:microsoft.com/office/officeart/2024/layout/HorizontalActionList"/>
    <dgm:cxn modelId="{B2A51846-6E71-432A-86C6-D22790D356A3}" srcId="{5DB97403-CB04-4C67-903D-26DA3E31CB7E}" destId="{2A078418-DA1E-4AD4-B9C6-FA65A1692633}" srcOrd="0" destOrd="0" parTransId="{C3EE62E4-C402-4511-B4CB-7CBE73B973D2}" sibTransId="{5A4DA48C-E33B-4D9C-B071-573603CCC0C2}"/>
    <dgm:cxn modelId="{A6562646-12B4-432B-8965-7876F415DC37}" srcId="{5DB97403-CB04-4C67-903D-26DA3E31CB7E}" destId="{D1E4DB7F-0E85-4611-BA44-3653F83EBDC6}" srcOrd="2" destOrd="0" parTransId="{9A131D46-7AA1-4E3B-AB22-E2F51A1163D2}" sibTransId="{3F065E69-E9BF-4D44-AA49-F474D79E82CE}"/>
    <dgm:cxn modelId="{AAAF6C67-5781-448B-A340-31F94FB21864}" type="presOf" srcId="{E16BA52F-B2F0-4044-BEBA-C8C8EEDB81D6}" destId="{F013D0C3-71A9-44FE-BE68-7C8DB629CECA}" srcOrd="0" destOrd="4" presId="urn:microsoft.com/office/officeart/2024/layout/HorizontalActionList"/>
    <dgm:cxn modelId="{F39C4F6C-5C26-4CD1-B93B-879E9C569D36}" type="presOf" srcId="{D463245A-0E0E-4FB4-9C52-550061682640}" destId="{264C9483-FC90-4473-9EE4-9EB31009876A}" srcOrd="0" destOrd="0" presId="urn:microsoft.com/office/officeart/2024/layout/HorizontalActionList"/>
    <dgm:cxn modelId="{5DC38A4D-DC8E-4510-A453-807E88CDEFC5}" type="presOf" srcId="{9165EE9C-E4C7-46B3-8A1F-F194E5B67700}" destId="{264C9483-FC90-4473-9EE4-9EB31009876A}" srcOrd="0" destOrd="1" presId="urn:microsoft.com/office/officeart/2024/layout/HorizontalActionList"/>
    <dgm:cxn modelId="{08EAA44F-4D62-4936-A36C-89D4999157C6}" srcId="{D463245A-0E0E-4FB4-9C52-550061682640}" destId="{DFFD9849-C8A4-4C81-9FEB-BCAC7C1609DE}" srcOrd="3" destOrd="0" parTransId="{86073CBE-A9F5-473C-8D5B-6D4BDD63503C}" sibTransId="{5C38D8AB-23D0-4A9E-9B74-E5A24F8669F4}"/>
    <dgm:cxn modelId="{BCC40C71-792A-4F79-B499-DE499AF30E35}" type="presOf" srcId="{6D73A149-4AAD-4938-8862-B7C8A357CA90}" destId="{C42D0DD2-BD67-4A77-AC14-813FC1EA5E73}" srcOrd="0" destOrd="1" presId="urn:microsoft.com/office/officeart/2024/layout/HorizontalActionList"/>
    <dgm:cxn modelId="{A8BC3352-194A-4DFA-8693-FEA9E07E2126}" srcId="{D463245A-0E0E-4FB4-9C52-550061682640}" destId="{9165EE9C-E4C7-46B3-8A1F-F194E5B67700}" srcOrd="0" destOrd="0" parTransId="{0693637B-669F-423B-A0C8-59D21997A8BA}" sibTransId="{69E4FF19-65F9-47EB-A759-EA227E3DB72A}"/>
    <dgm:cxn modelId="{52267274-9040-41F5-9B93-53152B14EC6C}" type="presOf" srcId="{03CE66E2-370D-4C9B-BC32-B41432A96294}" destId="{9CFA7834-BE17-47F8-B365-78F10E92FAB8}" srcOrd="0" destOrd="0" presId="urn:microsoft.com/office/officeart/2024/layout/HorizontalActionList"/>
    <dgm:cxn modelId="{F856A255-60C8-45FB-A08A-C762798BF956}" type="presOf" srcId="{828C7278-BA07-4AA2-BA1B-A2E467E45F6B}" destId="{C42D0DD2-BD67-4A77-AC14-813FC1EA5E73}" srcOrd="0" destOrd="0" presId="urn:microsoft.com/office/officeart/2024/layout/HorizontalActionList"/>
    <dgm:cxn modelId="{7628A955-F57F-4BDD-AB8E-E3B96A694B2C}" srcId="{5DB97403-CB04-4C67-903D-26DA3E31CB7E}" destId="{B3C80711-2B06-48E6-898A-DBFA5618FE28}" srcOrd="1" destOrd="0" parTransId="{93BBB993-361E-4C28-BE00-3578F8CEFFD8}" sibTransId="{530F49C0-1D43-4566-960F-E1955B802279}"/>
    <dgm:cxn modelId="{75C2DC82-1772-4FED-A1AF-5395E7959D41}" type="presOf" srcId="{03F3CC7A-E1FA-4764-A962-A174CB96403B}" destId="{C42D0DD2-BD67-4A77-AC14-813FC1EA5E73}" srcOrd="0" destOrd="4" presId="urn:microsoft.com/office/officeart/2024/layout/HorizontalActionList"/>
    <dgm:cxn modelId="{0D012D83-4CF4-4D54-A820-57B168952A17}" type="presOf" srcId="{DD861F57-C362-49F5-913D-516D8D42BFB5}" destId="{264C9483-FC90-4473-9EE4-9EB31009876A}" srcOrd="0" destOrd="3" presId="urn:microsoft.com/office/officeart/2024/layout/HorizontalActionList"/>
    <dgm:cxn modelId="{5BF7F28B-6C56-4ACE-8D89-7EC5C1CF4840}" type="presOf" srcId="{D1E4DB7F-0E85-4611-BA44-3653F83EBDC6}" destId="{F013D0C3-71A9-44FE-BE68-7C8DB629CECA}" srcOrd="0" destOrd="3" presId="urn:microsoft.com/office/officeart/2024/layout/HorizontalActionList"/>
    <dgm:cxn modelId="{2BA5F595-25D2-40B9-B8CF-9EBFC097797B}" srcId="{D463245A-0E0E-4FB4-9C52-550061682640}" destId="{6DC4C0B6-D8CF-4CEB-9622-DA27F24336BC}" srcOrd="4" destOrd="0" parTransId="{201EAD89-9C01-447A-8C21-3E4A1DD42136}" sibTransId="{84F75E26-91AF-4F57-AAB3-2C26729B8A3E}"/>
    <dgm:cxn modelId="{EB443B98-FE4A-43D6-B21B-9AD687AC8283}" srcId="{5DB97403-CB04-4C67-903D-26DA3E31CB7E}" destId="{E16BA52F-B2F0-4044-BEBA-C8C8EEDB81D6}" srcOrd="3" destOrd="0" parTransId="{0D54D554-9043-4403-B1DC-5AA2A32F5C8E}" sibTransId="{4D51F1F0-41BB-4E90-8B3F-94BECE4F1E64}"/>
    <dgm:cxn modelId="{00840BA1-BE80-4886-8683-8C0D013EDDF4}" srcId="{828C7278-BA07-4AA2-BA1B-A2E467E45F6B}" destId="{6D73A149-4AAD-4938-8862-B7C8A357CA90}" srcOrd="0" destOrd="0" parTransId="{FBD670F3-AE1E-4B5B-BBEA-F9BD9E4F9F2C}" sibTransId="{C4DC8F87-3921-4E68-8DAD-0F05FE60F371}"/>
    <dgm:cxn modelId="{46592EAE-4CBF-48D0-9122-7CEF6E567369}" type="presOf" srcId="{9EE6F64E-A03A-4A17-8053-11D4CE702D92}" destId="{4EB497EA-02ED-4254-AFDA-E87D6B77DED1}" srcOrd="0" destOrd="0" presId="urn:microsoft.com/office/officeart/2024/layout/HorizontalActionList"/>
    <dgm:cxn modelId="{F447D5B1-EAE2-47B1-882E-116E31373564}" type="presOf" srcId="{7EB921E8-B033-4AD1-B0A0-6A87BBDE2978}" destId="{66AF67A1-F2D1-43B2-ADBE-15BCD55A38C6}" srcOrd="0" destOrd="0" presId="urn:microsoft.com/office/officeart/2024/layout/HorizontalActionList"/>
    <dgm:cxn modelId="{201A56B6-BE53-4A2C-8EA0-3330C0D48FEE}" srcId="{828C7278-BA07-4AA2-BA1B-A2E467E45F6B}" destId="{BD3D085D-4F24-40FE-9AD1-0F4785619F24}" srcOrd="2" destOrd="0" parTransId="{E0B473C6-072D-4C18-90BF-FBFB95B8E840}" sibTransId="{40E1C215-0C92-44AF-887C-172723A6FAEE}"/>
    <dgm:cxn modelId="{65E9EACA-F43D-4700-932A-A78343A6224C}" type="presOf" srcId="{766C5D67-ECD6-4BF7-91EE-F646FC4286CF}" destId="{4E5B7038-6A1D-41A2-AB39-EEAC05E43AB7}" srcOrd="0" destOrd="0" presId="urn:microsoft.com/office/officeart/2024/layout/HorizontalActionList"/>
    <dgm:cxn modelId="{59EF69D5-BBA3-4CB2-86CC-71BD509DF678}" srcId="{828C7278-BA07-4AA2-BA1B-A2E467E45F6B}" destId="{C8FE3370-7BFB-4F30-A61C-A474C08812EC}" srcOrd="1" destOrd="0" parTransId="{2EB15F76-3ADE-4036-883F-A9F11F288DBD}" sibTransId="{8D8333F9-33FD-443E-BAA6-CF5C820C0E33}"/>
    <dgm:cxn modelId="{50151EE0-5C37-4CA5-8DA7-99A5848C8239}" type="presOf" srcId="{BADA3553-C911-4FDC-A70C-99612D3B50F9}" destId="{264C9483-FC90-4473-9EE4-9EB31009876A}" srcOrd="0" destOrd="2" presId="urn:microsoft.com/office/officeart/2024/layout/HorizontalActionList"/>
    <dgm:cxn modelId="{749F5BE0-694B-4A7F-B730-B4A3B6440E87}" type="presOf" srcId="{24114A06-1E1E-4754-B1B0-9C3E9A17B01E}" destId="{C42D0DD2-BD67-4A77-AC14-813FC1EA5E73}" srcOrd="0" destOrd="5" presId="urn:microsoft.com/office/officeart/2024/layout/HorizontalActionList"/>
    <dgm:cxn modelId="{797F27E3-55AA-4126-AF77-98F30BA3EBE1}" srcId="{5DB97403-CB04-4C67-903D-26DA3E31CB7E}" destId="{53F54D27-D9C5-45CA-843C-57A4E2091DD8}" srcOrd="4" destOrd="0" parTransId="{CD3165CC-F5B1-417D-9871-7ABA0811C473}" sibTransId="{027C7344-F3E9-4A52-95F8-8A7E6E7A5358}"/>
    <dgm:cxn modelId="{B81F18ED-E38B-4EBB-ABD0-341FE376594C}" srcId="{9EE6F64E-A03A-4A17-8053-11D4CE702D92}" destId="{828C7278-BA07-4AA2-BA1B-A2E467E45F6B}" srcOrd="0" destOrd="0" parTransId="{AB47B82B-C626-431F-B62A-9EFEE966C839}" sibTransId="{25107340-3F9B-40B7-9A78-C2FBC77D91F9}"/>
    <dgm:cxn modelId="{BD105FEE-049A-4FBE-8EEC-10B6E47F0F75}" srcId="{828C7278-BA07-4AA2-BA1B-A2E467E45F6B}" destId="{03F3CC7A-E1FA-4764-A962-A174CB96403B}" srcOrd="3" destOrd="0" parTransId="{64483C06-2B06-4F4E-8CC2-4FDDF9EC6444}" sibTransId="{3B875154-DE5A-4100-85DE-A89204B860DC}"/>
    <dgm:cxn modelId="{2C8FA6F5-09F0-4AAB-9388-C8CB5B68006A}" type="presOf" srcId="{53F54D27-D9C5-45CA-843C-57A4E2091DD8}" destId="{F013D0C3-71A9-44FE-BE68-7C8DB629CECA}" srcOrd="0" destOrd="5" presId="urn:microsoft.com/office/officeart/2024/layout/HorizontalActionList"/>
    <dgm:cxn modelId="{2C8686F6-2653-4455-9335-43AA0DCBA352}" type="presOf" srcId="{B3C80711-2B06-48E6-898A-DBFA5618FE28}" destId="{F013D0C3-71A9-44FE-BE68-7C8DB629CECA}" srcOrd="0" destOrd="2" presId="urn:microsoft.com/office/officeart/2024/layout/HorizontalActionList"/>
    <dgm:cxn modelId="{33A66FFA-5613-47A0-91F7-7039D2E18134}" srcId="{766C5D67-ECD6-4BF7-91EE-F646FC4286CF}" destId="{9EE6F64E-A03A-4A17-8053-11D4CE702D92}" srcOrd="0" destOrd="0" parTransId="{AE10C7DF-0DA6-4D6B-8031-ADBD7A996630}" sibTransId="{D4CDD68B-F203-42D0-9878-6051D5885416}"/>
    <dgm:cxn modelId="{F20811FD-DDBA-4DF9-A14F-2DD74C51D682}" srcId="{7EB921E8-B033-4AD1-B0A0-6A87BBDE2978}" destId="{D463245A-0E0E-4FB4-9C52-550061682640}" srcOrd="0" destOrd="0" parTransId="{A78035C3-E8E1-4B36-A812-80582A2F1714}" sibTransId="{5545F46E-8365-4F21-9CBF-93CF76D7C2DE}"/>
    <dgm:cxn modelId="{0D9D2458-9A1C-49EB-9719-72ACC9DBC87C}" type="presParOf" srcId="{4E5B7038-6A1D-41A2-AB39-EEAC05E43AB7}" destId="{88F80CE5-3B76-4FE5-9355-8A767141C828}" srcOrd="0" destOrd="0" presId="urn:microsoft.com/office/officeart/2024/layout/HorizontalActionList"/>
    <dgm:cxn modelId="{DA6E50FC-C3AA-4CF7-A36A-A532EE89FFD4}" type="presParOf" srcId="{88F80CE5-3B76-4FE5-9355-8A767141C828}" destId="{4EB497EA-02ED-4254-AFDA-E87D6B77DED1}" srcOrd="0" destOrd="0" presId="urn:microsoft.com/office/officeart/2024/layout/HorizontalActionList"/>
    <dgm:cxn modelId="{34C04A41-2E6A-40C3-A35F-C822B0F47B28}" type="presParOf" srcId="{88F80CE5-3B76-4FE5-9355-8A767141C828}" destId="{C42D0DD2-BD67-4A77-AC14-813FC1EA5E73}" srcOrd="1" destOrd="0" presId="urn:microsoft.com/office/officeart/2024/layout/HorizontalActionList"/>
    <dgm:cxn modelId="{C8EC44BE-3E55-4B54-96CA-3273417B5C30}" type="presParOf" srcId="{4E5B7038-6A1D-41A2-AB39-EEAC05E43AB7}" destId="{5775B844-BC58-4CB1-AA9B-C40615D8642C}" srcOrd="1" destOrd="0" presId="urn:microsoft.com/office/officeart/2024/layout/HorizontalActionList"/>
    <dgm:cxn modelId="{A2BA7773-DE50-41EA-AE36-D67953D109AD}" type="presParOf" srcId="{4E5B7038-6A1D-41A2-AB39-EEAC05E43AB7}" destId="{2622F00E-A00C-4C3E-9D7C-37CD4CE7917A}" srcOrd="2" destOrd="0" presId="urn:microsoft.com/office/officeart/2024/layout/HorizontalActionList"/>
    <dgm:cxn modelId="{9BF6FD21-FF29-4B27-9934-102EE2578307}" type="presParOf" srcId="{2622F00E-A00C-4C3E-9D7C-37CD4CE7917A}" destId="{9CFA7834-BE17-47F8-B365-78F10E92FAB8}" srcOrd="0" destOrd="0" presId="urn:microsoft.com/office/officeart/2024/layout/HorizontalActionList"/>
    <dgm:cxn modelId="{0D59A56A-042A-4EB3-8DEC-58678627F02E}" type="presParOf" srcId="{2622F00E-A00C-4C3E-9D7C-37CD4CE7917A}" destId="{F013D0C3-71A9-44FE-BE68-7C8DB629CECA}" srcOrd="1" destOrd="0" presId="urn:microsoft.com/office/officeart/2024/layout/HorizontalActionList"/>
    <dgm:cxn modelId="{5C3FA8E4-58FF-4D84-9692-7EED692A2C00}" type="presParOf" srcId="{4E5B7038-6A1D-41A2-AB39-EEAC05E43AB7}" destId="{67C346F6-B16C-4138-BD90-DC54458BA747}" srcOrd="3" destOrd="0" presId="urn:microsoft.com/office/officeart/2024/layout/HorizontalActionList"/>
    <dgm:cxn modelId="{29A9DE60-D9F6-46F3-A22D-4197612A664E}" type="presParOf" srcId="{4E5B7038-6A1D-41A2-AB39-EEAC05E43AB7}" destId="{990E0D54-373E-45EF-8E84-14A0B4EF587B}" srcOrd="4" destOrd="0" presId="urn:microsoft.com/office/officeart/2024/layout/HorizontalActionList"/>
    <dgm:cxn modelId="{EC1EC0EE-FD82-4AA2-BEE9-35CE47FA95F7}" type="presParOf" srcId="{990E0D54-373E-45EF-8E84-14A0B4EF587B}" destId="{66AF67A1-F2D1-43B2-ADBE-15BCD55A38C6}" srcOrd="0" destOrd="0" presId="urn:microsoft.com/office/officeart/2024/layout/HorizontalActionList"/>
    <dgm:cxn modelId="{D506E830-8A91-4B82-92CB-4A6BC6496B80}" type="presParOf" srcId="{990E0D54-373E-45EF-8E84-14A0B4EF587B}" destId="{264C9483-FC90-4473-9EE4-9EB31009876A}" srcOrd="1" destOrd="0" presId="urn:microsoft.com/office/officeart/2024/layout/HorizontalAc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2D0DD2-BD67-4A77-AC14-813FC1EA5E73}">
      <dsp:nvSpPr>
        <dsp:cNvPr id="0" name=""/>
        <dsp:cNvSpPr/>
      </dsp:nvSpPr>
      <dsp:spPr>
        <a:xfrm rot="10800000">
          <a:off x="4873" y="1564737"/>
          <a:ext cx="2726834" cy="1978167"/>
        </a:xfrm>
        <a:prstGeom prst="round2SameRect">
          <a:avLst>
            <a:gd name="adj1" fmla="val 15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5436" tIns="115436" rIns="115436" bIns="115436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200" kern="1200" dirty="0"/>
            <a:t>A infraestrutura física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000" kern="1200" dirty="0"/>
            <a:t>Processadores (CPU) de alto desempenho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000" kern="1200" dirty="0"/>
            <a:t>Memórias RAM DDR4/DDR5 de alta frequência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000" kern="1200" dirty="0"/>
            <a:t>Armazenamento SSD </a:t>
          </a:r>
          <a:r>
            <a:rPr lang="pt-BR" sz="1000" kern="1200" dirty="0" err="1"/>
            <a:t>NVMe</a:t>
          </a:r>
          <a:r>
            <a:rPr lang="pt-BR" sz="1000" kern="1200" dirty="0"/>
            <a:t> </a:t>
          </a:r>
          <a:r>
            <a:rPr lang="pt-BR" sz="1000" kern="1200" dirty="0" err="1"/>
            <a:t>PCIe</a:t>
          </a:r>
          <a:r>
            <a:rPr lang="pt-BR" sz="1000" kern="1200" dirty="0"/>
            <a:t> </a:t>
          </a:r>
          <a:r>
            <a:rPr lang="pt-BR" sz="1000" kern="1200" dirty="0" err="1"/>
            <a:t>ultra-rápido</a:t>
          </a:r>
          <a:endParaRPr lang="pt-BR" sz="10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000" kern="1200" dirty="0"/>
            <a:t>Placas de Vídeo (GPU) dedicadas para 3D/CAD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000" kern="1200" dirty="0"/>
            <a:t>Terminais industriais e monitores antirreflexo</a:t>
          </a:r>
        </a:p>
      </dsp:txBody>
      <dsp:txXfrm rot="10800000">
        <a:off x="91781" y="1564737"/>
        <a:ext cx="2553018" cy="1891259"/>
      </dsp:txXfrm>
    </dsp:sp>
    <dsp:sp modelId="{4EB497EA-02ED-4254-AFDA-E87D6B77DED1}">
      <dsp:nvSpPr>
        <dsp:cNvPr id="0" name=""/>
        <dsp:cNvSpPr/>
      </dsp:nvSpPr>
      <dsp:spPr>
        <a:xfrm>
          <a:off x="4873" y="771228"/>
          <a:ext cx="2726834" cy="818050"/>
        </a:xfrm>
        <a:prstGeom prst="round2SameRect">
          <a:avLst>
            <a:gd name="adj1" fmla="val 450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480" tIns="215480" rIns="215480" bIns="21548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400" kern="1200" dirty="0"/>
            <a:t>HARDWARE AERONÁUTICO</a:t>
          </a:r>
        </a:p>
      </dsp:txBody>
      <dsp:txXfrm>
        <a:off x="112692" y="879047"/>
        <a:ext cx="2511196" cy="710231"/>
      </dsp:txXfrm>
    </dsp:sp>
    <dsp:sp modelId="{F013D0C3-71A9-44FE-BE68-7C8DB629CECA}">
      <dsp:nvSpPr>
        <dsp:cNvPr id="0" name=""/>
        <dsp:cNvSpPr/>
      </dsp:nvSpPr>
      <dsp:spPr>
        <a:xfrm rot="10800000">
          <a:off x="2839601" y="1564737"/>
          <a:ext cx="2726834" cy="1978167"/>
        </a:xfrm>
        <a:prstGeom prst="round2SameRect">
          <a:avLst>
            <a:gd name="adj1" fmla="val 15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5436" tIns="115436" rIns="115436" bIns="115436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200" kern="1200" dirty="0"/>
            <a:t>A camada de gerenciamento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000" kern="1200" dirty="0"/>
            <a:t>Sistemas Operacionais (Windows 11 / Linux)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000" kern="1200" dirty="0"/>
            <a:t>Gerenciamento de processos e alocação de RAM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000" kern="1200" dirty="0"/>
            <a:t>Drivers homologados e certificados para engenharia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000" kern="1200" dirty="0"/>
            <a:t>Segurança de dados e conectividade de rede MRO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000" kern="1200" dirty="0"/>
            <a:t>Gerenciamento de periféricos de teste</a:t>
          </a:r>
        </a:p>
      </dsp:txBody>
      <dsp:txXfrm rot="10800000">
        <a:off x="2926509" y="1564737"/>
        <a:ext cx="2553018" cy="1891259"/>
      </dsp:txXfrm>
    </dsp:sp>
    <dsp:sp modelId="{9CFA7834-BE17-47F8-B365-78F10E92FAB8}">
      <dsp:nvSpPr>
        <dsp:cNvPr id="0" name=""/>
        <dsp:cNvSpPr/>
      </dsp:nvSpPr>
      <dsp:spPr>
        <a:xfrm>
          <a:off x="2839601" y="771228"/>
          <a:ext cx="2726834" cy="818050"/>
        </a:xfrm>
        <a:prstGeom prst="round2SameRect">
          <a:avLst>
            <a:gd name="adj1" fmla="val 450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480" tIns="215480" rIns="215480" bIns="21548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400" kern="1200" dirty="0"/>
            <a:t>SOFTWARE DE SISTEMA</a:t>
          </a:r>
        </a:p>
      </dsp:txBody>
      <dsp:txXfrm>
        <a:off x="2947420" y="879047"/>
        <a:ext cx="2511196" cy="710231"/>
      </dsp:txXfrm>
    </dsp:sp>
    <dsp:sp modelId="{264C9483-FC90-4473-9EE4-9EB31009876A}">
      <dsp:nvSpPr>
        <dsp:cNvPr id="0" name=""/>
        <dsp:cNvSpPr/>
      </dsp:nvSpPr>
      <dsp:spPr>
        <a:xfrm rot="10800000">
          <a:off x="5674330" y="1564737"/>
          <a:ext cx="2726834" cy="1978167"/>
        </a:xfrm>
        <a:prstGeom prst="round2SameRect">
          <a:avLst>
            <a:gd name="adj1" fmla="val 15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5436" tIns="115436" rIns="115436" bIns="115436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200" kern="1200" dirty="0"/>
            <a:t>As ferramentas de trabalho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000" kern="1200" dirty="0"/>
            <a:t>MS Excel (Modelos de $CG$, PERT/CPM e Confiabilidade)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000" kern="1200" dirty="0"/>
            <a:t>MS Word (Relatórios Técnicos e OS padronizadas)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 err="1"/>
            <a:t>Softwares</a:t>
          </a:r>
          <a:r>
            <a:rPr lang="en-US" sz="1000" kern="1200" dirty="0"/>
            <a:t> CAD (AutoCAD, SolidWorks, CATIA 3D)</a:t>
          </a:r>
          <a:endParaRPr lang="pt-BR" sz="10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000" kern="1200" dirty="0"/>
            <a:t>Leitores de Manuais (PDF Vetorial AMM/IPC/SRM)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000" kern="1200" dirty="0"/>
            <a:t>Sistemas ERP/MRO (TRAX, AMOS, SAP </a:t>
          </a:r>
          <a:r>
            <a:rPr lang="pt-BR" sz="1000" kern="1200" dirty="0" err="1"/>
            <a:t>Aviation</a:t>
          </a:r>
          <a:r>
            <a:rPr lang="pt-BR" sz="1000" kern="1200" dirty="0"/>
            <a:t>)</a:t>
          </a:r>
        </a:p>
      </dsp:txBody>
      <dsp:txXfrm rot="10800000">
        <a:off x="5761238" y="1564737"/>
        <a:ext cx="2553018" cy="1891259"/>
      </dsp:txXfrm>
    </dsp:sp>
    <dsp:sp modelId="{66AF67A1-F2D1-43B2-ADBE-15BCD55A38C6}">
      <dsp:nvSpPr>
        <dsp:cNvPr id="0" name=""/>
        <dsp:cNvSpPr/>
      </dsp:nvSpPr>
      <dsp:spPr>
        <a:xfrm>
          <a:off x="5674330" y="771228"/>
          <a:ext cx="2726834" cy="818050"/>
        </a:xfrm>
        <a:prstGeom prst="round2SameRect">
          <a:avLst>
            <a:gd name="adj1" fmla="val 450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480" tIns="215480" rIns="215480" bIns="21548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400" kern="1200" dirty="0"/>
            <a:t>SOFTWARE DE APLICAÇÃO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1400" kern="1200" dirty="0"/>
        </a:p>
      </dsp:txBody>
      <dsp:txXfrm>
        <a:off x="5782149" y="879047"/>
        <a:ext cx="2511196" cy="71023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layout/HorizontalActionList">
  <dgm:title val=""/>
  <dgm:desc val=""/>
  <dgm:catLst>
    <dgm:cat type="textcard" pri="2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 fact="0.95"/>
      <dgm:constr type="h" for="des" forName="composite" op="equ"/>
      <dgm:constr type="w" for="ch" forName="composite" refType="w"/>
      <dgm:constr type="w" for="des" forName="parTx"/>
      <dgm:constr type="h" for="des" forName="parTx" op="equ"/>
      <dgm:constr type="w" for="des" forName="bgOutline"/>
      <dgm:constr type="primFontSz" for="des" forName="parTx" val="54"/>
      <dgm:constr type="primFontSz" for="des" forName="bgOutline" refType="primFontSz" refFor="des" refForName="parTx" op="lte" fact="0.75"/>
      <dgm:constr type="h" for="des" forName="bgOutline" op="equ"/>
      <dgm:constr type="w" for="ch" forName="space" op="equ" val="3"/>
    </dgm:constrLst>
    <dgm:ruleLst>
      <dgm:rule type="w" for="ch" forName="composite" val="0" fact="NaN" max="NaN"/>
    </dgm:ruleLst>
    <dgm:forEach name="Name6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bgOutline"/>
          <dgm:constr type="t" for="ch" forName="bgOutline" refType="h" refFor="ch" refForName="parTx" fact="0.97"/>
          <dgm:constr type="w" for="ch" forName="bgOutline" refType="w"/>
          <dgm:constr type="h" for="ch" forName="bgOutline" refType="h" fact="0.75"/>
        </dgm:constrLst>
        <dgm:ruleLst/>
        <dgm:layoutNode name="parTx" styleLbl="alignNode1">
          <dgm:varLst>
            <dgm:chMax val="0"/>
            <dgm:chPref val="0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ound2SameRect" r:blip="" zOrderOff="3">
            <dgm:adjLst>
              <dgm:adj idx="1" val="0.45"/>
            </dgm:adjLst>
          </dgm:shape>
          <dgm:presOf axis="self" ptType="node"/>
          <dgm:constrLst>
            <dgm:constr type="h" refType="w" op="lte" fact="0.3"/>
            <dgm:constr type="h"/>
            <dgm:constr type="tMarg" refType="w" fact="0.224"/>
            <dgm:constr type="bMarg" refType="w" fact="0.224"/>
            <dgm:constr type="lMarg" refType="w" fact="0.224"/>
            <dgm:constr type="rMarg" refType="w" fact="0.224"/>
          </dgm:constrLst>
          <dgm:ruleLst>
            <dgm:rule type="primFontSz" val="14" fact="NaN" max="NaN"/>
          </dgm:ruleLst>
        </dgm:layoutNode>
        <dgm:layoutNode name="bgOutline" styleLbl="fgAcc1">
          <dgm:varLst>
            <dgm:bulletEnabled/>
          </dgm:varLst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rot="180" type="round2SameRect" r:blip="">
            <dgm:adjLst>
              <dgm:adj idx="1" val="0.15"/>
              <dgm:adj idx="2" val="0"/>
            </dgm:adjLst>
          </dgm:shape>
          <dgm:presOf axis="des" ptType="node"/>
          <dgm:constrLst>
            <dgm:constr type="primFontSz" val="28"/>
            <dgm:constr type="tMarg" refType="w" fact="0.12"/>
            <dgm:constr type="bMarg" refType="w" fact="0.12"/>
            <dgm:constr type="lMarg" refType="w" fact="0.12"/>
            <dgm:constr type="rMarg" refType="w" fact="0.12"/>
          </dgm:constrLst>
          <dgm:ruleLst>
            <dgm:rule type="primFontSz" val="11" fact="NaN" max="NaN"/>
          </dgm:ruleLst>
        </dgm:layoutNode>
      </dgm:layoutNode>
      <dgm:forEach name="Name19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e42522d5eb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e42522d5eb_0_5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g3e42522d5eb_0_5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e46a7c3e07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e46a7c3e07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>
          <a:extLst>
            <a:ext uri="{FF2B5EF4-FFF2-40B4-BE49-F238E27FC236}">
              <a16:creationId xmlns:a16="http://schemas.microsoft.com/office/drawing/2014/main" id="{5564D9F7-D471-0025-55B3-11C41E5B1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e46a7c3e07_0_32:notes">
            <a:extLst>
              <a:ext uri="{FF2B5EF4-FFF2-40B4-BE49-F238E27FC236}">
                <a16:creationId xmlns:a16="http://schemas.microsoft.com/office/drawing/2014/main" id="{86A29012-960C-39E8-16E8-9B1AFAA5EF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e46a7c3e07_0_32:notes">
            <a:extLst>
              <a:ext uri="{FF2B5EF4-FFF2-40B4-BE49-F238E27FC236}">
                <a16:creationId xmlns:a16="http://schemas.microsoft.com/office/drawing/2014/main" id="{B16A8E7A-5419-56AC-F065-6C4EE7B852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541708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>
          <a:extLst>
            <a:ext uri="{FF2B5EF4-FFF2-40B4-BE49-F238E27FC236}">
              <a16:creationId xmlns:a16="http://schemas.microsoft.com/office/drawing/2014/main" id="{DF66C38A-14B3-D670-86BB-DA9125C38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e46a7c3e07_0_32:notes">
            <a:extLst>
              <a:ext uri="{FF2B5EF4-FFF2-40B4-BE49-F238E27FC236}">
                <a16:creationId xmlns:a16="http://schemas.microsoft.com/office/drawing/2014/main" id="{70F5C3DC-386B-613B-5DA0-C93C7B1944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e46a7c3e07_0_32:notes">
            <a:extLst>
              <a:ext uri="{FF2B5EF4-FFF2-40B4-BE49-F238E27FC236}">
                <a16:creationId xmlns:a16="http://schemas.microsoft.com/office/drawing/2014/main" id="{BD012E56-7AED-4946-5BD7-5B5E5CA002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431672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>
          <a:extLst>
            <a:ext uri="{FF2B5EF4-FFF2-40B4-BE49-F238E27FC236}">
              <a16:creationId xmlns:a16="http://schemas.microsoft.com/office/drawing/2014/main" id="{97AB10A6-1553-419B-3591-91A9557DD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e46a7c3e07_0_32:notes">
            <a:extLst>
              <a:ext uri="{FF2B5EF4-FFF2-40B4-BE49-F238E27FC236}">
                <a16:creationId xmlns:a16="http://schemas.microsoft.com/office/drawing/2014/main" id="{E7C3FE22-A0BF-5356-BBCF-EC79B877C7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e46a7c3e07_0_32:notes">
            <a:extLst>
              <a:ext uri="{FF2B5EF4-FFF2-40B4-BE49-F238E27FC236}">
                <a16:creationId xmlns:a16="http://schemas.microsoft.com/office/drawing/2014/main" id="{8815C2A8-1488-7644-53AB-C02CB6BD68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65633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>
          <a:extLst>
            <a:ext uri="{FF2B5EF4-FFF2-40B4-BE49-F238E27FC236}">
              <a16:creationId xmlns:a16="http://schemas.microsoft.com/office/drawing/2014/main" id="{F29EF5CA-07F4-DA1B-C979-CD6EE539E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e46a7c3e07_0_32:notes">
            <a:extLst>
              <a:ext uri="{FF2B5EF4-FFF2-40B4-BE49-F238E27FC236}">
                <a16:creationId xmlns:a16="http://schemas.microsoft.com/office/drawing/2014/main" id="{6F6A6C7E-0914-43C0-2D80-25494FDE61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e46a7c3e07_0_32:notes">
            <a:extLst>
              <a:ext uri="{FF2B5EF4-FFF2-40B4-BE49-F238E27FC236}">
                <a16:creationId xmlns:a16="http://schemas.microsoft.com/office/drawing/2014/main" id="{5583D4F8-CD8B-B9F8-1861-3E72008F61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13912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>
          <a:extLst>
            <a:ext uri="{FF2B5EF4-FFF2-40B4-BE49-F238E27FC236}">
              <a16:creationId xmlns:a16="http://schemas.microsoft.com/office/drawing/2014/main" id="{10339D05-17DB-EF74-902D-C6997CFF6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e46a7c3e07_0_32:notes">
            <a:extLst>
              <a:ext uri="{FF2B5EF4-FFF2-40B4-BE49-F238E27FC236}">
                <a16:creationId xmlns:a16="http://schemas.microsoft.com/office/drawing/2014/main" id="{A888191A-B66A-8149-3BDD-1C96E6C2AA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e46a7c3e07_0_32:notes">
            <a:extLst>
              <a:ext uri="{FF2B5EF4-FFF2-40B4-BE49-F238E27FC236}">
                <a16:creationId xmlns:a16="http://schemas.microsoft.com/office/drawing/2014/main" id="{24D3634F-3C76-644D-9B23-1716138582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64856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>
          <a:extLst>
            <a:ext uri="{FF2B5EF4-FFF2-40B4-BE49-F238E27FC236}">
              <a16:creationId xmlns:a16="http://schemas.microsoft.com/office/drawing/2014/main" id="{6162C49E-0646-E538-4970-B46B1ACA9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e46a7c3e07_0_32:notes">
            <a:extLst>
              <a:ext uri="{FF2B5EF4-FFF2-40B4-BE49-F238E27FC236}">
                <a16:creationId xmlns:a16="http://schemas.microsoft.com/office/drawing/2014/main" id="{85B4870C-F205-1583-BFBC-299D05639F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e46a7c3e07_0_32:notes">
            <a:extLst>
              <a:ext uri="{FF2B5EF4-FFF2-40B4-BE49-F238E27FC236}">
                <a16:creationId xmlns:a16="http://schemas.microsoft.com/office/drawing/2014/main" id="{C6F62D2D-102B-B934-AD38-C9596B5141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100461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>
          <a:extLst>
            <a:ext uri="{FF2B5EF4-FFF2-40B4-BE49-F238E27FC236}">
              <a16:creationId xmlns:a16="http://schemas.microsoft.com/office/drawing/2014/main" id="{BA4810F2-2AE7-1533-9CD5-5886BDC7C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e46a7c3e07_0_32:notes">
            <a:extLst>
              <a:ext uri="{FF2B5EF4-FFF2-40B4-BE49-F238E27FC236}">
                <a16:creationId xmlns:a16="http://schemas.microsoft.com/office/drawing/2014/main" id="{EFFF7535-9838-9CD4-DC10-CBE8E6F0AC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e46a7c3e07_0_32:notes">
            <a:extLst>
              <a:ext uri="{FF2B5EF4-FFF2-40B4-BE49-F238E27FC236}">
                <a16:creationId xmlns:a16="http://schemas.microsoft.com/office/drawing/2014/main" id="{A411BEDA-8CCA-779A-8F29-33CEA539AF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579168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>
          <a:extLst>
            <a:ext uri="{FF2B5EF4-FFF2-40B4-BE49-F238E27FC236}">
              <a16:creationId xmlns:a16="http://schemas.microsoft.com/office/drawing/2014/main" id="{CB48E8F9-827C-50C3-017F-A468E3605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e46a7c3e07_0_32:notes">
            <a:extLst>
              <a:ext uri="{FF2B5EF4-FFF2-40B4-BE49-F238E27FC236}">
                <a16:creationId xmlns:a16="http://schemas.microsoft.com/office/drawing/2014/main" id="{97FB74CF-AADE-E654-1918-1E9232BCFC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e46a7c3e07_0_32:notes">
            <a:extLst>
              <a:ext uri="{FF2B5EF4-FFF2-40B4-BE49-F238E27FC236}">
                <a16:creationId xmlns:a16="http://schemas.microsoft.com/office/drawing/2014/main" id="{F72E7296-E14A-67DB-A17F-02FD4AD07B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527902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>
          <a:extLst>
            <a:ext uri="{FF2B5EF4-FFF2-40B4-BE49-F238E27FC236}">
              <a16:creationId xmlns:a16="http://schemas.microsoft.com/office/drawing/2014/main" id="{0035C088-98A0-2768-AE7F-01ABED7FB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e46a7c3e07_0_32:notes">
            <a:extLst>
              <a:ext uri="{FF2B5EF4-FFF2-40B4-BE49-F238E27FC236}">
                <a16:creationId xmlns:a16="http://schemas.microsoft.com/office/drawing/2014/main" id="{9BD28B7E-313B-13FA-2E69-B42D52703E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e46a7c3e07_0_32:notes">
            <a:extLst>
              <a:ext uri="{FF2B5EF4-FFF2-40B4-BE49-F238E27FC236}">
                <a16:creationId xmlns:a16="http://schemas.microsoft.com/office/drawing/2014/main" id="{25F3E522-9219-31CC-CC60-A844C8F831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4847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ítulo 1">
  <p:cSld name="TITLE_1">
    <p:bg>
      <p:bgPr>
        <a:solidFill>
          <a:schemeClr val="lt2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6" name="Google Shape;16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7" name="Google Shape;17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" name="Google Shape;19;p3"/>
          <p:cNvSpPr txBox="1">
            <a:spLocks noGrp="1"/>
          </p:cNvSpPr>
          <p:nvPr>
            <p:ph type="ctrTitle"/>
          </p:nvPr>
        </p:nvSpPr>
        <p:spPr>
          <a:xfrm>
            <a:off x="727950" y="1936463"/>
            <a:ext cx="7688100" cy="129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B42526"/>
              </a:buClr>
              <a:buSzPts val="4000"/>
              <a:buFont typeface="Roboto"/>
              <a:buNone/>
              <a:defRPr sz="4000">
                <a:solidFill>
                  <a:srgbClr val="B42526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ubTitle" idx="1"/>
          </p:nvPr>
        </p:nvSpPr>
        <p:spPr>
          <a:xfrm>
            <a:off x="449550" y="3874175"/>
            <a:ext cx="8244900" cy="87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B00303"/>
              </a:buClr>
              <a:buSzPts val="2200"/>
              <a:buFont typeface="Roboto"/>
              <a:buNone/>
              <a:defRPr sz="2200">
                <a:solidFill>
                  <a:srgbClr val="B00303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sp>
        <p:nvSpPr>
          <p:cNvPr id="22" name="Google Shape;22;p3"/>
          <p:cNvSpPr/>
          <p:nvPr/>
        </p:nvSpPr>
        <p:spPr>
          <a:xfrm>
            <a:off x="830400" y="1053850"/>
            <a:ext cx="745800" cy="24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FFFFFF"/>
              </a:solidFill>
            </a:endParaRPr>
          </a:p>
        </p:txBody>
      </p:sp>
      <p:pic>
        <p:nvPicPr>
          <p:cNvPr id="23" name="Google Shape;23;p3"/>
          <p:cNvPicPr preferRelativeResize="0"/>
          <p:nvPr/>
        </p:nvPicPr>
        <p:blipFill rotWithShape="1">
          <a:blip r:embed="rId2">
            <a:alphaModFix/>
          </a:blip>
          <a:srcRect b="26659"/>
          <a:stretch/>
        </p:blipFill>
        <p:spPr>
          <a:xfrm>
            <a:off x="0" y="37106"/>
            <a:ext cx="1178231" cy="4506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Char char="●"/>
              <a:defRPr>
                <a:solidFill>
                  <a:srgbClr val="434343"/>
                </a:solidFill>
              </a:defRPr>
            </a:lvl1pPr>
            <a:lvl2pPr marL="914400" lvl="1" indent="-3175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9" name="Google Shape;49;p1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1" name="Google Shape;5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54" name="Google Shape;54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7" name="Google Shape;57;p1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8" name="Google Shape;58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2"/>
        </a:solid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8" name="Google Shape;68;p1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9" name="Google Shape;69;p1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1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1" name="Google Shape;71;p15"/>
          <p:cNvSpPr txBox="1">
            <a:spLocks noGrp="1"/>
          </p:cNvSpPr>
          <p:nvPr>
            <p:ph type="ctrTitle"/>
          </p:nvPr>
        </p:nvSpPr>
        <p:spPr>
          <a:xfrm>
            <a:off x="727950" y="1936463"/>
            <a:ext cx="7688100" cy="129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B42526"/>
              </a:buClr>
              <a:buSzPts val="4000"/>
              <a:buFont typeface="Roboto"/>
              <a:buNone/>
              <a:defRPr sz="4000">
                <a:solidFill>
                  <a:srgbClr val="B42526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subTitle" idx="1"/>
          </p:nvPr>
        </p:nvSpPr>
        <p:spPr>
          <a:xfrm>
            <a:off x="449550" y="3874175"/>
            <a:ext cx="8244900" cy="87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B00303"/>
              </a:buClr>
              <a:buSzPts val="2200"/>
              <a:buFont typeface="Roboto"/>
              <a:buNone/>
              <a:defRPr sz="2200">
                <a:solidFill>
                  <a:srgbClr val="B00303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3" name="Google Shape;73;p15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sp>
        <p:nvSpPr>
          <p:cNvPr id="74" name="Google Shape;74;p15"/>
          <p:cNvSpPr/>
          <p:nvPr/>
        </p:nvSpPr>
        <p:spPr>
          <a:xfrm>
            <a:off x="830400" y="1053850"/>
            <a:ext cx="745800" cy="24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FFFFFF"/>
              </a:solidFill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 rotWithShape="1">
          <a:blip r:embed="rId2">
            <a:alphaModFix/>
          </a:blip>
          <a:srcRect b="26659"/>
          <a:stretch/>
        </p:blipFill>
        <p:spPr>
          <a:xfrm>
            <a:off x="0" y="37106"/>
            <a:ext cx="1178231" cy="4506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nteúdo" type="obj">
  <p:cSld name="OBJECT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title"/>
          </p:nvPr>
        </p:nvSpPr>
        <p:spPr>
          <a:xfrm>
            <a:off x="413538" y="87474"/>
            <a:ext cx="8316900" cy="9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72F6D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body" idx="1"/>
          </p:nvPr>
        </p:nvSpPr>
        <p:spPr>
          <a:xfrm>
            <a:off x="413538" y="1167594"/>
            <a:ext cx="8316900" cy="367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●"/>
              <a:defRPr sz="2400"/>
            </a:lvl1pPr>
            <a:lvl2pPr marL="914400" lvl="1" indent="-3810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○"/>
              <a:defRPr sz="2400"/>
            </a:lvl2pPr>
            <a:lvl3pPr marL="1371600" lvl="2" indent="-3810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■"/>
              <a:defRPr sz="2400"/>
            </a:lvl3pPr>
            <a:lvl4pPr marL="1828800" lvl="3" indent="-3810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●"/>
              <a:defRPr sz="2400"/>
            </a:lvl4pPr>
            <a:lvl5pPr marL="2286000" lvl="4" indent="-3810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○"/>
              <a:defRPr sz="2400"/>
            </a:lvl5pPr>
            <a:lvl6pPr marL="2743200" lvl="5" indent="-3810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272F6D"/>
              </a:buClr>
              <a:buSzPts val="2400"/>
              <a:buChar char="■"/>
              <a:defRPr sz="2400"/>
            </a:lvl6pPr>
            <a:lvl7pPr marL="3200400" lvl="6" indent="-3810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272F6D"/>
              </a:buClr>
              <a:buSzPts val="2400"/>
              <a:buChar char="●"/>
              <a:defRPr sz="2400"/>
            </a:lvl7pPr>
            <a:lvl8pPr marL="3657600" lvl="7" indent="-3810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272F6D"/>
              </a:buClr>
              <a:buSzPts val="2400"/>
              <a:buChar char="○"/>
              <a:defRPr sz="2400"/>
            </a:lvl8pPr>
            <a:lvl9pPr marL="4114800" lvl="8" indent="-381000" algn="l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rgbClr val="272F6D"/>
              </a:buClr>
              <a:buSzPts val="2400"/>
              <a:buChar char="■"/>
              <a:defRPr sz="2400"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9" name="Google Shape;9;p1"/>
          <p:cNvPicPr preferRelativeResize="0"/>
          <p:nvPr/>
        </p:nvPicPr>
        <p:blipFill rotWithShape="1">
          <a:blip r:embed="rId13">
            <a:alphaModFix/>
          </a:blip>
          <a:srcRect b="26659"/>
          <a:stretch/>
        </p:blipFill>
        <p:spPr>
          <a:xfrm>
            <a:off x="7573025" y="29688"/>
            <a:ext cx="1570975" cy="600925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treamline">
    <p:bg>
      <p:bgPr>
        <a:solidFill>
          <a:schemeClr val="lt1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title"/>
          </p:nvPr>
        </p:nvSpPr>
        <p:spPr>
          <a:xfrm>
            <a:off x="311700" y="57983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63" name="Google Shape;63;p14"/>
          <p:cNvSpPr txBox="1">
            <a:spLocks noGrp="1"/>
          </p:cNvSpPr>
          <p:nvPr>
            <p:ph type="body" idx="1"/>
          </p:nvPr>
        </p:nvSpPr>
        <p:spPr>
          <a:xfrm>
            <a:off x="311700" y="1399209"/>
            <a:ext cx="8520600" cy="314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64" name="Google Shape;64;p14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4">
            <a:alphaModFix/>
          </a:blip>
          <a:srcRect l="15853" t="31506" r="17114" b="34470"/>
          <a:stretch/>
        </p:blipFill>
        <p:spPr>
          <a:xfrm>
            <a:off x="76200" y="-1225"/>
            <a:ext cx="1324742" cy="489025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>
            <a:spLocks noGrp="1"/>
          </p:cNvSpPr>
          <p:nvPr>
            <p:ph type="ctrTitle"/>
          </p:nvPr>
        </p:nvSpPr>
        <p:spPr>
          <a:xfrm>
            <a:off x="727950" y="1936463"/>
            <a:ext cx="7688100" cy="129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pt-BR" sz="2800" dirty="0">
                <a:solidFill>
                  <a:srgbClr val="202529"/>
                </a:solidFill>
              </a:rPr>
              <a:t>Aula 01: Hardware, Processadores &amp; Estações de Trabalho</a:t>
            </a:r>
            <a:br>
              <a:rPr lang="pt-BR" sz="2400" dirty="0">
                <a:solidFill>
                  <a:srgbClr val="202529"/>
                </a:solidFill>
              </a:rPr>
            </a:br>
            <a:r>
              <a:rPr lang="pt-BR" sz="2000" dirty="0">
                <a:solidFill>
                  <a:srgbClr val="202529"/>
                </a:solidFill>
              </a:rPr>
              <a:t>INF-117 — Informática Aplicada a Aeronáutica</a:t>
            </a:r>
            <a:endParaRPr lang="pt-BR" sz="3200" dirty="0">
              <a:solidFill>
                <a:srgbClr val="202529"/>
              </a:solidFill>
            </a:endParaRPr>
          </a:p>
        </p:txBody>
      </p:sp>
      <p:sp>
        <p:nvSpPr>
          <p:cNvPr id="95" name="Google Shape;95;p18"/>
          <p:cNvSpPr txBox="1">
            <a:spLocks noGrp="1"/>
          </p:cNvSpPr>
          <p:nvPr>
            <p:ph type="subTitle" idx="1"/>
          </p:nvPr>
        </p:nvSpPr>
        <p:spPr>
          <a:xfrm>
            <a:off x="449550" y="3914850"/>
            <a:ext cx="8244900" cy="87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b="1" dirty="0">
                <a:solidFill>
                  <a:srgbClr val="098658"/>
                </a:solidFill>
              </a:rPr>
              <a:t>Prof. Me. André Cassulino Araújo Souza</a:t>
            </a:r>
            <a:endParaRPr b="1" dirty="0">
              <a:solidFill>
                <a:srgbClr val="098658"/>
              </a:solidFill>
            </a:endParaRP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>
                <a:solidFill>
                  <a:srgbClr val="098658"/>
                </a:solidFill>
              </a:rPr>
              <a:t>andre.souza@cps.sp.gov.br</a:t>
            </a:r>
            <a:endParaRPr dirty="0">
              <a:solidFill>
                <a:srgbClr val="098658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Objetivos</a:t>
            </a:r>
            <a:endParaRPr dirty="0"/>
          </a:p>
        </p:txBody>
      </p:sp>
      <p:sp>
        <p:nvSpPr>
          <p:cNvPr id="101" name="Google Shape;101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457200" lvl="0" indent="-342900" algn="just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AutoNum type="arabicPeriod"/>
            </a:pPr>
            <a:r>
              <a:rPr lang="pt-BR" dirty="0"/>
              <a:t>Competências de Hardware: Compreender a atuação da CPU, Memória RAM, SSD </a:t>
            </a:r>
            <a:r>
              <a:rPr lang="pt-BR" dirty="0" err="1"/>
              <a:t>NVMe</a:t>
            </a:r>
            <a:r>
              <a:rPr lang="pt-BR" dirty="0"/>
              <a:t> e GPU em sistemas computacionais aeronáuticos.</a:t>
            </a:r>
          </a:p>
          <a:p>
            <a:pPr marL="457200" lvl="0" indent="-342900" algn="just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AutoNum type="arabicPeriod"/>
            </a:pPr>
            <a:r>
              <a:rPr lang="pt-BR" dirty="0"/>
              <a:t>Arquitetura de Armazenamento e Leitura: Avaliar o impacto da velocidade de disco na abertura de manuais técnicos pesados (AMM, IPC, SRM com 3.000+ páginas em PDF) e arquivos CAD 3D.</a:t>
            </a:r>
          </a:p>
          <a:p>
            <a:pPr marL="457200" lvl="0" indent="-342900" algn="just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AutoNum type="arabicPeriod"/>
            </a:pPr>
            <a:r>
              <a:rPr lang="pt-BR" dirty="0"/>
              <a:t>Dimensionamento Técnico por Perfil: Especificar e justificar computadores adequados para dois ambientes distintos: Hangar/Oficina MRO vs. Engenharia/PCM.</a:t>
            </a:r>
          </a:p>
          <a:p>
            <a:pPr marL="457200" lvl="0" indent="-342900" algn="just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AutoNum type="arabicPeriod"/>
            </a:pPr>
            <a:r>
              <a:rPr lang="pt-BR" dirty="0"/>
              <a:t>Diagnóstico Prático no Sistema Operacional: Utilizar ferramentas do Windows 11 para identificar gargalos de hardware em tempo real.</a:t>
            </a:r>
          </a:p>
          <a:p>
            <a:pPr marL="457200" lvl="0" indent="-342900" algn="just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AutoNum type="arabicPeriod"/>
            </a:pPr>
            <a:r>
              <a:rPr lang="pt-BR" dirty="0"/>
              <a:t>Visão de Fronteira Tecnológica (Computação Quântica): Compreender conceitos básicos de </a:t>
            </a:r>
            <a:r>
              <a:rPr lang="pt-BR" dirty="0" err="1"/>
              <a:t>qubits</a:t>
            </a:r>
            <a:r>
              <a:rPr lang="pt-BR" dirty="0"/>
              <a:t> e superposição quântica aplicados ao setor aeroespacial.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>
          <a:extLst>
            <a:ext uri="{FF2B5EF4-FFF2-40B4-BE49-F238E27FC236}">
              <a16:creationId xmlns:a16="http://schemas.microsoft.com/office/drawing/2014/main" id="{9BB1DA20-F5FE-9030-D76F-D69DC7193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>
            <a:extLst>
              <a:ext uri="{FF2B5EF4-FFF2-40B4-BE49-F238E27FC236}">
                <a16:creationId xmlns:a16="http://schemas.microsoft.com/office/drawing/2014/main" id="{6452181A-28B9-A252-A329-3AD690D000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pt-BR" dirty="0"/>
              <a:t>Fundamentos — Hardware vs. Software na Aviação</a:t>
            </a:r>
            <a:endParaRPr dirty="0"/>
          </a:p>
        </p:txBody>
      </p:sp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F54F80B0-B7C3-967B-01EF-B22173BD636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82740486"/>
              </p:ext>
            </p:extLst>
          </p:nvPr>
        </p:nvGraphicFramePr>
        <p:xfrm>
          <a:off x="311700" y="539750"/>
          <a:ext cx="8406038" cy="43141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0517778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>
          <a:extLst>
            <a:ext uri="{FF2B5EF4-FFF2-40B4-BE49-F238E27FC236}">
              <a16:creationId xmlns:a16="http://schemas.microsoft.com/office/drawing/2014/main" id="{DA1EFB2D-A47D-6558-A67B-DF70B8323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>
            <a:extLst>
              <a:ext uri="{FF2B5EF4-FFF2-40B4-BE49-F238E27FC236}">
                <a16:creationId xmlns:a16="http://schemas.microsoft.com/office/drawing/2014/main" id="{8BB2E4FD-37B5-463C-3058-DF7EA28E2A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pt-BR" dirty="0"/>
              <a:t>O Processador (CPU): O Cérebro do Sistema</a:t>
            </a:r>
            <a:endParaRPr dirty="0"/>
          </a:p>
        </p:txBody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7D52E00F-C55A-990A-1F95-D3F7532955C8}"/>
              </a:ext>
            </a:extLst>
          </p:cNvPr>
          <p:cNvSpPr txBox="1"/>
          <p:nvPr/>
        </p:nvSpPr>
        <p:spPr>
          <a:xfrm>
            <a:off x="548640" y="1005840"/>
            <a:ext cx="4206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200" b="1" dirty="0" err="1">
                <a:solidFill>
                  <a:srgbClr val="0F2043"/>
                </a:solidFill>
              </a:rPr>
              <a:t>Arquitetura</a:t>
            </a:r>
            <a:r>
              <a:rPr sz="1200" b="1" dirty="0">
                <a:solidFill>
                  <a:srgbClr val="0F2043"/>
                </a:solidFill>
              </a:rPr>
              <a:t> Interna: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Núcleos</a:t>
            </a:r>
            <a:r>
              <a:rPr sz="1200" dirty="0">
                <a:solidFill>
                  <a:srgbClr val="282828"/>
                </a:solidFill>
              </a:rPr>
              <a:t> (Cores) </a:t>
            </a:r>
            <a:r>
              <a:rPr sz="1200" dirty="0" err="1">
                <a:solidFill>
                  <a:srgbClr val="282828"/>
                </a:solidFill>
              </a:rPr>
              <a:t>executam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tarefas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independentes</a:t>
            </a:r>
            <a:r>
              <a:rPr sz="1200" dirty="0">
                <a:solidFill>
                  <a:srgbClr val="282828"/>
                </a:solidFill>
              </a:rPr>
              <a:t>; Threads </a:t>
            </a:r>
            <a:r>
              <a:rPr sz="1200" dirty="0" err="1">
                <a:solidFill>
                  <a:srgbClr val="282828"/>
                </a:solidFill>
              </a:rPr>
              <a:t>simulam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núcleos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virtuais</a:t>
            </a:r>
            <a:r>
              <a:rPr sz="1200" dirty="0">
                <a:solidFill>
                  <a:srgbClr val="282828"/>
                </a:solidFill>
              </a:rPr>
              <a:t> para </a:t>
            </a:r>
            <a:r>
              <a:rPr sz="1200" dirty="0" err="1">
                <a:solidFill>
                  <a:srgbClr val="282828"/>
                </a:solidFill>
              </a:rPr>
              <a:t>maior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dinamismo</a:t>
            </a:r>
            <a:r>
              <a:rPr sz="1200" dirty="0">
                <a:solidFill>
                  <a:srgbClr val="282828"/>
                </a:solidFill>
              </a:rPr>
              <a:t>.</a:t>
            </a:r>
          </a:p>
          <a:p>
            <a:pPr>
              <a:spcBef>
                <a:spcPts val="800"/>
              </a:spcBef>
            </a:pPr>
            <a:r>
              <a:rPr sz="1200" b="1" dirty="0" err="1">
                <a:solidFill>
                  <a:srgbClr val="0F2043"/>
                </a:solidFill>
              </a:rPr>
              <a:t>Frequência</a:t>
            </a:r>
            <a:r>
              <a:rPr sz="1200" b="1" dirty="0">
                <a:solidFill>
                  <a:srgbClr val="0F2043"/>
                </a:solidFill>
              </a:rPr>
              <a:t> de Clock (GHz):</a:t>
            </a:r>
            <a:r>
              <a:rPr sz="1200" dirty="0">
                <a:solidFill>
                  <a:srgbClr val="282828"/>
                </a:solidFill>
              </a:rPr>
              <a:t> Define a </a:t>
            </a:r>
            <a:r>
              <a:rPr sz="1200" dirty="0" err="1">
                <a:solidFill>
                  <a:srgbClr val="282828"/>
                </a:solidFill>
              </a:rPr>
              <a:t>velocidade</a:t>
            </a:r>
            <a:r>
              <a:rPr sz="1200" dirty="0">
                <a:solidFill>
                  <a:srgbClr val="282828"/>
                </a:solidFill>
              </a:rPr>
              <a:t> de </a:t>
            </a:r>
            <a:r>
              <a:rPr sz="1200" dirty="0" err="1">
                <a:solidFill>
                  <a:srgbClr val="282828"/>
                </a:solidFill>
              </a:rPr>
              <a:t>ciclos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por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segundo</a:t>
            </a:r>
            <a:r>
              <a:rPr sz="1200" dirty="0">
                <a:solidFill>
                  <a:srgbClr val="282828"/>
                </a:solidFill>
              </a:rPr>
              <a:t>. Clocks </a:t>
            </a:r>
            <a:r>
              <a:rPr sz="1200" dirty="0" err="1">
                <a:solidFill>
                  <a:srgbClr val="282828"/>
                </a:solidFill>
              </a:rPr>
              <a:t>elevados</a:t>
            </a:r>
            <a:r>
              <a:rPr sz="1200" dirty="0">
                <a:solidFill>
                  <a:srgbClr val="282828"/>
                </a:solidFill>
              </a:rPr>
              <a:t> (&gt;= 4.7 GHz) </a:t>
            </a:r>
            <a:r>
              <a:rPr sz="1200" dirty="0" err="1">
                <a:solidFill>
                  <a:srgbClr val="282828"/>
                </a:solidFill>
              </a:rPr>
              <a:t>aceleram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desenhos</a:t>
            </a:r>
            <a:r>
              <a:rPr sz="1200" dirty="0">
                <a:solidFill>
                  <a:srgbClr val="282828"/>
                </a:solidFill>
              </a:rPr>
              <a:t> e </a:t>
            </a:r>
            <a:r>
              <a:rPr sz="1200" dirty="0" err="1">
                <a:solidFill>
                  <a:srgbClr val="282828"/>
                </a:solidFill>
              </a:rPr>
              <a:t>cálculos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individuais</a:t>
            </a:r>
            <a:r>
              <a:rPr sz="1200" dirty="0">
                <a:solidFill>
                  <a:srgbClr val="282828"/>
                </a:solidFill>
              </a:rPr>
              <a:t>.</a:t>
            </a:r>
          </a:p>
          <a:p>
            <a:pPr>
              <a:spcBef>
                <a:spcPts val="800"/>
              </a:spcBef>
            </a:pPr>
            <a:r>
              <a:rPr sz="1200" b="1" dirty="0" err="1">
                <a:solidFill>
                  <a:srgbClr val="0F2043"/>
                </a:solidFill>
              </a:rPr>
              <a:t>Memória</a:t>
            </a:r>
            <a:r>
              <a:rPr sz="1200" b="1" dirty="0">
                <a:solidFill>
                  <a:srgbClr val="0F2043"/>
                </a:solidFill>
              </a:rPr>
              <a:t> Cache (L1/L2/L3):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Memória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ultrarrápida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dentro</a:t>
            </a:r>
            <a:r>
              <a:rPr sz="1200" dirty="0">
                <a:solidFill>
                  <a:srgbClr val="282828"/>
                </a:solidFill>
              </a:rPr>
              <a:t> do chip da CPU </a:t>
            </a:r>
            <a:r>
              <a:rPr sz="1200" dirty="0" err="1">
                <a:solidFill>
                  <a:srgbClr val="282828"/>
                </a:solidFill>
              </a:rPr>
              <a:t>que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armazena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instruções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imediatas</a:t>
            </a:r>
            <a:r>
              <a:rPr sz="1200" dirty="0">
                <a:solidFill>
                  <a:srgbClr val="282828"/>
                </a:solidFill>
              </a:rPr>
              <a:t> para </a:t>
            </a:r>
            <a:r>
              <a:rPr sz="1200" dirty="0" err="1">
                <a:solidFill>
                  <a:srgbClr val="282828"/>
                </a:solidFill>
              </a:rPr>
              <a:t>evitar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gargalos</a:t>
            </a:r>
            <a:r>
              <a:rPr sz="1200" dirty="0">
                <a:solidFill>
                  <a:srgbClr val="282828"/>
                </a:solidFill>
              </a:rPr>
              <a:t>.</a:t>
            </a:r>
          </a:p>
          <a:p>
            <a:pPr>
              <a:spcBef>
                <a:spcPts val="800"/>
              </a:spcBef>
            </a:pPr>
            <a:r>
              <a:rPr sz="1200" b="1" dirty="0">
                <a:solidFill>
                  <a:srgbClr val="0F2043"/>
                </a:solidFill>
              </a:rPr>
              <a:t>Impacto </a:t>
            </a:r>
            <a:r>
              <a:rPr sz="1200" b="1" dirty="0" err="1">
                <a:solidFill>
                  <a:srgbClr val="0F2043"/>
                </a:solidFill>
              </a:rPr>
              <a:t>Direto</a:t>
            </a:r>
            <a:r>
              <a:rPr sz="1200" b="1" dirty="0">
                <a:solidFill>
                  <a:srgbClr val="0F2043"/>
                </a:solidFill>
              </a:rPr>
              <a:t> no MS Excel:</a:t>
            </a:r>
            <a:r>
              <a:rPr sz="1200" dirty="0">
                <a:solidFill>
                  <a:srgbClr val="282828"/>
                </a:solidFill>
              </a:rPr>
              <a:t> O motor de </a:t>
            </a:r>
            <a:r>
              <a:rPr sz="1200" dirty="0" err="1">
                <a:solidFill>
                  <a:srgbClr val="282828"/>
                </a:solidFill>
              </a:rPr>
              <a:t>cálculo</a:t>
            </a:r>
            <a:r>
              <a:rPr sz="1200" dirty="0">
                <a:solidFill>
                  <a:srgbClr val="282828"/>
                </a:solidFill>
              </a:rPr>
              <a:t> do Excel </a:t>
            </a:r>
            <a:r>
              <a:rPr sz="1200" dirty="0" err="1">
                <a:solidFill>
                  <a:srgbClr val="282828"/>
                </a:solidFill>
              </a:rPr>
              <a:t>utiliza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múltiplos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núcleos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em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paralelo</a:t>
            </a:r>
            <a:r>
              <a:rPr sz="1200" dirty="0">
                <a:solidFill>
                  <a:srgbClr val="282828"/>
                </a:solidFill>
              </a:rPr>
              <a:t> para </a:t>
            </a:r>
            <a:r>
              <a:rPr sz="1200" dirty="0" err="1">
                <a:solidFill>
                  <a:srgbClr val="282828"/>
                </a:solidFill>
              </a:rPr>
              <a:t>reavaliar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planilhas</a:t>
            </a:r>
            <a:r>
              <a:rPr sz="1200" dirty="0">
                <a:solidFill>
                  <a:srgbClr val="282828"/>
                </a:solidFill>
              </a:rPr>
              <a:t> com </a:t>
            </a:r>
            <a:r>
              <a:rPr sz="1200" dirty="0" err="1">
                <a:solidFill>
                  <a:srgbClr val="282828"/>
                </a:solidFill>
              </a:rPr>
              <a:t>milhares</a:t>
            </a:r>
            <a:r>
              <a:rPr sz="1200" dirty="0">
                <a:solidFill>
                  <a:srgbClr val="282828"/>
                </a:solidFill>
              </a:rPr>
              <a:t> de </a:t>
            </a:r>
            <a:r>
              <a:rPr sz="1200" dirty="0" err="1">
                <a:solidFill>
                  <a:srgbClr val="282828"/>
                </a:solidFill>
              </a:rPr>
              <a:t>fórmulas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matriciais</a:t>
            </a:r>
            <a:r>
              <a:rPr sz="1200" dirty="0">
                <a:solidFill>
                  <a:srgbClr val="282828"/>
                </a:solidFill>
              </a:rPr>
              <a:t> e redes PERT/CPM.</a:t>
            </a:r>
          </a:p>
          <a:p>
            <a:pPr>
              <a:spcBef>
                <a:spcPts val="800"/>
              </a:spcBef>
            </a:pPr>
            <a:r>
              <a:rPr sz="1200" b="1" dirty="0" err="1">
                <a:solidFill>
                  <a:srgbClr val="0F2043"/>
                </a:solidFill>
              </a:rPr>
              <a:t>Recomendação</a:t>
            </a:r>
            <a:r>
              <a:rPr sz="1200" b="1" dirty="0">
                <a:solidFill>
                  <a:srgbClr val="0F2043"/>
                </a:solidFill>
              </a:rPr>
              <a:t> Técnica:</a:t>
            </a:r>
            <a:r>
              <a:rPr sz="1200" dirty="0">
                <a:solidFill>
                  <a:srgbClr val="282828"/>
                </a:solidFill>
              </a:rPr>
              <a:t> 6 a 8 </a:t>
            </a:r>
            <a:r>
              <a:rPr sz="1200" dirty="0" err="1">
                <a:solidFill>
                  <a:srgbClr val="282828"/>
                </a:solidFill>
              </a:rPr>
              <a:t>núcleos</a:t>
            </a:r>
            <a:r>
              <a:rPr sz="1200" dirty="0">
                <a:solidFill>
                  <a:srgbClr val="282828"/>
                </a:solidFill>
              </a:rPr>
              <a:t> (Intel Core i5/i7 </a:t>
            </a:r>
            <a:r>
              <a:rPr sz="1200" dirty="0" err="1">
                <a:solidFill>
                  <a:srgbClr val="282828"/>
                </a:solidFill>
              </a:rPr>
              <a:t>ou</a:t>
            </a:r>
            <a:r>
              <a:rPr sz="1200" dirty="0">
                <a:solidFill>
                  <a:srgbClr val="282828"/>
                </a:solidFill>
              </a:rPr>
              <a:t> AMD Ryzen 5/7).</a:t>
            </a:r>
          </a:p>
        </p:txBody>
      </p:sp>
      <p:pic>
        <p:nvPicPr>
          <p:cNvPr id="7" name="Picture 4" descr="cpu.jpg">
            <a:extLst>
              <a:ext uri="{FF2B5EF4-FFF2-40B4-BE49-F238E27FC236}">
                <a16:creationId xmlns:a16="http://schemas.microsoft.com/office/drawing/2014/main" id="{CBC55014-6C73-3EC3-2BE0-5B48A8F94D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097280"/>
            <a:ext cx="3657600" cy="3474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1649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>
          <a:extLst>
            <a:ext uri="{FF2B5EF4-FFF2-40B4-BE49-F238E27FC236}">
              <a16:creationId xmlns:a16="http://schemas.microsoft.com/office/drawing/2014/main" id="{5B2A20E4-645F-1726-64AF-EE67C5786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>
            <a:extLst>
              <a:ext uri="{FF2B5EF4-FFF2-40B4-BE49-F238E27FC236}">
                <a16:creationId xmlns:a16="http://schemas.microsoft.com/office/drawing/2014/main" id="{448F9404-471E-CA7C-E23E-88B06D85FA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Memória RAM e Armazenamento SSD </a:t>
            </a:r>
            <a:r>
              <a:rPr lang="pt-BR" dirty="0" err="1"/>
              <a:t>NVMe</a:t>
            </a:r>
            <a:r>
              <a:rPr lang="pt-BR" dirty="0"/>
              <a:t> vs. HDD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1E4843-67C1-11C4-3A4E-8D215734654C}"/>
              </a:ext>
            </a:extLst>
          </p:cNvPr>
          <p:cNvSpPr txBox="1"/>
          <p:nvPr/>
        </p:nvSpPr>
        <p:spPr>
          <a:xfrm>
            <a:off x="548640" y="1005840"/>
            <a:ext cx="4206240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200" b="1" dirty="0" err="1">
                <a:solidFill>
                  <a:srgbClr val="0F2043"/>
                </a:solidFill>
              </a:rPr>
              <a:t>Memória</a:t>
            </a:r>
            <a:r>
              <a:rPr sz="1200" b="1" dirty="0">
                <a:solidFill>
                  <a:srgbClr val="0F2043"/>
                </a:solidFill>
              </a:rPr>
              <a:t> RAM (</a:t>
            </a:r>
            <a:r>
              <a:rPr sz="1200" b="1" dirty="0" err="1">
                <a:solidFill>
                  <a:srgbClr val="0F2043"/>
                </a:solidFill>
              </a:rPr>
              <a:t>Volátil</a:t>
            </a:r>
            <a:r>
              <a:rPr sz="1200" b="1" dirty="0">
                <a:solidFill>
                  <a:srgbClr val="0F2043"/>
                </a:solidFill>
              </a:rPr>
              <a:t>):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Armazena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temporariamente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os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programas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em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uso</a:t>
            </a:r>
            <a:r>
              <a:rPr sz="1200" dirty="0">
                <a:solidFill>
                  <a:srgbClr val="282828"/>
                </a:solidFill>
              </a:rPr>
              <a:t> (Excel, CAD, </a:t>
            </a:r>
            <a:r>
              <a:rPr sz="1200" dirty="0" err="1">
                <a:solidFill>
                  <a:srgbClr val="282828"/>
                </a:solidFill>
              </a:rPr>
              <a:t>Manuais</a:t>
            </a:r>
            <a:r>
              <a:rPr sz="1200" dirty="0">
                <a:solidFill>
                  <a:srgbClr val="282828"/>
                </a:solidFill>
              </a:rPr>
              <a:t>). Sem RAM </a:t>
            </a:r>
            <a:r>
              <a:rPr sz="1200" dirty="0" err="1">
                <a:solidFill>
                  <a:srgbClr val="282828"/>
                </a:solidFill>
              </a:rPr>
              <a:t>suficiente</a:t>
            </a:r>
            <a:r>
              <a:rPr sz="1200" dirty="0">
                <a:solidFill>
                  <a:srgbClr val="282828"/>
                </a:solidFill>
              </a:rPr>
              <a:t>, o Windows </a:t>
            </a:r>
            <a:r>
              <a:rPr sz="1200" dirty="0" err="1">
                <a:solidFill>
                  <a:srgbClr val="282828"/>
                </a:solidFill>
              </a:rPr>
              <a:t>usa</a:t>
            </a:r>
            <a:r>
              <a:rPr sz="1200" dirty="0">
                <a:solidFill>
                  <a:srgbClr val="282828"/>
                </a:solidFill>
              </a:rPr>
              <a:t> o disco (Paging File), </a:t>
            </a:r>
            <a:r>
              <a:rPr sz="1200" dirty="0" err="1">
                <a:solidFill>
                  <a:srgbClr val="282828"/>
                </a:solidFill>
              </a:rPr>
              <a:t>gerando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lentidão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crítica</a:t>
            </a:r>
            <a:r>
              <a:rPr sz="1200" dirty="0">
                <a:solidFill>
                  <a:srgbClr val="282828"/>
                </a:solidFill>
              </a:rPr>
              <a:t>.</a:t>
            </a:r>
          </a:p>
          <a:p>
            <a:pPr>
              <a:spcBef>
                <a:spcPts val="800"/>
              </a:spcBef>
            </a:pPr>
            <a:r>
              <a:rPr sz="1200" b="1" dirty="0" err="1">
                <a:solidFill>
                  <a:srgbClr val="0F2043"/>
                </a:solidFill>
              </a:rPr>
              <a:t>Capacidade</a:t>
            </a:r>
            <a:r>
              <a:rPr sz="1200" b="1" dirty="0">
                <a:solidFill>
                  <a:srgbClr val="0F2043"/>
                </a:solidFill>
              </a:rPr>
              <a:t> </a:t>
            </a:r>
            <a:r>
              <a:rPr sz="1200" b="1" dirty="0" err="1">
                <a:solidFill>
                  <a:srgbClr val="0F2043"/>
                </a:solidFill>
              </a:rPr>
              <a:t>Necessária</a:t>
            </a:r>
            <a:r>
              <a:rPr sz="1200" b="1" dirty="0">
                <a:solidFill>
                  <a:srgbClr val="0F2043"/>
                </a:solidFill>
              </a:rPr>
              <a:t>:</a:t>
            </a:r>
            <a:r>
              <a:rPr sz="1200" dirty="0">
                <a:solidFill>
                  <a:srgbClr val="282828"/>
                </a:solidFill>
              </a:rPr>
              <a:t> 16 GB (Hangar/MRO) a 32 GB / 64 GB DDR5 (</a:t>
            </a:r>
            <a:r>
              <a:rPr sz="1200" dirty="0" err="1">
                <a:solidFill>
                  <a:srgbClr val="282828"/>
                </a:solidFill>
              </a:rPr>
              <a:t>Engenharia</a:t>
            </a:r>
            <a:r>
              <a:rPr sz="1200" dirty="0">
                <a:solidFill>
                  <a:srgbClr val="282828"/>
                </a:solidFill>
              </a:rPr>
              <a:t>/PCM).</a:t>
            </a:r>
          </a:p>
          <a:p>
            <a:pPr>
              <a:spcBef>
                <a:spcPts val="800"/>
              </a:spcBef>
            </a:pPr>
            <a:r>
              <a:rPr sz="1200" b="1" dirty="0">
                <a:solidFill>
                  <a:srgbClr val="0F2043"/>
                </a:solidFill>
              </a:rPr>
              <a:t>SSD </a:t>
            </a:r>
            <a:r>
              <a:rPr sz="1200" b="1" dirty="0" err="1">
                <a:solidFill>
                  <a:srgbClr val="0F2043"/>
                </a:solidFill>
              </a:rPr>
              <a:t>NVMe</a:t>
            </a:r>
            <a:r>
              <a:rPr sz="1200" b="1" dirty="0">
                <a:solidFill>
                  <a:srgbClr val="0F2043"/>
                </a:solidFill>
              </a:rPr>
              <a:t> PCIe 4.0 (</a:t>
            </a:r>
            <a:r>
              <a:rPr sz="1200" b="1" dirty="0" err="1">
                <a:solidFill>
                  <a:srgbClr val="0F2043"/>
                </a:solidFill>
              </a:rPr>
              <a:t>Persistente</a:t>
            </a:r>
            <a:r>
              <a:rPr sz="1200" b="1" dirty="0">
                <a:solidFill>
                  <a:srgbClr val="0F2043"/>
                </a:solidFill>
              </a:rPr>
              <a:t>):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Taxas</a:t>
            </a:r>
            <a:r>
              <a:rPr sz="1200" dirty="0">
                <a:solidFill>
                  <a:srgbClr val="282828"/>
                </a:solidFill>
              </a:rPr>
              <a:t> de </a:t>
            </a:r>
            <a:r>
              <a:rPr sz="1200" dirty="0" err="1">
                <a:solidFill>
                  <a:srgbClr val="282828"/>
                </a:solidFill>
              </a:rPr>
              <a:t>leitura</a:t>
            </a:r>
            <a:r>
              <a:rPr sz="1200" dirty="0">
                <a:solidFill>
                  <a:srgbClr val="282828"/>
                </a:solidFill>
              </a:rPr>
              <a:t> de 5.000 a 7.000 MB/s. Chips Flash 100% </a:t>
            </a:r>
            <a:r>
              <a:rPr sz="1200" dirty="0" err="1">
                <a:solidFill>
                  <a:srgbClr val="282828"/>
                </a:solidFill>
              </a:rPr>
              <a:t>imunes</a:t>
            </a:r>
            <a:r>
              <a:rPr sz="1200" dirty="0">
                <a:solidFill>
                  <a:srgbClr val="282828"/>
                </a:solidFill>
              </a:rPr>
              <a:t> a </a:t>
            </a:r>
            <a:r>
              <a:rPr sz="1200" dirty="0" err="1">
                <a:solidFill>
                  <a:srgbClr val="282828"/>
                </a:solidFill>
              </a:rPr>
              <a:t>vibrações</a:t>
            </a:r>
            <a:r>
              <a:rPr sz="1200" dirty="0">
                <a:solidFill>
                  <a:srgbClr val="282828"/>
                </a:solidFill>
              </a:rPr>
              <a:t> de ferramentas </a:t>
            </a:r>
            <a:r>
              <a:rPr sz="1200" dirty="0" err="1">
                <a:solidFill>
                  <a:srgbClr val="282828"/>
                </a:solidFill>
              </a:rPr>
              <a:t>pneumáticas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em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hangares</a:t>
            </a:r>
            <a:r>
              <a:rPr sz="1200" dirty="0">
                <a:solidFill>
                  <a:srgbClr val="282828"/>
                </a:solidFill>
              </a:rPr>
              <a:t>.</a:t>
            </a:r>
          </a:p>
          <a:p>
            <a:pPr>
              <a:spcBef>
                <a:spcPts val="800"/>
              </a:spcBef>
            </a:pPr>
            <a:r>
              <a:rPr sz="1200" b="1" dirty="0">
                <a:solidFill>
                  <a:srgbClr val="0F2043"/>
                </a:solidFill>
              </a:rPr>
              <a:t>HDD </a:t>
            </a:r>
            <a:r>
              <a:rPr sz="1200" b="1" dirty="0" err="1">
                <a:solidFill>
                  <a:srgbClr val="0F2043"/>
                </a:solidFill>
              </a:rPr>
              <a:t>Mecânico</a:t>
            </a:r>
            <a:r>
              <a:rPr sz="1200" b="1" dirty="0">
                <a:solidFill>
                  <a:srgbClr val="0F2043"/>
                </a:solidFill>
              </a:rPr>
              <a:t> (</a:t>
            </a:r>
            <a:r>
              <a:rPr sz="1200" b="1" dirty="0" err="1">
                <a:solidFill>
                  <a:srgbClr val="0F2043"/>
                </a:solidFill>
              </a:rPr>
              <a:t>Obsoleto</a:t>
            </a:r>
            <a:r>
              <a:rPr sz="1200" b="1" dirty="0">
                <a:solidFill>
                  <a:srgbClr val="0F2043"/>
                </a:solidFill>
              </a:rPr>
              <a:t> </a:t>
            </a:r>
            <a:r>
              <a:rPr sz="1200" b="1" dirty="0" err="1">
                <a:solidFill>
                  <a:srgbClr val="0F2043"/>
                </a:solidFill>
              </a:rPr>
              <a:t>em</a:t>
            </a:r>
            <a:r>
              <a:rPr sz="1200" b="1" dirty="0">
                <a:solidFill>
                  <a:srgbClr val="0F2043"/>
                </a:solidFill>
              </a:rPr>
              <a:t> MRO):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Apenas</a:t>
            </a:r>
            <a:r>
              <a:rPr sz="1200" dirty="0">
                <a:solidFill>
                  <a:srgbClr val="282828"/>
                </a:solidFill>
              </a:rPr>
              <a:t> ~150 MB/s. </a:t>
            </a:r>
            <a:r>
              <a:rPr sz="1200" dirty="0" err="1">
                <a:solidFill>
                  <a:srgbClr val="282828"/>
                </a:solidFill>
              </a:rPr>
              <a:t>Possui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agulhas</a:t>
            </a:r>
            <a:r>
              <a:rPr sz="1200" dirty="0">
                <a:solidFill>
                  <a:srgbClr val="282828"/>
                </a:solidFill>
              </a:rPr>
              <a:t> e </a:t>
            </a:r>
            <a:r>
              <a:rPr sz="1200" dirty="0" err="1">
                <a:solidFill>
                  <a:srgbClr val="282828"/>
                </a:solidFill>
              </a:rPr>
              <a:t>pratos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magnéticos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móveis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extremamente</a:t>
            </a:r>
            <a:r>
              <a:rPr sz="1200" dirty="0">
                <a:solidFill>
                  <a:srgbClr val="282828"/>
                </a:solidFill>
              </a:rPr>
              <a:t> </a:t>
            </a:r>
            <a:r>
              <a:rPr sz="1200" dirty="0" err="1">
                <a:solidFill>
                  <a:srgbClr val="282828"/>
                </a:solidFill>
              </a:rPr>
              <a:t>vulneráveis</a:t>
            </a:r>
            <a:r>
              <a:rPr sz="1200" dirty="0">
                <a:solidFill>
                  <a:srgbClr val="282828"/>
                </a:solidFill>
              </a:rPr>
              <a:t> a </a:t>
            </a:r>
            <a:r>
              <a:rPr sz="1200" dirty="0" err="1">
                <a:solidFill>
                  <a:srgbClr val="282828"/>
                </a:solidFill>
              </a:rPr>
              <a:t>impactos</a:t>
            </a:r>
            <a:r>
              <a:rPr sz="1200" dirty="0">
                <a:solidFill>
                  <a:srgbClr val="282828"/>
                </a:solidFill>
              </a:rPr>
              <a:t> e </a:t>
            </a:r>
            <a:r>
              <a:rPr sz="1200" dirty="0" err="1">
                <a:solidFill>
                  <a:srgbClr val="282828"/>
                </a:solidFill>
              </a:rPr>
              <a:t>quedas</a:t>
            </a:r>
            <a:r>
              <a:rPr sz="1200" dirty="0">
                <a:solidFill>
                  <a:srgbClr val="282828"/>
                </a:solidFill>
              </a:rPr>
              <a:t>.</a:t>
            </a:r>
          </a:p>
        </p:txBody>
      </p:sp>
      <p:pic>
        <p:nvPicPr>
          <p:cNvPr id="6" name="Picture 4" descr="storage.jpg">
            <a:extLst>
              <a:ext uri="{FF2B5EF4-FFF2-40B4-BE49-F238E27FC236}">
                <a16:creationId xmlns:a16="http://schemas.microsoft.com/office/drawing/2014/main" id="{74171381-480A-A922-EB24-1A2943216B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097280"/>
            <a:ext cx="3657600" cy="3474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7177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>
          <a:extLst>
            <a:ext uri="{FF2B5EF4-FFF2-40B4-BE49-F238E27FC236}">
              <a16:creationId xmlns:a16="http://schemas.microsoft.com/office/drawing/2014/main" id="{724FDD7E-7808-71F3-4698-32824E160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>
            <a:extLst>
              <a:ext uri="{FF2B5EF4-FFF2-40B4-BE49-F238E27FC236}">
                <a16:creationId xmlns:a16="http://schemas.microsoft.com/office/drawing/2014/main" id="{51E857CF-D9D2-E9AA-6726-8FFACAFF60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pt-BR" dirty="0"/>
              <a:t>Processamento Gráfico (GPU) e Periféricos </a:t>
            </a:r>
            <a:r>
              <a:rPr lang="pt-BR" dirty="0" err="1"/>
              <a:t>Ergonomicos</a:t>
            </a:r>
            <a:endParaRPr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155D883-65D2-5A0E-2619-41FE25D19BEC}"/>
              </a:ext>
            </a:extLst>
          </p:cNvPr>
          <p:cNvSpPr/>
          <p:nvPr/>
        </p:nvSpPr>
        <p:spPr>
          <a:xfrm>
            <a:off x="548640" y="1097280"/>
            <a:ext cx="38404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617FF7AF-05F3-DF5D-50A0-9225E1629BC1}"/>
              </a:ext>
            </a:extLst>
          </p:cNvPr>
          <p:cNvSpPr txBox="1"/>
          <p:nvPr/>
        </p:nvSpPr>
        <p:spPr>
          <a:xfrm>
            <a:off x="674456" y="1504979"/>
            <a:ext cx="3657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043"/>
                </a:solidFill>
              </a:defRPr>
            </a:pPr>
            <a:r>
              <a:rPr dirty="0"/>
              <a:t>PLACA DE VÍDEO (GPU)</a:t>
            </a:r>
          </a:p>
          <a:p>
            <a:pPr>
              <a:spcBef>
                <a:spcPts val="800"/>
              </a:spcBef>
            </a:pPr>
            <a:r>
              <a:rPr sz="1100" b="1" dirty="0">
                <a:solidFill>
                  <a:srgbClr val="0F2043"/>
                </a:solidFill>
              </a:rPr>
              <a:t>• VRAM </a:t>
            </a:r>
            <a:r>
              <a:rPr sz="1100" b="1" dirty="0" err="1">
                <a:solidFill>
                  <a:srgbClr val="0F2043"/>
                </a:solidFill>
              </a:rPr>
              <a:t>Dedicada</a:t>
            </a:r>
            <a:r>
              <a:rPr sz="1100" b="1" dirty="0">
                <a:solidFill>
                  <a:srgbClr val="0F2043"/>
                </a:solidFill>
              </a:rPr>
              <a:t> (GDDR6):</a:t>
            </a:r>
            <a:r>
              <a:rPr sz="1100" dirty="0">
                <a:solidFill>
                  <a:srgbClr val="282828"/>
                </a:solidFill>
              </a:rPr>
              <a:t>  </a:t>
            </a:r>
            <a:r>
              <a:rPr sz="1100" dirty="0" err="1">
                <a:solidFill>
                  <a:srgbClr val="282828"/>
                </a:solidFill>
              </a:rPr>
              <a:t>Permite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rotação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fluida</a:t>
            </a:r>
            <a:r>
              <a:rPr sz="1100" dirty="0">
                <a:solidFill>
                  <a:srgbClr val="282828"/>
                </a:solidFill>
              </a:rPr>
              <a:t> de </a:t>
            </a:r>
            <a:r>
              <a:rPr sz="1100" dirty="0" err="1">
                <a:solidFill>
                  <a:srgbClr val="282828"/>
                </a:solidFill>
              </a:rPr>
              <a:t>modelos</a:t>
            </a:r>
            <a:r>
              <a:rPr sz="1100" dirty="0">
                <a:solidFill>
                  <a:srgbClr val="282828"/>
                </a:solidFill>
              </a:rPr>
              <a:t> CAD 3D de </a:t>
            </a:r>
            <a:r>
              <a:rPr sz="1100" dirty="0" err="1">
                <a:solidFill>
                  <a:srgbClr val="282828"/>
                </a:solidFill>
              </a:rPr>
              <a:t>turbinas</a:t>
            </a:r>
            <a:r>
              <a:rPr sz="1100" dirty="0">
                <a:solidFill>
                  <a:srgbClr val="282828"/>
                </a:solidFill>
              </a:rPr>
              <a:t> e </a:t>
            </a:r>
            <a:r>
              <a:rPr sz="1100" dirty="0" err="1">
                <a:solidFill>
                  <a:srgbClr val="282828"/>
                </a:solidFill>
              </a:rPr>
              <a:t>fuselagens</a:t>
            </a:r>
            <a:r>
              <a:rPr sz="1100" dirty="0">
                <a:solidFill>
                  <a:srgbClr val="282828"/>
                </a:solidFill>
              </a:rPr>
              <a:t>.</a:t>
            </a:r>
          </a:p>
          <a:p>
            <a:pPr>
              <a:spcBef>
                <a:spcPts val="800"/>
              </a:spcBef>
            </a:pPr>
            <a:r>
              <a:rPr sz="1100" b="1" dirty="0">
                <a:solidFill>
                  <a:srgbClr val="0F2043"/>
                </a:solidFill>
              </a:rPr>
              <a:t>• GPU </a:t>
            </a:r>
            <a:r>
              <a:rPr sz="1100" b="1" dirty="0" err="1">
                <a:solidFill>
                  <a:srgbClr val="0F2043"/>
                </a:solidFill>
              </a:rPr>
              <a:t>Integrada</a:t>
            </a:r>
            <a:r>
              <a:rPr sz="1100" b="1" dirty="0">
                <a:solidFill>
                  <a:srgbClr val="0F2043"/>
                </a:solidFill>
              </a:rPr>
              <a:t> vs. </a:t>
            </a:r>
            <a:r>
              <a:rPr sz="1100" b="1" dirty="0" err="1">
                <a:solidFill>
                  <a:srgbClr val="0F2043"/>
                </a:solidFill>
              </a:rPr>
              <a:t>Dedicada</a:t>
            </a:r>
            <a:r>
              <a:rPr sz="1100" b="1" dirty="0">
                <a:solidFill>
                  <a:srgbClr val="0F2043"/>
                </a:solidFill>
              </a:rPr>
              <a:t>:</a:t>
            </a:r>
            <a:r>
              <a:rPr sz="1100" dirty="0">
                <a:solidFill>
                  <a:srgbClr val="282828"/>
                </a:solidFill>
              </a:rPr>
              <a:t>  </a:t>
            </a:r>
            <a:r>
              <a:rPr sz="1100" dirty="0" err="1">
                <a:solidFill>
                  <a:srgbClr val="282828"/>
                </a:solidFill>
              </a:rPr>
              <a:t>Vídeo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integrado</a:t>
            </a:r>
            <a:r>
              <a:rPr sz="1100" dirty="0">
                <a:solidFill>
                  <a:srgbClr val="282828"/>
                </a:solidFill>
              </a:rPr>
              <a:t> (Intel Iris Xe) </a:t>
            </a:r>
            <a:r>
              <a:rPr sz="1100" dirty="0" err="1">
                <a:solidFill>
                  <a:srgbClr val="282828"/>
                </a:solidFill>
              </a:rPr>
              <a:t>atende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diagramas</a:t>
            </a:r>
            <a:r>
              <a:rPr sz="1100" dirty="0">
                <a:solidFill>
                  <a:srgbClr val="282828"/>
                </a:solidFill>
              </a:rPr>
              <a:t> 2D; GPU </a:t>
            </a:r>
            <a:r>
              <a:rPr sz="1100" dirty="0" err="1">
                <a:solidFill>
                  <a:srgbClr val="282828"/>
                </a:solidFill>
              </a:rPr>
              <a:t>dedicada</a:t>
            </a:r>
            <a:r>
              <a:rPr sz="1100" dirty="0">
                <a:solidFill>
                  <a:srgbClr val="282828"/>
                </a:solidFill>
              </a:rPr>
              <a:t> (NVIDIA RTX) é </a:t>
            </a:r>
            <a:r>
              <a:rPr sz="1100" dirty="0" err="1">
                <a:solidFill>
                  <a:srgbClr val="282828"/>
                </a:solidFill>
              </a:rPr>
              <a:t>necessária</a:t>
            </a:r>
            <a:r>
              <a:rPr sz="1100" dirty="0">
                <a:solidFill>
                  <a:srgbClr val="282828"/>
                </a:solidFill>
              </a:rPr>
              <a:t> para </a:t>
            </a:r>
            <a:r>
              <a:rPr sz="1100" dirty="0" err="1">
                <a:solidFill>
                  <a:srgbClr val="282828"/>
                </a:solidFill>
              </a:rPr>
              <a:t>engenharia</a:t>
            </a:r>
            <a:r>
              <a:rPr sz="1100" dirty="0">
                <a:solidFill>
                  <a:srgbClr val="282828"/>
                </a:solidFill>
              </a:rPr>
              <a:t> 3D.</a:t>
            </a:r>
          </a:p>
          <a:p>
            <a:pPr>
              <a:spcBef>
                <a:spcPts val="800"/>
              </a:spcBef>
            </a:pPr>
            <a:r>
              <a:rPr sz="1100" b="1" dirty="0">
                <a:solidFill>
                  <a:srgbClr val="0F2043"/>
                </a:solidFill>
              </a:rPr>
              <a:t>• </a:t>
            </a:r>
            <a:r>
              <a:rPr sz="1100" b="1" dirty="0" err="1">
                <a:solidFill>
                  <a:srgbClr val="0F2043"/>
                </a:solidFill>
              </a:rPr>
              <a:t>Liberação</a:t>
            </a:r>
            <a:r>
              <a:rPr sz="1100" b="1" dirty="0">
                <a:solidFill>
                  <a:srgbClr val="0F2043"/>
                </a:solidFill>
              </a:rPr>
              <a:t> do </a:t>
            </a:r>
            <a:r>
              <a:rPr sz="1100" b="1" dirty="0" err="1">
                <a:solidFill>
                  <a:srgbClr val="0F2043"/>
                </a:solidFill>
              </a:rPr>
              <a:t>Processador</a:t>
            </a:r>
            <a:r>
              <a:rPr sz="1100" b="1" dirty="0">
                <a:solidFill>
                  <a:srgbClr val="0F2043"/>
                </a:solidFill>
              </a:rPr>
              <a:t>:</a:t>
            </a:r>
            <a:r>
              <a:rPr sz="1100" dirty="0">
                <a:solidFill>
                  <a:srgbClr val="282828"/>
                </a:solidFill>
              </a:rPr>
              <a:t>  A GPU </a:t>
            </a:r>
            <a:r>
              <a:rPr sz="1100" dirty="0" err="1">
                <a:solidFill>
                  <a:srgbClr val="282828"/>
                </a:solidFill>
              </a:rPr>
              <a:t>realiza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os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cálculos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geométricos</a:t>
            </a:r>
            <a:r>
              <a:rPr sz="1100" dirty="0">
                <a:solidFill>
                  <a:srgbClr val="282828"/>
                </a:solidFill>
              </a:rPr>
              <a:t> de </a:t>
            </a:r>
            <a:r>
              <a:rPr sz="1100" dirty="0" err="1">
                <a:solidFill>
                  <a:srgbClr val="282828"/>
                </a:solidFill>
              </a:rPr>
              <a:t>renderização</a:t>
            </a:r>
            <a:r>
              <a:rPr sz="1100" dirty="0">
                <a:solidFill>
                  <a:srgbClr val="282828"/>
                </a:solidFill>
              </a:rPr>
              <a:t>, </a:t>
            </a:r>
            <a:r>
              <a:rPr sz="1100" dirty="0" err="1">
                <a:solidFill>
                  <a:srgbClr val="282828"/>
                </a:solidFill>
              </a:rPr>
              <a:t>liberando</a:t>
            </a:r>
            <a:r>
              <a:rPr sz="1100" dirty="0">
                <a:solidFill>
                  <a:srgbClr val="282828"/>
                </a:solidFill>
              </a:rPr>
              <a:t> a CPU para a </a:t>
            </a:r>
            <a:r>
              <a:rPr sz="1100" dirty="0" err="1">
                <a:solidFill>
                  <a:srgbClr val="282828"/>
                </a:solidFill>
              </a:rPr>
              <a:t>lógica</a:t>
            </a:r>
            <a:r>
              <a:rPr sz="1100" dirty="0">
                <a:solidFill>
                  <a:srgbClr val="282828"/>
                </a:solidFill>
              </a:rPr>
              <a:t> de </a:t>
            </a:r>
            <a:r>
              <a:rPr sz="1100" dirty="0" err="1">
                <a:solidFill>
                  <a:srgbClr val="282828"/>
                </a:solidFill>
              </a:rPr>
              <a:t>programas</a:t>
            </a:r>
            <a:r>
              <a:rPr sz="1100" dirty="0">
                <a:solidFill>
                  <a:srgbClr val="282828"/>
                </a:solidFill>
              </a:rPr>
              <a:t>.</a:t>
            </a:r>
          </a:p>
        </p:txBody>
      </p:sp>
      <p:sp>
        <p:nvSpPr>
          <p:cNvPr id="8" name="Rounded Rectangle 5">
            <a:extLst>
              <a:ext uri="{FF2B5EF4-FFF2-40B4-BE49-F238E27FC236}">
                <a16:creationId xmlns:a16="http://schemas.microsoft.com/office/drawing/2014/main" id="{A16EB2C1-A011-B80C-2486-DB0DA9B7E766}"/>
              </a:ext>
            </a:extLst>
          </p:cNvPr>
          <p:cNvSpPr/>
          <p:nvPr/>
        </p:nvSpPr>
        <p:spPr>
          <a:xfrm>
            <a:off x="4754880" y="1097280"/>
            <a:ext cx="38404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CD73EFB1-B25E-3A92-741A-876D7D8E7DC0}"/>
              </a:ext>
            </a:extLst>
          </p:cNvPr>
          <p:cNvSpPr txBox="1"/>
          <p:nvPr/>
        </p:nvSpPr>
        <p:spPr>
          <a:xfrm>
            <a:off x="4880696" y="1504979"/>
            <a:ext cx="3657600" cy="2564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043"/>
                </a:solidFill>
              </a:defRPr>
            </a:pPr>
            <a:r>
              <a:rPr dirty="0"/>
              <a:t>PERIFÉRICOS &amp; ERGONOMIA</a:t>
            </a:r>
          </a:p>
          <a:p>
            <a:pPr>
              <a:spcBef>
                <a:spcPts val="800"/>
              </a:spcBef>
            </a:pPr>
            <a:r>
              <a:rPr sz="1100" b="1" dirty="0">
                <a:solidFill>
                  <a:srgbClr val="0F2043"/>
                </a:solidFill>
              </a:rPr>
              <a:t>• </a:t>
            </a:r>
            <a:r>
              <a:rPr sz="1100" b="1" dirty="0" err="1">
                <a:solidFill>
                  <a:srgbClr val="0F2043"/>
                </a:solidFill>
              </a:rPr>
              <a:t>Monitores</a:t>
            </a:r>
            <a:r>
              <a:rPr sz="1100" b="1" dirty="0">
                <a:solidFill>
                  <a:srgbClr val="0F2043"/>
                </a:solidFill>
              </a:rPr>
              <a:t> </a:t>
            </a:r>
            <a:r>
              <a:rPr sz="1100" b="1" dirty="0" err="1">
                <a:solidFill>
                  <a:srgbClr val="0F2043"/>
                </a:solidFill>
              </a:rPr>
              <a:t>Duplos</a:t>
            </a:r>
            <a:r>
              <a:rPr sz="1100" b="1" dirty="0">
                <a:solidFill>
                  <a:srgbClr val="0F2043"/>
                </a:solidFill>
              </a:rPr>
              <a:t> (QHD):</a:t>
            </a:r>
            <a:r>
              <a:rPr sz="1100" dirty="0">
                <a:solidFill>
                  <a:srgbClr val="282828"/>
                </a:solidFill>
              </a:rPr>
              <a:t>  </a:t>
            </a:r>
            <a:r>
              <a:rPr sz="1100" dirty="0" err="1">
                <a:solidFill>
                  <a:srgbClr val="282828"/>
                </a:solidFill>
              </a:rPr>
              <a:t>Permitem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comparar</a:t>
            </a:r>
            <a:r>
              <a:rPr sz="1100" dirty="0">
                <a:solidFill>
                  <a:srgbClr val="282828"/>
                </a:solidFill>
              </a:rPr>
              <a:t> o manual </a:t>
            </a:r>
            <a:r>
              <a:rPr sz="1100" dirty="0" err="1">
                <a:solidFill>
                  <a:srgbClr val="282828"/>
                </a:solidFill>
              </a:rPr>
              <a:t>estrutural</a:t>
            </a:r>
            <a:r>
              <a:rPr sz="1100" dirty="0">
                <a:solidFill>
                  <a:srgbClr val="282828"/>
                </a:solidFill>
              </a:rPr>
              <a:t> (SRM) </a:t>
            </a:r>
            <a:r>
              <a:rPr sz="1100" dirty="0" err="1">
                <a:solidFill>
                  <a:srgbClr val="282828"/>
                </a:solidFill>
              </a:rPr>
              <a:t>em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uma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tela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enquanto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elabora</a:t>
            </a:r>
            <a:r>
              <a:rPr sz="1100" dirty="0">
                <a:solidFill>
                  <a:srgbClr val="282828"/>
                </a:solidFill>
              </a:rPr>
              <a:t> a </a:t>
            </a:r>
            <a:r>
              <a:rPr sz="1100" dirty="0" err="1">
                <a:solidFill>
                  <a:srgbClr val="282828"/>
                </a:solidFill>
              </a:rPr>
              <a:t>Ordem</a:t>
            </a:r>
            <a:r>
              <a:rPr sz="1100" dirty="0">
                <a:solidFill>
                  <a:srgbClr val="282828"/>
                </a:solidFill>
              </a:rPr>
              <a:t> de </a:t>
            </a:r>
            <a:r>
              <a:rPr sz="1100" dirty="0" err="1">
                <a:solidFill>
                  <a:srgbClr val="282828"/>
                </a:solidFill>
              </a:rPr>
              <a:t>Serviço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na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outra</a:t>
            </a:r>
            <a:r>
              <a:rPr sz="1100" dirty="0">
                <a:solidFill>
                  <a:srgbClr val="282828"/>
                </a:solidFill>
              </a:rPr>
              <a:t>.</a:t>
            </a:r>
          </a:p>
          <a:p>
            <a:pPr>
              <a:spcBef>
                <a:spcPts val="800"/>
              </a:spcBef>
            </a:pPr>
            <a:r>
              <a:rPr sz="1100" b="1" dirty="0">
                <a:solidFill>
                  <a:srgbClr val="0F2043"/>
                </a:solidFill>
              </a:rPr>
              <a:t>• </a:t>
            </a:r>
            <a:r>
              <a:rPr sz="1100" b="1" dirty="0" err="1">
                <a:solidFill>
                  <a:srgbClr val="0F2043"/>
                </a:solidFill>
              </a:rPr>
              <a:t>Tratamento</a:t>
            </a:r>
            <a:r>
              <a:rPr sz="1100" b="1" dirty="0">
                <a:solidFill>
                  <a:srgbClr val="0F2043"/>
                </a:solidFill>
              </a:rPr>
              <a:t> </a:t>
            </a:r>
            <a:r>
              <a:rPr sz="1100" b="1" dirty="0" err="1">
                <a:solidFill>
                  <a:srgbClr val="0F2043"/>
                </a:solidFill>
              </a:rPr>
              <a:t>Antirreflexo</a:t>
            </a:r>
            <a:r>
              <a:rPr sz="1100" b="1" dirty="0">
                <a:solidFill>
                  <a:srgbClr val="0F2043"/>
                </a:solidFill>
              </a:rPr>
              <a:t> (Matte):</a:t>
            </a:r>
            <a:r>
              <a:rPr sz="1100" dirty="0">
                <a:solidFill>
                  <a:srgbClr val="282828"/>
                </a:solidFill>
              </a:rPr>
              <a:t>  </a:t>
            </a:r>
            <a:r>
              <a:rPr sz="1100" dirty="0" err="1">
                <a:solidFill>
                  <a:srgbClr val="282828"/>
                </a:solidFill>
              </a:rPr>
              <a:t>Essencial</a:t>
            </a:r>
            <a:r>
              <a:rPr sz="1100" dirty="0">
                <a:solidFill>
                  <a:srgbClr val="282828"/>
                </a:solidFill>
              </a:rPr>
              <a:t> contra a forte </a:t>
            </a:r>
            <a:r>
              <a:rPr sz="1100" dirty="0" err="1">
                <a:solidFill>
                  <a:srgbClr val="282828"/>
                </a:solidFill>
              </a:rPr>
              <a:t>iluminação</a:t>
            </a:r>
            <a:r>
              <a:rPr sz="1100" dirty="0">
                <a:solidFill>
                  <a:srgbClr val="282828"/>
                </a:solidFill>
              </a:rPr>
              <a:t> industrial dos </a:t>
            </a:r>
            <a:r>
              <a:rPr sz="1100" dirty="0" err="1">
                <a:solidFill>
                  <a:srgbClr val="282828"/>
                </a:solidFill>
              </a:rPr>
              <a:t>galpões</a:t>
            </a:r>
            <a:r>
              <a:rPr sz="1100" dirty="0">
                <a:solidFill>
                  <a:srgbClr val="282828"/>
                </a:solidFill>
              </a:rPr>
              <a:t> de hangar.</a:t>
            </a:r>
          </a:p>
          <a:p>
            <a:pPr>
              <a:spcBef>
                <a:spcPts val="800"/>
              </a:spcBef>
            </a:pPr>
            <a:r>
              <a:rPr sz="1100" b="1" dirty="0">
                <a:solidFill>
                  <a:srgbClr val="0F2043"/>
                </a:solidFill>
              </a:rPr>
              <a:t>• </a:t>
            </a:r>
            <a:r>
              <a:rPr sz="1100" b="1" dirty="0" err="1">
                <a:solidFill>
                  <a:srgbClr val="0F2043"/>
                </a:solidFill>
              </a:rPr>
              <a:t>Teclado</a:t>
            </a:r>
            <a:r>
              <a:rPr sz="1100" b="1" dirty="0">
                <a:solidFill>
                  <a:srgbClr val="0F2043"/>
                </a:solidFill>
              </a:rPr>
              <a:t> </a:t>
            </a:r>
            <a:r>
              <a:rPr sz="1100" b="1" dirty="0" err="1">
                <a:solidFill>
                  <a:srgbClr val="0F2043"/>
                </a:solidFill>
              </a:rPr>
              <a:t>Numérico</a:t>
            </a:r>
            <a:r>
              <a:rPr sz="1100" b="1" dirty="0">
                <a:solidFill>
                  <a:srgbClr val="0F2043"/>
                </a:solidFill>
              </a:rPr>
              <a:t> </a:t>
            </a:r>
            <a:r>
              <a:rPr sz="1100" b="1" dirty="0" err="1">
                <a:solidFill>
                  <a:srgbClr val="0F2043"/>
                </a:solidFill>
              </a:rPr>
              <a:t>Dedicado</a:t>
            </a:r>
            <a:r>
              <a:rPr sz="1100" b="1" dirty="0">
                <a:solidFill>
                  <a:srgbClr val="0F2043"/>
                </a:solidFill>
              </a:rPr>
              <a:t>:</a:t>
            </a:r>
            <a:r>
              <a:rPr sz="1100" dirty="0">
                <a:solidFill>
                  <a:srgbClr val="282828"/>
                </a:solidFill>
              </a:rPr>
              <a:t>  Acelera a </a:t>
            </a:r>
            <a:r>
              <a:rPr sz="1100" dirty="0" err="1">
                <a:solidFill>
                  <a:srgbClr val="282828"/>
                </a:solidFill>
              </a:rPr>
              <a:t>digitação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constante</a:t>
            </a:r>
            <a:r>
              <a:rPr sz="1100" dirty="0">
                <a:solidFill>
                  <a:srgbClr val="282828"/>
                </a:solidFill>
              </a:rPr>
              <a:t> de </a:t>
            </a:r>
            <a:r>
              <a:rPr sz="1100" dirty="0" err="1">
                <a:solidFill>
                  <a:srgbClr val="282828"/>
                </a:solidFill>
              </a:rPr>
              <a:t>códigos</a:t>
            </a:r>
            <a:r>
              <a:rPr sz="1100" dirty="0">
                <a:solidFill>
                  <a:srgbClr val="282828"/>
                </a:solidFill>
              </a:rPr>
              <a:t> e Part Numbers de </a:t>
            </a:r>
            <a:r>
              <a:rPr sz="1100" dirty="0" err="1">
                <a:solidFill>
                  <a:srgbClr val="282828"/>
                </a:solidFill>
              </a:rPr>
              <a:t>peças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aeronáuticas</a:t>
            </a:r>
            <a:r>
              <a:rPr sz="1100" dirty="0">
                <a:solidFill>
                  <a:srgbClr val="282828"/>
                </a:solidFill>
              </a:rPr>
              <a:t>.</a:t>
            </a:r>
          </a:p>
          <a:p>
            <a:pPr>
              <a:spcBef>
                <a:spcPts val="800"/>
              </a:spcBef>
            </a:pPr>
            <a:r>
              <a:rPr sz="1100" b="1" dirty="0">
                <a:solidFill>
                  <a:srgbClr val="0F2043"/>
                </a:solidFill>
              </a:rPr>
              <a:t>• </a:t>
            </a:r>
            <a:r>
              <a:rPr sz="1100" b="1" dirty="0" err="1">
                <a:solidFill>
                  <a:srgbClr val="0F2043"/>
                </a:solidFill>
              </a:rPr>
              <a:t>Conectividade</a:t>
            </a:r>
            <a:r>
              <a:rPr sz="1100" b="1" dirty="0">
                <a:solidFill>
                  <a:srgbClr val="0F2043"/>
                </a:solidFill>
              </a:rPr>
              <a:t> I/O:</a:t>
            </a:r>
            <a:r>
              <a:rPr sz="1100" dirty="0">
                <a:solidFill>
                  <a:srgbClr val="282828"/>
                </a:solidFill>
              </a:rPr>
              <a:t>  Portas USB 3.2 e Ethernet Gigabit para </a:t>
            </a:r>
            <a:r>
              <a:rPr sz="1100" dirty="0" err="1">
                <a:solidFill>
                  <a:srgbClr val="282828"/>
                </a:solidFill>
              </a:rPr>
              <a:t>sincronização</a:t>
            </a:r>
            <a:r>
              <a:rPr sz="1100" dirty="0">
                <a:solidFill>
                  <a:srgbClr val="282828"/>
                </a:solidFill>
              </a:rPr>
              <a:t> com </a:t>
            </a:r>
            <a:r>
              <a:rPr sz="1100" dirty="0" err="1">
                <a:solidFill>
                  <a:srgbClr val="282828"/>
                </a:solidFill>
              </a:rPr>
              <a:t>instrumentos</a:t>
            </a:r>
            <a:r>
              <a:rPr sz="1100" dirty="0">
                <a:solidFill>
                  <a:srgbClr val="282828"/>
                </a:solidFill>
              </a:rPr>
              <a:t> de </a:t>
            </a:r>
            <a:r>
              <a:rPr sz="1100" dirty="0" err="1">
                <a:solidFill>
                  <a:srgbClr val="282828"/>
                </a:solidFill>
              </a:rPr>
              <a:t>bancada</a:t>
            </a:r>
            <a:r>
              <a:rPr sz="1100" dirty="0">
                <a:solidFill>
                  <a:srgbClr val="282828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90584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>
          <a:extLst>
            <a:ext uri="{FF2B5EF4-FFF2-40B4-BE49-F238E27FC236}">
              <a16:creationId xmlns:a16="http://schemas.microsoft.com/office/drawing/2014/main" id="{DB84E550-9FE6-F93C-B9AB-201FAC2CF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>
            <a:extLst>
              <a:ext uri="{FF2B5EF4-FFF2-40B4-BE49-F238E27FC236}">
                <a16:creationId xmlns:a16="http://schemas.microsoft.com/office/drawing/2014/main" id="{7A21F337-3FF3-247C-D678-52CB92B5C7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pt-BR" dirty="0"/>
              <a:t>Especificação 1 — Estação para Hangar &amp; Oficina MRO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DCF245-0C14-62B9-9A69-9B2071E666E8}"/>
              </a:ext>
            </a:extLst>
          </p:cNvPr>
          <p:cNvSpPr txBox="1"/>
          <p:nvPr/>
        </p:nvSpPr>
        <p:spPr>
          <a:xfrm>
            <a:off x="548640" y="1005840"/>
            <a:ext cx="4206240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100" b="1" dirty="0">
                <a:solidFill>
                  <a:srgbClr val="0F2043"/>
                </a:solidFill>
              </a:rPr>
              <a:t>• CPU:</a:t>
            </a:r>
            <a:r>
              <a:rPr sz="1100" dirty="0">
                <a:solidFill>
                  <a:srgbClr val="282828"/>
                </a:solidFill>
              </a:rPr>
              <a:t>  Intel Core i5 / AMD Ryzen 5 (6 Cores / 12 Threads)</a:t>
            </a:r>
          </a:p>
          <a:p>
            <a:pPr>
              <a:spcBef>
                <a:spcPts val="600"/>
              </a:spcBef>
            </a:pPr>
            <a:r>
              <a:rPr sz="1100" b="1" dirty="0">
                <a:solidFill>
                  <a:srgbClr val="0F2043"/>
                </a:solidFill>
              </a:rPr>
              <a:t>• RAM:</a:t>
            </a:r>
            <a:r>
              <a:rPr sz="1100" dirty="0">
                <a:solidFill>
                  <a:srgbClr val="282828"/>
                </a:solidFill>
              </a:rPr>
              <a:t>  16 GB DDR4 3200 MHz</a:t>
            </a:r>
          </a:p>
          <a:p>
            <a:pPr>
              <a:spcBef>
                <a:spcPts val="600"/>
              </a:spcBef>
            </a:pPr>
            <a:r>
              <a:rPr sz="1100" b="1" dirty="0">
                <a:solidFill>
                  <a:srgbClr val="0F2043"/>
                </a:solidFill>
              </a:rPr>
              <a:t>• </a:t>
            </a:r>
            <a:r>
              <a:rPr sz="1100" b="1" dirty="0" err="1">
                <a:solidFill>
                  <a:srgbClr val="0F2043"/>
                </a:solidFill>
              </a:rPr>
              <a:t>Armazenamento</a:t>
            </a:r>
            <a:r>
              <a:rPr sz="1100" b="1" dirty="0">
                <a:solidFill>
                  <a:srgbClr val="0F2043"/>
                </a:solidFill>
              </a:rPr>
              <a:t>:</a:t>
            </a:r>
            <a:r>
              <a:rPr sz="1100" dirty="0">
                <a:solidFill>
                  <a:srgbClr val="282828"/>
                </a:solidFill>
              </a:rPr>
              <a:t>  SSD </a:t>
            </a:r>
            <a:r>
              <a:rPr sz="1100" dirty="0" err="1">
                <a:solidFill>
                  <a:srgbClr val="282828"/>
                </a:solidFill>
              </a:rPr>
              <a:t>NVMe</a:t>
            </a:r>
            <a:r>
              <a:rPr sz="1100" dirty="0">
                <a:solidFill>
                  <a:srgbClr val="282828"/>
                </a:solidFill>
              </a:rPr>
              <a:t> M.2 512 GB PCIe 3.0/4.0</a:t>
            </a:r>
          </a:p>
          <a:p>
            <a:pPr>
              <a:spcBef>
                <a:spcPts val="600"/>
              </a:spcBef>
            </a:pPr>
            <a:r>
              <a:rPr sz="1100" b="1" dirty="0">
                <a:solidFill>
                  <a:srgbClr val="0F2043"/>
                </a:solidFill>
              </a:rPr>
              <a:t>• GPU:</a:t>
            </a:r>
            <a:r>
              <a:rPr sz="1100" dirty="0">
                <a:solidFill>
                  <a:srgbClr val="282828"/>
                </a:solidFill>
              </a:rPr>
              <a:t>  </a:t>
            </a:r>
            <a:r>
              <a:rPr sz="1100" dirty="0" err="1">
                <a:solidFill>
                  <a:srgbClr val="282828"/>
                </a:solidFill>
              </a:rPr>
              <a:t>Vídeo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Integrado</a:t>
            </a:r>
            <a:r>
              <a:rPr sz="1100" dirty="0">
                <a:solidFill>
                  <a:srgbClr val="282828"/>
                </a:solidFill>
              </a:rPr>
              <a:t> (Intel Iris Xe / AMD Radeon Vega)</a:t>
            </a:r>
          </a:p>
          <a:p>
            <a:pPr>
              <a:spcBef>
                <a:spcPts val="600"/>
              </a:spcBef>
            </a:pPr>
            <a:r>
              <a:rPr sz="1100" b="1" dirty="0">
                <a:solidFill>
                  <a:srgbClr val="0F2043"/>
                </a:solidFill>
              </a:rPr>
              <a:t>• Monitor:</a:t>
            </a:r>
            <a:r>
              <a:rPr sz="1100" dirty="0">
                <a:solidFill>
                  <a:srgbClr val="282828"/>
                </a:solidFill>
              </a:rPr>
              <a:t>  24" Full HD com </a:t>
            </a:r>
            <a:r>
              <a:rPr sz="1100" dirty="0" err="1">
                <a:solidFill>
                  <a:srgbClr val="282828"/>
                </a:solidFill>
              </a:rPr>
              <a:t>Tratamento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Antirreflexo</a:t>
            </a:r>
            <a:r>
              <a:rPr sz="1100" dirty="0">
                <a:solidFill>
                  <a:srgbClr val="282828"/>
                </a:solidFill>
              </a:rPr>
              <a:t> (Matte)</a:t>
            </a:r>
          </a:p>
          <a:p>
            <a:pPr>
              <a:spcBef>
                <a:spcPts val="600"/>
              </a:spcBef>
            </a:pPr>
            <a:r>
              <a:rPr sz="1100" b="1" dirty="0">
                <a:solidFill>
                  <a:srgbClr val="0F2043"/>
                </a:solidFill>
              </a:rPr>
              <a:t>• </a:t>
            </a:r>
            <a:r>
              <a:rPr sz="1100" b="1" dirty="0" err="1">
                <a:solidFill>
                  <a:srgbClr val="0F2043"/>
                </a:solidFill>
              </a:rPr>
              <a:t>Justificativa</a:t>
            </a:r>
            <a:r>
              <a:rPr sz="1100" b="1" dirty="0">
                <a:solidFill>
                  <a:srgbClr val="0F2043"/>
                </a:solidFill>
              </a:rPr>
              <a:t> Técnica:</a:t>
            </a:r>
            <a:r>
              <a:rPr sz="1100" dirty="0">
                <a:solidFill>
                  <a:srgbClr val="282828"/>
                </a:solidFill>
              </a:rPr>
              <a:t>  </a:t>
            </a:r>
            <a:r>
              <a:rPr sz="1100" dirty="0" err="1">
                <a:solidFill>
                  <a:srgbClr val="282828"/>
                </a:solidFill>
              </a:rPr>
              <a:t>Manuais</a:t>
            </a:r>
            <a:r>
              <a:rPr sz="1100" dirty="0">
                <a:solidFill>
                  <a:srgbClr val="282828"/>
                </a:solidFill>
              </a:rPr>
              <a:t> AMM </a:t>
            </a:r>
            <a:r>
              <a:rPr sz="1100" dirty="0" err="1">
                <a:solidFill>
                  <a:srgbClr val="282828"/>
                </a:solidFill>
              </a:rPr>
              <a:t>ocupam</a:t>
            </a:r>
            <a:r>
              <a:rPr sz="1100" dirty="0">
                <a:solidFill>
                  <a:srgbClr val="282828"/>
                </a:solidFill>
              </a:rPr>
              <a:t> 2 a 4 GB de RAM </a:t>
            </a:r>
            <a:r>
              <a:rPr sz="1100" dirty="0" err="1">
                <a:solidFill>
                  <a:srgbClr val="282828"/>
                </a:solidFill>
              </a:rPr>
              <a:t>ao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renderizar</a:t>
            </a:r>
            <a:r>
              <a:rPr sz="1100" dirty="0">
                <a:solidFill>
                  <a:srgbClr val="282828"/>
                </a:solidFill>
              </a:rPr>
              <a:t> PDF </a:t>
            </a:r>
            <a:r>
              <a:rPr sz="1100" dirty="0" err="1">
                <a:solidFill>
                  <a:srgbClr val="282828"/>
                </a:solidFill>
              </a:rPr>
              <a:t>vetorial</a:t>
            </a:r>
            <a:r>
              <a:rPr sz="1100" dirty="0">
                <a:solidFill>
                  <a:srgbClr val="282828"/>
                </a:solidFill>
              </a:rPr>
              <a:t>. 16 GB </a:t>
            </a:r>
            <a:r>
              <a:rPr sz="1100" dirty="0" err="1">
                <a:solidFill>
                  <a:srgbClr val="282828"/>
                </a:solidFill>
              </a:rPr>
              <a:t>garante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alternância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fluida</a:t>
            </a:r>
            <a:r>
              <a:rPr sz="1100" dirty="0">
                <a:solidFill>
                  <a:srgbClr val="282828"/>
                </a:solidFill>
              </a:rPr>
              <a:t> com o </a:t>
            </a:r>
            <a:r>
              <a:rPr sz="1100" dirty="0" err="1">
                <a:solidFill>
                  <a:srgbClr val="282828"/>
                </a:solidFill>
              </a:rPr>
              <a:t>sistema</a:t>
            </a:r>
            <a:r>
              <a:rPr sz="1100" dirty="0">
                <a:solidFill>
                  <a:srgbClr val="282828"/>
                </a:solidFill>
              </a:rPr>
              <a:t> MRO. O SSD </a:t>
            </a:r>
            <a:r>
              <a:rPr sz="1100" dirty="0" err="1">
                <a:solidFill>
                  <a:srgbClr val="282828"/>
                </a:solidFill>
              </a:rPr>
              <a:t>NVMe</a:t>
            </a:r>
            <a:r>
              <a:rPr sz="1100" dirty="0">
                <a:solidFill>
                  <a:srgbClr val="282828"/>
                </a:solidFill>
              </a:rPr>
              <a:t> é </a:t>
            </a:r>
            <a:r>
              <a:rPr sz="1100" dirty="0" err="1">
                <a:solidFill>
                  <a:srgbClr val="282828"/>
                </a:solidFill>
              </a:rPr>
              <a:t>resistente</a:t>
            </a:r>
            <a:r>
              <a:rPr sz="1100" dirty="0">
                <a:solidFill>
                  <a:srgbClr val="282828"/>
                </a:solidFill>
              </a:rPr>
              <a:t> a </a:t>
            </a:r>
            <a:r>
              <a:rPr sz="1100" dirty="0" err="1">
                <a:solidFill>
                  <a:srgbClr val="282828"/>
                </a:solidFill>
              </a:rPr>
              <a:t>choques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mecânicos</a:t>
            </a:r>
            <a:r>
              <a:rPr sz="1100" dirty="0">
                <a:solidFill>
                  <a:srgbClr val="282828"/>
                </a:solidFill>
              </a:rPr>
              <a:t> e </a:t>
            </a:r>
            <a:r>
              <a:rPr sz="1100" dirty="0" err="1">
                <a:solidFill>
                  <a:srgbClr val="282828"/>
                </a:solidFill>
              </a:rPr>
              <a:t>vibrações</a:t>
            </a:r>
            <a:r>
              <a:rPr sz="1100" dirty="0">
                <a:solidFill>
                  <a:srgbClr val="282828"/>
                </a:solidFill>
              </a:rPr>
              <a:t> do hangar, </a:t>
            </a:r>
            <a:r>
              <a:rPr sz="1100" dirty="0" err="1">
                <a:solidFill>
                  <a:srgbClr val="282828"/>
                </a:solidFill>
              </a:rPr>
              <a:t>carregando</a:t>
            </a:r>
            <a:r>
              <a:rPr sz="1100" dirty="0">
                <a:solidFill>
                  <a:srgbClr val="282828"/>
                </a:solidFill>
              </a:rPr>
              <a:t> o </a:t>
            </a:r>
            <a:r>
              <a:rPr sz="1100" dirty="0" err="1">
                <a:solidFill>
                  <a:srgbClr val="282828"/>
                </a:solidFill>
              </a:rPr>
              <a:t>sistema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em</a:t>
            </a:r>
            <a:r>
              <a:rPr sz="1100" dirty="0">
                <a:solidFill>
                  <a:srgbClr val="282828"/>
                </a:solidFill>
              </a:rPr>
              <a:t> 5s.</a:t>
            </a:r>
          </a:p>
        </p:txBody>
      </p:sp>
      <p:pic>
        <p:nvPicPr>
          <p:cNvPr id="6" name="Picture 4" descr="hangar.jpg">
            <a:extLst>
              <a:ext uri="{FF2B5EF4-FFF2-40B4-BE49-F238E27FC236}">
                <a16:creationId xmlns:a16="http://schemas.microsoft.com/office/drawing/2014/main" id="{34451D5A-CAB8-962B-8970-DA98298802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097280"/>
            <a:ext cx="3657600" cy="3474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14424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>
          <a:extLst>
            <a:ext uri="{FF2B5EF4-FFF2-40B4-BE49-F238E27FC236}">
              <a16:creationId xmlns:a16="http://schemas.microsoft.com/office/drawing/2014/main" id="{2AC211A0-8E98-76A6-7D78-45CCFB8D2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>
            <a:extLst>
              <a:ext uri="{FF2B5EF4-FFF2-40B4-BE49-F238E27FC236}">
                <a16:creationId xmlns:a16="http://schemas.microsoft.com/office/drawing/2014/main" id="{529B79D9-A4E1-9145-045A-547E0A1071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pt-BR" dirty="0"/>
              <a:t>Especificação 2 — Workstation de Engenharia &amp; PCM</a:t>
            </a:r>
          </a:p>
        </p:txBody>
      </p:sp>
      <p:sp>
        <p:nvSpPr>
          <p:cNvPr id="3" name="TextBox 4">
            <a:extLst>
              <a:ext uri="{FF2B5EF4-FFF2-40B4-BE49-F238E27FC236}">
                <a16:creationId xmlns:a16="http://schemas.microsoft.com/office/drawing/2014/main" id="{1CDCD90B-E7E3-C0A8-1EAE-E392BEA75D51}"/>
              </a:ext>
            </a:extLst>
          </p:cNvPr>
          <p:cNvSpPr txBox="1"/>
          <p:nvPr/>
        </p:nvSpPr>
        <p:spPr>
          <a:xfrm>
            <a:off x="731520" y="1188720"/>
            <a:ext cx="7680960" cy="2362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b="1" dirty="0">
                <a:solidFill>
                  <a:srgbClr val="0F2043"/>
                </a:solidFill>
              </a:rPr>
              <a:t>• </a:t>
            </a:r>
            <a:r>
              <a:rPr b="1" dirty="0" err="1">
                <a:solidFill>
                  <a:srgbClr val="0F2043"/>
                </a:solidFill>
              </a:rPr>
              <a:t>Processador</a:t>
            </a:r>
            <a:r>
              <a:rPr b="1" dirty="0">
                <a:solidFill>
                  <a:srgbClr val="0F2043"/>
                </a:solidFill>
              </a:rPr>
              <a:t> (CPU):</a:t>
            </a:r>
            <a:r>
              <a:rPr b="1" dirty="0">
                <a:solidFill>
                  <a:srgbClr val="0072CE"/>
                </a:solidFill>
              </a:rPr>
              <a:t>  Intel Core i7/i9 </a:t>
            </a:r>
            <a:r>
              <a:rPr b="1" dirty="0" err="1">
                <a:solidFill>
                  <a:srgbClr val="0072CE"/>
                </a:solidFill>
              </a:rPr>
              <a:t>ou</a:t>
            </a:r>
            <a:r>
              <a:rPr b="1" dirty="0">
                <a:solidFill>
                  <a:srgbClr val="0072CE"/>
                </a:solidFill>
              </a:rPr>
              <a:t> Ryzen 7/9 (8 a 16 Cores, Clock Boost &gt;= 4.7 GHz)</a:t>
            </a:r>
            <a:r>
              <a:rPr sz="1100" dirty="0">
                <a:solidFill>
                  <a:srgbClr val="282828"/>
                </a:solidFill>
              </a:rPr>
              <a:t> —  Alto clock </a:t>
            </a:r>
            <a:r>
              <a:rPr sz="1100" dirty="0" err="1">
                <a:solidFill>
                  <a:srgbClr val="282828"/>
                </a:solidFill>
              </a:rPr>
              <a:t>acelerado</a:t>
            </a:r>
            <a:r>
              <a:rPr sz="1100" dirty="0">
                <a:solidFill>
                  <a:srgbClr val="282828"/>
                </a:solidFill>
              </a:rPr>
              <a:t> para CAD </a:t>
            </a:r>
            <a:r>
              <a:rPr sz="1100" dirty="0" err="1">
                <a:solidFill>
                  <a:srgbClr val="282828"/>
                </a:solidFill>
              </a:rPr>
              <a:t>paramétrico</a:t>
            </a:r>
            <a:r>
              <a:rPr sz="1100" dirty="0">
                <a:solidFill>
                  <a:srgbClr val="282828"/>
                </a:solidFill>
              </a:rPr>
              <a:t> e </a:t>
            </a:r>
            <a:r>
              <a:rPr sz="1100" dirty="0" err="1">
                <a:solidFill>
                  <a:srgbClr val="282828"/>
                </a:solidFill>
              </a:rPr>
              <a:t>múltiplos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núcleos</a:t>
            </a:r>
            <a:r>
              <a:rPr sz="1100" dirty="0">
                <a:solidFill>
                  <a:srgbClr val="282828"/>
                </a:solidFill>
              </a:rPr>
              <a:t> para </a:t>
            </a:r>
            <a:r>
              <a:rPr sz="1100" dirty="0" err="1">
                <a:solidFill>
                  <a:srgbClr val="282828"/>
                </a:solidFill>
              </a:rPr>
              <a:t>cálculo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matricial</a:t>
            </a:r>
            <a:r>
              <a:rPr sz="1100" dirty="0">
                <a:solidFill>
                  <a:srgbClr val="282828"/>
                </a:solidFill>
              </a:rPr>
              <a:t> do Excel.</a:t>
            </a:r>
          </a:p>
          <a:p>
            <a:pPr>
              <a:spcBef>
                <a:spcPts val="600"/>
              </a:spcBef>
            </a:pPr>
            <a:r>
              <a:rPr b="1" dirty="0">
                <a:solidFill>
                  <a:srgbClr val="0F2043"/>
                </a:solidFill>
              </a:rPr>
              <a:t>• </a:t>
            </a:r>
            <a:r>
              <a:rPr b="1" dirty="0" err="1">
                <a:solidFill>
                  <a:srgbClr val="0F2043"/>
                </a:solidFill>
              </a:rPr>
              <a:t>Memória</a:t>
            </a:r>
            <a:r>
              <a:rPr b="1" dirty="0">
                <a:solidFill>
                  <a:srgbClr val="0F2043"/>
                </a:solidFill>
              </a:rPr>
              <a:t> RAM:</a:t>
            </a:r>
            <a:r>
              <a:rPr b="1" dirty="0">
                <a:solidFill>
                  <a:srgbClr val="0072CE"/>
                </a:solidFill>
              </a:rPr>
              <a:t>  32 GB a 64 GB DDR5 5600 MHz (Dual Channel)</a:t>
            </a:r>
            <a:r>
              <a:rPr sz="1100" dirty="0">
                <a:solidFill>
                  <a:srgbClr val="282828"/>
                </a:solidFill>
              </a:rPr>
              <a:t> —  </a:t>
            </a:r>
            <a:r>
              <a:rPr sz="1100" dirty="0" err="1">
                <a:solidFill>
                  <a:srgbClr val="282828"/>
                </a:solidFill>
              </a:rPr>
              <a:t>Suporta</a:t>
            </a:r>
            <a:r>
              <a:rPr sz="1100" dirty="0">
                <a:solidFill>
                  <a:srgbClr val="282828"/>
                </a:solidFill>
              </a:rPr>
              <a:t> bases de </a:t>
            </a:r>
            <a:r>
              <a:rPr sz="1100" dirty="0" err="1">
                <a:solidFill>
                  <a:srgbClr val="282828"/>
                </a:solidFill>
              </a:rPr>
              <a:t>confiabilidade</a:t>
            </a:r>
            <a:r>
              <a:rPr sz="1100" dirty="0">
                <a:solidFill>
                  <a:srgbClr val="282828"/>
                </a:solidFill>
              </a:rPr>
              <a:t> com 500k+ </a:t>
            </a:r>
            <a:r>
              <a:rPr sz="1100" dirty="0" err="1">
                <a:solidFill>
                  <a:srgbClr val="282828"/>
                </a:solidFill>
              </a:rPr>
              <a:t>registros</a:t>
            </a:r>
            <a:r>
              <a:rPr sz="1100" dirty="0">
                <a:solidFill>
                  <a:srgbClr val="282828"/>
                </a:solidFill>
              </a:rPr>
              <a:t> e </a:t>
            </a:r>
            <a:r>
              <a:rPr sz="1100" dirty="0" err="1">
                <a:solidFill>
                  <a:srgbClr val="282828"/>
                </a:solidFill>
              </a:rPr>
              <a:t>montagens</a:t>
            </a:r>
            <a:r>
              <a:rPr sz="1100" dirty="0">
                <a:solidFill>
                  <a:srgbClr val="282828"/>
                </a:solidFill>
              </a:rPr>
              <a:t> 3D de </a:t>
            </a:r>
            <a:r>
              <a:rPr sz="1100" dirty="0" err="1">
                <a:solidFill>
                  <a:srgbClr val="282828"/>
                </a:solidFill>
              </a:rPr>
              <a:t>mais</a:t>
            </a:r>
            <a:r>
              <a:rPr sz="1100" dirty="0">
                <a:solidFill>
                  <a:srgbClr val="282828"/>
                </a:solidFill>
              </a:rPr>
              <a:t> de 20 GB </a:t>
            </a:r>
            <a:r>
              <a:rPr sz="1100" dirty="0" err="1">
                <a:solidFill>
                  <a:srgbClr val="282828"/>
                </a:solidFill>
              </a:rPr>
              <a:t>em</a:t>
            </a:r>
            <a:r>
              <a:rPr sz="1100" dirty="0">
                <a:solidFill>
                  <a:srgbClr val="282828"/>
                </a:solidFill>
              </a:rPr>
              <a:t> RAM.</a:t>
            </a:r>
          </a:p>
          <a:p>
            <a:pPr>
              <a:spcBef>
                <a:spcPts val="600"/>
              </a:spcBef>
            </a:pPr>
            <a:r>
              <a:rPr b="1" dirty="0">
                <a:solidFill>
                  <a:srgbClr val="0F2043"/>
                </a:solidFill>
              </a:rPr>
              <a:t>• </a:t>
            </a:r>
            <a:r>
              <a:rPr b="1" dirty="0" err="1">
                <a:solidFill>
                  <a:srgbClr val="0F2043"/>
                </a:solidFill>
              </a:rPr>
              <a:t>Armazenamento</a:t>
            </a:r>
            <a:r>
              <a:rPr b="1" dirty="0">
                <a:solidFill>
                  <a:srgbClr val="0F2043"/>
                </a:solidFill>
              </a:rPr>
              <a:t>:</a:t>
            </a:r>
            <a:r>
              <a:rPr b="1" dirty="0">
                <a:solidFill>
                  <a:srgbClr val="0072CE"/>
                </a:solidFill>
              </a:rPr>
              <a:t>  SSD </a:t>
            </a:r>
            <a:r>
              <a:rPr b="1" dirty="0" err="1">
                <a:solidFill>
                  <a:srgbClr val="0072CE"/>
                </a:solidFill>
              </a:rPr>
              <a:t>NVMe</a:t>
            </a:r>
            <a:r>
              <a:rPr b="1" dirty="0">
                <a:solidFill>
                  <a:srgbClr val="0072CE"/>
                </a:solidFill>
              </a:rPr>
              <a:t> 1 TB a 2 TB PCIe 4.0 (</a:t>
            </a:r>
            <a:r>
              <a:rPr b="1" dirty="0" err="1">
                <a:solidFill>
                  <a:srgbClr val="0072CE"/>
                </a:solidFill>
              </a:rPr>
              <a:t>Leitura</a:t>
            </a:r>
            <a:r>
              <a:rPr b="1" dirty="0">
                <a:solidFill>
                  <a:srgbClr val="0072CE"/>
                </a:solidFill>
              </a:rPr>
              <a:t> &gt;= 7.000 MB/s)</a:t>
            </a:r>
            <a:r>
              <a:rPr sz="1100" dirty="0">
                <a:solidFill>
                  <a:srgbClr val="282828"/>
                </a:solidFill>
              </a:rPr>
              <a:t> —  Alta taxa de IOPS </a:t>
            </a:r>
            <a:r>
              <a:rPr sz="1100" dirty="0" err="1">
                <a:solidFill>
                  <a:srgbClr val="282828"/>
                </a:solidFill>
              </a:rPr>
              <a:t>reduz</a:t>
            </a:r>
            <a:r>
              <a:rPr sz="1100" dirty="0">
                <a:solidFill>
                  <a:srgbClr val="282828"/>
                </a:solidFill>
              </a:rPr>
              <a:t> o tempo de </a:t>
            </a:r>
            <a:r>
              <a:rPr sz="1100" dirty="0" err="1">
                <a:solidFill>
                  <a:srgbClr val="282828"/>
                </a:solidFill>
              </a:rPr>
              <a:t>abertura</a:t>
            </a:r>
            <a:r>
              <a:rPr sz="1100" dirty="0">
                <a:solidFill>
                  <a:srgbClr val="282828"/>
                </a:solidFill>
              </a:rPr>
              <a:t> de </a:t>
            </a:r>
            <a:r>
              <a:rPr sz="1100" dirty="0" err="1">
                <a:solidFill>
                  <a:srgbClr val="282828"/>
                </a:solidFill>
              </a:rPr>
              <a:t>projetos</a:t>
            </a:r>
            <a:r>
              <a:rPr sz="1100" dirty="0">
                <a:solidFill>
                  <a:srgbClr val="282828"/>
                </a:solidFill>
              </a:rPr>
              <a:t> CAD </a:t>
            </a:r>
            <a:r>
              <a:rPr sz="1100" dirty="0" err="1">
                <a:solidFill>
                  <a:srgbClr val="282828"/>
                </a:solidFill>
              </a:rPr>
              <a:t>complexos</a:t>
            </a:r>
            <a:r>
              <a:rPr sz="1100" dirty="0">
                <a:solidFill>
                  <a:srgbClr val="282828"/>
                </a:solidFill>
              </a:rPr>
              <a:t> de </a:t>
            </a:r>
            <a:r>
              <a:rPr sz="1100" dirty="0" err="1">
                <a:solidFill>
                  <a:srgbClr val="282828"/>
                </a:solidFill>
              </a:rPr>
              <a:t>minutos</a:t>
            </a:r>
            <a:r>
              <a:rPr sz="1100" dirty="0">
                <a:solidFill>
                  <a:srgbClr val="282828"/>
                </a:solidFill>
              </a:rPr>
              <a:t> para </a:t>
            </a:r>
            <a:r>
              <a:rPr sz="1100" dirty="0" err="1">
                <a:solidFill>
                  <a:srgbClr val="282828"/>
                </a:solidFill>
              </a:rPr>
              <a:t>segundos</a:t>
            </a:r>
            <a:r>
              <a:rPr sz="1100" dirty="0">
                <a:solidFill>
                  <a:srgbClr val="282828"/>
                </a:solidFill>
              </a:rPr>
              <a:t>.</a:t>
            </a:r>
          </a:p>
          <a:p>
            <a:pPr>
              <a:spcBef>
                <a:spcPts val="600"/>
              </a:spcBef>
            </a:pPr>
            <a:r>
              <a:rPr b="1" dirty="0">
                <a:solidFill>
                  <a:srgbClr val="0F2043"/>
                </a:solidFill>
              </a:rPr>
              <a:t>• Placa de </a:t>
            </a:r>
            <a:r>
              <a:rPr b="1" dirty="0" err="1">
                <a:solidFill>
                  <a:srgbClr val="0F2043"/>
                </a:solidFill>
              </a:rPr>
              <a:t>Vídeo</a:t>
            </a:r>
            <a:r>
              <a:rPr b="1" dirty="0">
                <a:solidFill>
                  <a:srgbClr val="0F2043"/>
                </a:solidFill>
              </a:rPr>
              <a:t> (GPU):</a:t>
            </a:r>
            <a:r>
              <a:rPr b="1" dirty="0">
                <a:solidFill>
                  <a:srgbClr val="0072CE"/>
                </a:solidFill>
              </a:rPr>
              <a:t>  NVIDIA RTX </a:t>
            </a:r>
            <a:r>
              <a:rPr b="1" dirty="0" err="1">
                <a:solidFill>
                  <a:srgbClr val="0072CE"/>
                </a:solidFill>
              </a:rPr>
              <a:t>Profissional</a:t>
            </a:r>
            <a:r>
              <a:rPr b="1" dirty="0">
                <a:solidFill>
                  <a:srgbClr val="0072CE"/>
                </a:solidFill>
              </a:rPr>
              <a:t> </a:t>
            </a:r>
            <a:r>
              <a:rPr b="1" dirty="0" err="1">
                <a:solidFill>
                  <a:srgbClr val="0072CE"/>
                </a:solidFill>
              </a:rPr>
              <a:t>Dedicada</a:t>
            </a:r>
            <a:r>
              <a:rPr b="1" dirty="0">
                <a:solidFill>
                  <a:srgbClr val="0072CE"/>
                </a:solidFill>
              </a:rPr>
              <a:t> (8 a 12 GB VRAM GDDR6)</a:t>
            </a:r>
            <a:r>
              <a:rPr sz="1100" dirty="0">
                <a:solidFill>
                  <a:srgbClr val="282828"/>
                </a:solidFill>
              </a:rPr>
              <a:t> —  </a:t>
            </a:r>
            <a:r>
              <a:rPr sz="1100" dirty="0" err="1">
                <a:solidFill>
                  <a:srgbClr val="282828"/>
                </a:solidFill>
              </a:rPr>
              <a:t>Renderização</a:t>
            </a:r>
            <a:r>
              <a:rPr sz="1100" dirty="0">
                <a:solidFill>
                  <a:srgbClr val="282828"/>
                </a:solidFill>
              </a:rPr>
              <a:t> 3D de </a:t>
            </a:r>
            <a:r>
              <a:rPr sz="1100" dirty="0" err="1">
                <a:solidFill>
                  <a:srgbClr val="282828"/>
                </a:solidFill>
              </a:rPr>
              <a:t>turbinas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em</a:t>
            </a:r>
            <a:r>
              <a:rPr sz="1100" dirty="0">
                <a:solidFill>
                  <a:srgbClr val="282828"/>
                </a:solidFill>
              </a:rPr>
              <a:t> tempo real com drivers de </a:t>
            </a:r>
            <a:r>
              <a:rPr sz="1100" dirty="0" err="1">
                <a:solidFill>
                  <a:srgbClr val="282828"/>
                </a:solidFill>
              </a:rPr>
              <a:t>precisão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homologados</a:t>
            </a:r>
            <a:r>
              <a:rPr sz="1100" dirty="0">
                <a:solidFill>
                  <a:srgbClr val="282828"/>
                </a:solidFill>
              </a:rPr>
              <a:t>.</a:t>
            </a:r>
          </a:p>
          <a:p>
            <a:pPr>
              <a:spcBef>
                <a:spcPts val="600"/>
              </a:spcBef>
            </a:pPr>
            <a:r>
              <a:rPr b="1" dirty="0">
                <a:solidFill>
                  <a:srgbClr val="0F2043"/>
                </a:solidFill>
              </a:rPr>
              <a:t>• </a:t>
            </a:r>
            <a:r>
              <a:rPr b="1" dirty="0" err="1">
                <a:solidFill>
                  <a:srgbClr val="0F2043"/>
                </a:solidFill>
              </a:rPr>
              <a:t>Telas</a:t>
            </a:r>
            <a:r>
              <a:rPr b="1" dirty="0">
                <a:solidFill>
                  <a:srgbClr val="0F2043"/>
                </a:solidFill>
              </a:rPr>
              <a:t>:</a:t>
            </a:r>
            <a:r>
              <a:rPr b="1" dirty="0">
                <a:solidFill>
                  <a:srgbClr val="0072CE"/>
                </a:solidFill>
              </a:rPr>
              <a:t>  2 </a:t>
            </a:r>
            <a:r>
              <a:rPr b="1" dirty="0" err="1">
                <a:solidFill>
                  <a:srgbClr val="0072CE"/>
                </a:solidFill>
              </a:rPr>
              <a:t>Monitores</a:t>
            </a:r>
            <a:r>
              <a:rPr b="1" dirty="0">
                <a:solidFill>
                  <a:srgbClr val="0072CE"/>
                </a:solidFill>
              </a:rPr>
              <a:t> de 27" IPS QHD (2560x1440) </a:t>
            </a:r>
            <a:r>
              <a:rPr b="1" dirty="0" err="1">
                <a:solidFill>
                  <a:srgbClr val="0072CE"/>
                </a:solidFill>
              </a:rPr>
              <a:t>em</a:t>
            </a:r>
            <a:r>
              <a:rPr b="1" dirty="0">
                <a:solidFill>
                  <a:srgbClr val="0072CE"/>
                </a:solidFill>
              </a:rPr>
              <a:t> </a:t>
            </a:r>
            <a:r>
              <a:rPr b="1" dirty="0" err="1">
                <a:solidFill>
                  <a:srgbClr val="0072CE"/>
                </a:solidFill>
              </a:rPr>
              <a:t>Braço</a:t>
            </a:r>
            <a:r>
              <a:rPr b="1" dirty="0">
                <a:solidFill>
                  <a:srgbClr val="0072CE"/>
                </a:solidFill>
              </a:rPr>
              <a:t> </a:t>
            </a:r>
            <a:r>
              <a:rPr b="1" dirty="0" err="1">
                <a:solidFill>
                  <a:srgbClr val="0072CE"/>
                </a:solidFill>
              </a:rPr>
              <a:t>Articulado</a:t>
            </a:r>
            <a:r>
              <a:rPr sz="1100" dirty="0">
                <a:solidFill>
                  <a:srgbClr val="282828"/>
                </a:solidFill>
              </a:rPr>
              <a:t> —  77% </a:t>
            </a:r>
            <a:r>
              <a:rPr sz="1100" dirty="0" err="1">
                <a:solidFill>
                  <a:srgbClr val="282828"/>
                </a:solidFill>
              </a:rPr>
              <a:t>mais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área</a:t>
            </a:r>
            <a:r>
              <a:rPr sz="1100" dirty="0">
                <a:solidFill>
                  <a:srgbClr val="282828"/>
                </a:solidFill>
              </a:rPr>
              <a:t> visual </a:t>
            </a:r>
            <a:r>
              <a:rPr sz="1100" dirty="0" err="1">
                <a:solidFill>
                  <a:srgbClr val="282828"/>
                </a:solidFill>
              </a:rPr>
              <a:t>que</a:t>
            </a:r>
            <a:r>
              <a:rPr sz="1100" dirty="0">
                <a:solidFill>
                  <a:srgbClr val="282828"/>
                </a:solidFill>
              </a:rPr>
              <a:t> 1080p, </a:t>
            </a:r>
            <a:r>
              <a:rPr sz="1100" dirty="0" err="1">
                <a:solidFill>
                  <a:srgbClr val="282828"/>
                </a:solidFill>
              </a:rPr>
              <a:t>permitindo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exibir</a:t>
            </a:r>
            <a:r>
              <a:rPr sz="1100" dirty="0">
                <a:solidFill>
                  <a:srgbClr val="282828"/>
                </a:solidFill>
              </a:rPr>
              <a:t> manual SRM </a:t>
            </a:r>
            <a:r>
              <a:rPr sz="1100" dirty="0" err="1">
                <a:solidFill>
                  <a:srgbClr val="282828"/>
                </a:solidFill>
              </a:rPr>
              <a:t>em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uma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tela</a:t>
            </a:r>
            <a:r>
              <a:rPr sz="1100" dirty="0">
                <a:solidFill>
                  <a:srgbClr val="282828"/>
                </a:solidFill>
              </a:rPr>
              <a:t> e CAD/Excel </a:t>
            </a:r>
            <a:r>
              <a:rPr sz="1100" dirty="0" err="1">
                <a:solidFill>
                  <a:srgbClr val="282828"/>
                </a:solidFill>
              </a:rPr>
              <a:t>na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outra</a:t>
            </a:r>
            <a:r>
              <a:rPr sz="1100" dirty="0">
                <a:solidFill>
                  <a:srgbClr val="282828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212666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>
          <a:extLst>
            <a:ext uri="{FF2B5EF4-FFF2-40B4-BE49-F238E27FC236}">
              <a16:creationId xmlns:a16="http://schemas.microsoft.com/office/drawing/2014/main" id="{81FFA53C-D231-7299-AA9E-84C972C26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>
            <a:extLst>
              <a:ext uri="{FF2B5EF4-FFF2-40B4-BE49-F238E27FC236}">
                <a16:creationId xmlns:a16="http://schemas.microsoft.com/office/drawing/2014/main" id="{5EE8A546-BFC1-0C56-AA69-595EA47CF6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pt-BR" dirty="0"/>
              <a:t>Tópico Especial — Computação Quântica na Aviação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156F56A3-CADF-3EFE-FA8C-F8C41B409DBE}"/>
              </a:ext>
            </a:extLst>
          </p:cNvPr>
          <p:cNvSpPr txBox="1"/>
          <p:nvPr/>
        </p:nvSpPr>
        <p:spPr>
          <a:xfrm>
            <a:off x="548640" y="1005840"/>
            <a:ext cx="420624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100" b="1" dirty="0">
                <a:solidFill>
                  <a:srgbClr val="0F2043"/>
                </a:solidFill>
              </a:rPr>
              <a:t>• O </a:t>
            </a:r>
            <a:r>
              <a:rPr sz="1100" b="1" dirty="0" err="1">
                <a:solidFill>
                  <a:srgbClr val="0F2043"/>
                </a:solidFill>
              </a:rPr>
              <a:t>que</a:t>
            </a:r>
            <a:r>
              <a:rPr sz="1100" b="1" dirty="0">
                <a:solidFill>
                  <a:srgbClr val="0F2043"/>
                </a:solidFill>
              </a:rPr>
              <a:t> é o Qubit?</a:t>
            </a:r>
            <a:r>
              <a:rPr sz="1100" dirty="0">
                <a:solidFill>
                  <a:srgbClr val="282828"/>
                </a:solidFill>
              </a:rPr>
              <a:t>  Ao </a:t>
            </a:r>
            <a:r>
              <a:rPr sz="1100" dirty="0" err="1">
                <a:solidFill>
                  <a:srgbClr val="282828"/>
                </a:solidFill>
              </a:rPr>
              <a:t>contrário</a:t>
            </a:r>
            <a:r>
              <a:rPr sz="1100" dirty="0">
                <a:solidFill>
                  <a:srgbClr val="282828"/>
                </a:solidFill>
              </a:rPr>
              <a:t> do bit </a:t>
            </a:r>
            <a:r>
              <a:rPr sz="1100" dirty="0" err="1">
                <a:solidFill>
                  <a:srgbClr val="282828"/>
                </a:solidFill>
              </a:rPr>
              <a:t>clássico</a:t>
            </a:r>
            <a:r>
              <a:rPr sz="1100" dirty="0">
                <a:solidFill>
                  <a:srgbClr val="282828"/>
                </a:solidFill>
              </a:rPr>
              <a:t> (0 </a:t>
            </a:r>
            <a:r>
              <a:rPr sz="1100" dirty="0" err="1">
                <a:solidFill>
                  <a:srgbClr val="282828"/>
                </a:solidFill>
              </a:rPr>
              <a:t>ou</a:t>
            </a:r>
            <a:r>
              <a:rPr sz="1100" dirty="0">
                <a:solidFill>
                  <a:srgbClr val="282828"/>
                </a:solidFill>
              </a:rPr>
              <a:t> 1), o qubit </a:t>
            </a:r>
            <a:r>
              <a:rPr sz="1100" dirty="0" err="1">
                <a:solidFill>
                  <a:srgbClr val="282828"/>
                </a:solidFill>
              </a:rPr>
              <a:t>utiliza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princípios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quânticos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como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Superposição</a:t>
            </a:r>
            <a:r>
              <a:rPr sz="1100" dirty="0">
                <a:solidFill>
                  <a:srgbClr val="282828"/>
                </a:solidFill>
              </a:rPr>
              <a:t> (0 e 1 </a:t>
            </a:r>
            <a:r>
              <a:rPr sz="1100" dirty="0" err="1">
                <a:solidFill>
                  <a:srgbClr val="282828"/>
                </a:solidFill>
              </a:rPr>
              <a:t>simultaneamente</a:t>
            </a:r>
            <a:r>
              <a:rPr sz="1100" dirty="0">
                <a:solidFill>
                  <a:srgbClr val="282828"/>
                </a:solidFill>
              </a:rPr>
              <a:t>) e </a:t>
            </a:r>
            <a:r>
              <a:rPr sz="1100" dirty="0" err="1">
                <a:solidFill>
                  <a:srgbClr val="282828"/>
                </a:solidFill>
              </a:rPr>
              <a:t>Emaranhamento</a:t>
            </a:r>
            <a:r>
              <a:rPr sz="1100" dirty="0">
                <a:solidFill>
                  <a:srgbClr val="282828"/>
                </a:solidFill>
              </a:rPr>
              <a:t>.</a:t>
            </a:r>
          </a:p>
          <a:p>
            <a:pPr>
              <a:spcBef>
                <a:spcPts val="600"/>
              </a:spcBef>
            </a:pPr>
            <a:r>
              <a:rPr sz="1100" b="1" dirty="0">
                <a:solidFill>
                  <a:srgbClr val="0F2043"/>
                </a:solidFill>
              </a:rPr>
              <a:t>• </a:t>
            </a:r>
            <a:r>
              <a:rPr sz="1100" b="1" dirty="0" err="1">
                <a:solidFill>
                  <a:srgbClr val="0F2043"/>
                </a:solidFill>
              </a:rPr>
              <a:t>Aplicações</a:t>
            </a:r>
            <a:r>
              <a:rPr sz="1100" b="1" dirty="0">
                <a:solidFill>
                  <a:srgbClr val="0F2043"/>
                </a:solidFill>
              </a:rPr>
              <a:t> </a:t>
            </a:r>
            <a:r>
              <a:rPr sz="1100" b="1" dirty="0" err="1">
                <a:solidFill>
                  <a:srgbClr val="0F2043"/>
                </a:solidFill>
              </a:rPr>
              <a:t>na</a:t>
            </a:r>
            <a:r>
              <a:rPr sz="1100" b="1" dirty="0">
                <a:solidFill>
                  <a:srgbClr val="0F2043"/>
                </a:solidFill>
              </a:rPr>
              <a:t> </a:t>
            </a:r>
            <a:r>
              <a:rPr sz="1100" b="1" dirty="0" err="1">
                <a:solidFill>
                  <a:srgbClr val="0F2043"/>
                </a:solidFill>
              </a:rPr>
              <a:t>Aviação</a:t>
            </a:r>
            <a:r>
              <a:rPr sz="1100" b="1" dirty="0">
                <a:solidFill>
                  <a:srgbClr val="0F2043"/>
                </a:solidFill>
              </a:rPr>
              <a:t>:</a:t>
            </a:r>
            <a:r>
              <a:rPr sz="1100" dirty="0">
                <a:solidFill>
                  <a:srgbClr val="282828"/>
                </a:solidFill>
              </a:rPr>
              <a:t>  </a:t>
            </a:r>
            <a:r>
              <a:rPr sz="1100" dirty="0" err="1">
                <a:solidFill>
                  <a:srgbClr val="282828"/>
                </a:solidFill>
              </a:rPr>
              <a:t>Otimização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combinatória</a:t>
            </a:r>
            <a:r>
              <a:rPr sz="1100" dirty="0">
                <a:solidFill>
                  <a:srgbClr val="282828"/>
                </a:solidFill>
              </a:rPr>
              <a:t> extrema de </a:t>
            </a:r>
            <a:r>
              <a:rPr sz="1100" dirty="0" err="1">
                <a:solidFill>
                  <a:srgbClr val="282828"/>
                </a:solidFill>
              </a:rPr>
              <a:t>malhas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aéreas</a:t>
            </a:r>
            <a:r>
              <a:rPr sz="1100" dirty="0">
                <a:solidFill>
                  <a:srgbClr val="282828"/>
                </a:solidFill>
              </a:rPr>
              <a:t> e </a:t>
            </a:r>
            <a:r>
              <a:rPr sz="1100" dirty="0" err="1">
                <a:solidFill>
                  <a:srgbClr val="282828"/>
                </a:solidFill>
              </a:rPr>
              <a:t>rotas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em</a:t>
            </a:r>
            <a:r>
              <a:rPr sz="1100" dirty="0">
                <a:solidFill>
                  <a:srgbClr val="282828"/>
                </a:solidFill>
              </a:rPr>
              <a:t> tempo real </a:t>
            </a:r>
            <a:r>
              <a:rPr sz="1100" dirty="0" err="1">
                <a:solidFill>
                  <a:srgbClr val="282828"/>
                </a:solidFill>
              </a:rPr>
              <a:t>considerando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ventos</a:t>
            </a:r>
            <a:r>
              <a:rPr sz="1100" dirty="0">
                <a:solidFill>
                  <a:srgbClr val="282828"/>
                </a:solidFill>
              </a:rPr>
              <a:t>, </a:t>
            </a:r>
            <a:r>
              <a:rPr sz="1100" dirty="0" err="1">
                <a:solidFill>
                  <a:srgbClr val="282828"/>
                </a:solidFill>
              </a:rPr>
              <a:t>tráfego</a:t>
            </a:r>
            <a:r>
              <a:rPr sz="1100" dirty="0">
                <a:solidFill>
                  <a:srgbClr val="282828"/>
                </a:solidFill>
              </a:rPr>
              <a:t> e </a:t>
            </a:r>
            <a:r>
              <a:rPr sz="1100" dirty="0" err="1">
                <a:solidFill>
                  <a:srgbClr val="282828"/>
                </a:solidFill>
              </a:rPr>
              <a:t>combustível</a:t>
            </a:r>
            <a:r>
              <a:rPr sz="1100" dirty="0">
                <a:solidFill>
                  <a:srgbClr val="282828"/>
                </a:solidFill>
              </a:rPr>
              <a:t>.</a:t>
            </a:r>
          </a:p>
          <a:p>
            <a:pPr>
              <a:spcBef>
                <a:spcPts val="600"/>
              </a:spcBef>
            </a:pPr>
            <a:r>
              <a:rPr sz="1100" b="1" dirty="0">
                <a:solidFill>
                  <a:srgbClr val="0F2043"/>
                </a:solidFill>
              </a:rPr>
              <a:t>• </a:t>
            </a:r>
            <a:r>
              <a:rPr sz="1100" b="1" dirty="0" err="1">
                <a:solidFill>
                  <a:srgbClr val="0F2043"/>
                </a:solidFill>
              </a:rPr>
              <a:t>Ciência</a:t>
            </a:r>
            <a:r>
              <a:rPr sz="1100" b="1" dirty="0">
                <a:solidFill>
                  <a:srgbClr val="0F2043"/>
                </a:solidFill>
              </a:rPr>
              <a:t> de </a:t>
            </a:r>
            <a:r>
              <a:rPr sz="1100" b="1" dirty="0" err="1">
                <a:solidFill>
                  <a:srgbClr val="0F2043"/>
                </a:solidFill>
              </a:rPr>
              <a:t>Materiais</a:t>
            </a:r>
            <a:r>
              <a:rPr sz="1100" b="1" dirty="0">
                <a:solidFill>
                  <a:srgbClr val="0F2043"/>
                </a:solidFill>
              </a:rPr>
              <a:t> </a:t>
            </a:r>
            <a:r>
              <a:rPr sz="1100" b="1" dirty="0" err="1">
                <a:solidFill>
                  <a:srgbClr val="0F2043"/>
                </a:solidFill>
              </a:rPr>
              <a:t>Aeronáuticos</a:t>
            </a:r>
            <a:r>
              <a:rPr sz="1100" b="1" dirty="0">
                <a:solidFill>
                  <a:srgbClr val="0F2043"/>
                </a:solidFill>
              </a:rPr>
              <a:t>:</a:t>
            </a:r>
            <a:r>
              <a:rPr sz="1100" dirty="0">
                <a:solidFill>
                  <a:srgbClr val="282828"/>
                </a:solidFill>
              </a:rPr>
              <a:t>  </a:t>
            </a:r>
            <a:r>
              <a:rPr sz="1100" dirty="0" err="1">
                <a:solidFill>
                  <a:srgbClr val="282828"/>
                </a:solidFill>
              </a:rPr>
              <a:t>Simulação</a:t>
            </a:r>
            <a:r>
              <a:rPr sz="1100" dirty="0">
                <a:solidFill>
                  <a:srgbClr val="282828"/>
                </a:solidFill>
              </a:rPr>
              <a:t> molecular de </a:t>
            </a:r>
            <a:r>
              <a:rPr sz="1100" dirty="0" err="1">
                <a:solidFill>
                  <a:srgbClr val="282828"/>
                </a:solidFill>
              </a:rPr>
              <a:t>novas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ligas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metálicas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mais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leves</a:t>
            </a:r>
            <a:r>
              <a:rPr sz="1100" dirty="0">
                <a:solidFill>
                  <a:srgbClr val="282828"/>
                </a:solidFill>
              </a:rPr>
              <a:t> e </a:t>
            </a:r>
            <a:r>
              <a:rPr sz="1100" dirty="0" err="1">
                <a:solidFill>
                  <a:srgbClr val="282828"/>
                </a:solidFill>
              </a:rPr>
              <a:t>compósitos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resistentes</a:t>
            </a:r>
            <a:r>
              <a:rPr sz="1100" dirty="0">
                <a:solidFill>
                  <a:srgbClr val="282828"/>
                </a:solidFill>
              </a:rPr>
              <a:t> a </a:t>
            </a:r>
            <a:r>
              <a:rPr sz="1100" dirty="0" err="1">
                <a:solidFill>
                  <a:srgbClr val="282828"/>
                </a:solidFill>
              </a:rPr>
              <a:t>altíssimas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temperaturas</a:t>
            </a:r>
            <a:r>
              <a:rPr sz="1100" dirty="0">
                <a:solidFill>
                  <a:srgbClr val="282828"/>
                </a:solidFill>
              </a:rPr>
              <a:t>.</a:t>
            </a:r>
          </a:p>
          <a:p>
            <a:pPr>
              <a:spcBef>
                <a:spcPts val="600"/>
              </a:spcBef>
            </a:pPr>
            <a:r>
              <a:rPr sz="1100" b="1" dirty="0">
                <a:solidFill>
                  <a:srgbClr val="0F2043"/>
                </a:solidFill>
              </a:rPr>
              <a:t>• </a:t>
            </a:r>
            <a:r>
              <a:rPr sz="1100" b="1" dirty="0" err="1">
                <a:solidFill>
                  <a:srgbClr val="0F2043"/>
                </a:solidFill>
              </a:rPr>
              <a:t>Manutenção</a:t>
            </a:r>
            <a:r>
              <a:rPr sz="1100" b="1" dirty="0">
                <a:solidFill>
                  <a:srgbClr val="0F2043"/>
                </a:solidFill>
              </a:rPr>
              <a:t> </a:t>
            </a:r>
            <a:r>
              <a:rPr sz="1100" b="1" dirty="0" err="1">
                <a:solidFill>
                  <a:srgbClr val="0F2043"/>
                </a:solidFill>
              </a:rPr>
              <a:t>Preditiva</a:t>
            </a:r>
            <a:r>
              <a:rPr sz="1100" b="1" dirty="0">
                <a:solidFill>
                  <a:srgbClr val="0F2043"/>
                </a:solidFill>
              </a:rPr>
              <a:t> Global:</a:t>
            </a:r>
            <a:r>
              <a:rPr sz="1100" dirty="0">
                <a:solidFill>
                  <a:srgbClr val="282828"/>
                </a:solidFill>
              </a:rPr>
              <a:t>  </a:t>
            </a:r>
            <a:r>
              <a:rPr sz="1100" dirty="0" err="1">
                <a:solidFill>
                  <a:srgbClr val="282828"/>
                </a:solidFill>
              </a:rPr>
              <a:t>Alocação</a:t>
            </a:r>
            <a:r>
              <a:rPr sz="1100" dirty="0">
                <a:solidFill>
                  <a:srgbClr val="282828"/>
                </a:solidFill>
              </a:rPr>
              <a:t> ideal de </a:t>
            </a:r>
            <a:r>
              <a:rPr sz="1100" dirty="0" err="1">
                <a:solidFill>
                  <a:srgbClr val="282828"/>
                </a:solidFill>
              </a:rPr>
              <a:t>frotas</a:t>
            </a:r>
            <a:r>
              <a:rPr sz="1100" dirty="0">
                <a:solidFill>
                  <a:srgbClr val="282828"/>
                </a:solidFill>
              </a:rPr>
              <a:t> e </a:t>
            </a:r>
            <a:r>
              <a:rPr sz="1100" dirty="0" err="1">
                <a:solidFill>
                  <a:srgbClr val="282828"/>
                </a:solidFill>
              </a:rPr>
              <a:t>cronogramas</a:t>
            </a:r>
            <a:r>
              <a:rPr sz="1100" dirty="0">
                <a:solidFill>
                  <a:srgbClr val="282828"/>
                </a:solidFill>
              </a:rPr>
              <a:t> de </a:t>
            </a:r>
            <a:r>
              <a:rPr sz="1100" dirty="0" err="1">
                <a:solidFill>
                  <a:srgbClr val="282828"/>
                </a:solidFill>
              </a:rPr>
              <a:t>revisão</a:t>
            </a:r>
            <a:r>
              <a:rPr sz="1100" dirty="0">
                <a:solidFill>
                  <a:srgbClr val="282828"/>
                </a:solidFill>
              </a:rPr>
              <a:t> (Fleet Scheduling &amp; Maintenance Alignment).</a:t>
            </a:r>
          </a:p>
          <a:p>
            <a:pPr>
              <a:spcBef>
                <a:spcPts val="600"/>
              </a:spcBef>
            </a:pPr>
            <a:r>
              <a:rPr sz="1100" b="1" dirty="0">
                <a:solidFill>
                  <a:srgbClr val="0F2043"/>
                </a:solidFill>
              </a:rPr>
              <a:t>• </a:t>
            </a:r>
            <a:r>
              <a:rPr sz="1100" b="1" dirty="0" err="1">
                <a:solidFill>
                  <a:srgbClr val="0F2043"/>
                </a:solidFill>
              </a:rPr>
              <a:t>Quântico</a:t>
            </a:r>
            <a:r>
              <a:rPr sz="1100" b="1" dirty="0">
                <a:solidFill>
                  <a:srgbClr val="0F2043"/>
                </a:solidFill>
              </a:rPr>
              <a:t> vs. </a:t>
            </a:r>
            <a:r>
              <a:rPr sz="1100" b="1" dirty="0" err="1">
                <a:solidFill>
                  <a:srgbClr val="0F2043"/>
                </a:solidFill>
              </a:rPr>
              <a:t>Clássico</a:t>
            </a:r>
            <a:r>
              <a:rPr sz="1100" b="1" dirty="0">
                <a:solidFill>
                  <a:srgbClr val="0F2043"/>
                </a:solidFill>
              </a:rPr>
              <a:t>:</a:t>
            </a:r>
            <a:r>
              <a:rPr sz="1100" dirty="0">
                <a:solidFill>
                  <a:srgbClr val="282828"/>
                </a:solidFill>
              </a:rPr>
              <a:t>  A </a:t>
            </a:r>
            <a:r>
              <a:rPr sz="1100" dirty="0" err="1">
                <a:solidFill>
                  <a:srgbClr val="282828"/>
                </a:solidFill>
              </a:rPr>
              <a:t>computação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quântica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não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substitui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computadores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pessoais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ou</a:t>
            </a:r>
            <a:r>
              <a:rPr sz="1100" dirty="0">
                <a:solidFill>
                  <a:srgbClr val="282828"/>
                </a:solidFill>
              </a:rPr>
              <a:t> workstations de hangar; </a:t>
            </a:r>
            <a:r>
              <a:rPr sz="1100" dirty="0" err="1">
                <a:solidFill>
                  <a:srgbClr val="282828"/>
                </a:solidFill>
              </a:rPr>
              <a:t>ela</a:t>
            </a:r>
            <a:r>
              <a:rPr sz="1100" dirty="0">
                <a:solidFill>
                  <a:srgbClr val="282828"/>
                </a:solidFill>
              </a:rPr>
              <a:t> atua </a:t>
            </a:r>
            <a:r>
              <a:rPr sz="1100" dirty="0" err="1">
                <a:solidFill>
                  <a:srgbClr val="282828"/>
                </a:solidFill>
              </a:rPr>
              <a:t>como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supercomputador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acelerador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em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nuvem</a:t>
            </a:r>
            <a:r>
              <a:rPr sz="1100" dirty="0">
                <a:solidFill>
                  <a:srgbClr val="282828"/>
                </a:solidFill>
              </a:rPr>
              <a:t> para </a:t>
            </a:r>
            <a:r>
              <a:rPr sz="1100" dirty="0" err="1">
                <a:solidFill>
                  <a:srgbClr val="282828"/>
                </a:solidFill>
              </a:rPr>
              <a:t>cálculos</a:t>
            </a:r>
            <a:r>
              <a:rPr sz="1100" dirty="0">
                <a:solidFill>
                  <a:srgbClr val="282828"/>
                </a:solidFill>
              </a:rPr>
              <a:t> </a:t>
            </a:r>
            <a:r>
              <a:rPr sz="1100" dirty="0" err="1">
                <a:solidFill>
                  <a:srgbClr val="282828"/>
                </a:solidFill>
              </a:rPr>
              <a:t>massivos</a:t>
            </a:r>
            <a:r>
              <a:rPr sz="1100" dirty="0">
                <a:solidFill>
                  <a:srgbClr val="282828"/>
                </a:solidFill>
              </a:rPr>
              <a:t>.</a:t>
            </a:r>
          </a:p>
        </p:txBody>
      </p:sp>
      <p:pic>
        <p:nvPicPr>
          <p:cNvPr id="5" name="Picture 4" descr="quantum.jpg">
            <a:extLst>
              <a:ext uri="{FF2B5EF4-FFF2-40B4-BE49-F238E27FC236}">
                <a16:creationId xmlns:a16="http://schemas.microsoft.com/office/drawing/2014/main" id="{B46D3097-4AB6-D07A-90F5-EFB083F448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097280"/>
            <a:ext cx="3657600" cy="3474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05575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>
          <a:extLst>
            <a:ext uri="{FF2B5EF4-FFF2-40B4-BE49-F238E27FC236}">
              <a16:creationId xmlns:a16="http://schemas.microsoft.com/office/drawing/2014/main" id="{9777B138-0D30-4E54-0700-EE4B29C4D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>
            <a:extLst>
              <a:ext uri="{FF2B5EF4-FFF2-40B4-BE49-F238E27FC236}">
                <a16:creationId xmlns:a16="http://schemas.microsoft.com/office/drawing/2014/main" id="{59B3F1EA-EDAC-C5C3-0266-D22996A638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pt-BR" dirty="0"/>
              <a:t>Prática em Laboratório — Diagnóstico no Windows 11</a:t>
            </a:r>
          </a:p>
        </p:txBody>
      </p:sp>
      <p:sp>
        <p:nvSpPr>
          <p:cNvPr id="3" name="Rounded Rectangle 3">
            <a:extLst>
              <a:ext uri="{FF2B5EF4-FFF2-40B4-BE49-F238E27FC236}">
                <a16:creationId xmlns:a16="http://schemas.microsoft.com/office/drawing/2014/main" id="{7A93A99B-A639-4C3F-E465-3D1863F4023C}"/>
              </a:ext>
            </a:extLst>
          </p:cNvPr>
          <p:cNvSpPr/>
          <p:nvPr/>
        </p:nvSpPr>
        <p:spPr>
          <a:xfrm>
            <a:off x="548640" y="1097280"/>
            <a:ext cx="8046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088E40-93A4-5D44-C6D0-78A00049FA9E}"/>
              </a:ext>
            </a:extLst>
          </p:cNvPr>
          <p:cNvSpPr txBox="1"/>
          <p:nvPr/>
        </p:nvSpPr>
        <p:spPr>
          <a:xfrm>
            <a:off x="731520" y="1170432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2043"/>
                </a:solidFill>
              </a:defRPr>
            </a:pPr>
            <a:r>
              <a:rPr dirty="0"/>
              <a:t>1. </a:t>
            </a:r>
            <a:r>
              <a:rPr dirty="0" err="1"/>
              <a:t>Informações</a:t>
            </a:r>
            <a:r>
              <a:rPr dirty="0"/>
              <a:t> do Sistema (`msinfo32` / Settings)</a:t>
            </a:r>
          </a:p>
          <a:p>
            <a:pPr>
              <a:spcBef>
                <a:spcPts val="200"/>
              </a:spcBef>
              <a:defRPr sz="1000">
                <a:solidFill>
                  <a:srgbClr val="282828"/>
                </a:solidFill>
              </a:defRPr>
            </a:pPr>
            <a:r>
              <a:rPr dirty="0" err="1"/>
              <a:t>Verifique</a:t>
            </a:r>
            <a:r>
              <a:rPr dirty="0"/>
              <a:t> o </a:t>
            </a:r>
            <a:r>
              <a:rPr dirty="0" err="1"/>
              <a:t>modelo</a:t>
            </a:r>
            <a:r>
              <a:rPr dirty="0"/>
              <a:t> </a:t>
            </a:r>
            <a:r>
              <a:rPr dirty="0" err="1"/>
              <a:t>exato</a:t>
            </a:r>
            <a:r>
              <a:rPr dirty="0"/>
              <a:t> do </a:t>
            </a:r>
            <a:r>
              <a:rPr dirty="0" err="1"/>
              <a:t>processador</a:t>
            </a:r>
            <a:r>
              <a:rPr dirty="0"/>
              <a:t> (CPU), clock base e </a:t>
            </a:r>
            <a:r>
              <a:rPr dirty="0" err="1"/>
              <a:t>quantidade</a:t>
            </a:r>
            <a:r>
              <a:rPr dirty="0"/>
              <a:t> de </a:t>
            </a:r>
            <a:r>
              <a:rPr dirty="0" err="1"/>
              <a:t>Memória</a:t>
            </a:r>
            <a:r>
              <a:rPr dirty="0"/>
              <a:t> RAM </a:t>
            </a:r>
            <a:r>
              <a:rPr dirty="0" err="1"/>
              <a:t>instalada</a:t>
            </a:r>
            <a:r>
              <a:rPr dirty="0"/>
              <a:t> no </a:t>
            </a:r>
            <a:r>
              <a:rPr dirty="0" err="1"/>
              <a:t>computador</a:t>
            </a:r>
            <a:r>
              <a:rPr dirty="0"/>
              <a:t> da </a:t>
            </a:r>
            <a:r>
              <a:rPr dirty="0" err="1"/>
              <a:t>bancada</a:t>
            </a:r>
            <a:r>
              <a:rPr dirty="0"/>
              <a:t>.</a:t>
            </a:r>
          </a:p>
          <a:p>
            <a:pPr>
              <a:spcBef>
                <a:spcPts val="200"/>
              </a:spcBef>
              <a:defRPr sz="900" b="1">
                <a:solidFill>
                  <a:srgbClr val="0072CE"/>
                </a:solidFill>
              </a:defRPr>
            </a:pPr>
            <a:r>
              <a:rPr dirty="0"/>
              <a:t>💡 </a:t>
            </a:r>
            <a:r>
              <a:rPr dirty="0" err="1"/>
              <a:t>Dica</a:t>
            </a:r>
            <a:r>
              <a:rPr dirty="0"/>
              <a:t> </a:t>
            </a:r>
            <a:r>
              <a:rPr dirty="0" err="1"/>
              <a:t>Prática</a:t>
            </a:r>
            <a:r>
              <a:rPr dirty="0"/>
              <a:t>: </a:t>
            </a:r>
            <a:r>
              <a:rPr dirty="0" err="1"/>
              <a:t>Atalho</a:t>
            </a:r>
            <a:r>
              <a:rPr dirty="0"/>
              <a:t>: Win + Pause/Break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Configurações</a:t>
            </a:r>
            <a:r>
              <a:rPr dirty="0"/>
              <a:t> -&gt; Sistema -&gt; </a:t>
            </a:r>
            <a:r>
              <a:rPr dirty="0" err="1"/>
              <a:t>Sobre</a:t>
            </a:r>
            <a:endParaRPr dirty="0"/>
          </a:p>
        </p:txBody>
      </p:sp>
      <p:sp>
        <p:nvSpPr>
          <p:cNvPr id="7" name="Rounded Rectangle 5">
            <a:extLst>
              <a:ext uri="{FF2B5EF4-FFF2-40B4-BE49-F238E27FC236}">
                <a16:creationId xmlns:a16="http://schemas.microsoft.com/office/drawing/2014/main" id="{F286F7F9-A8B6-0312-ED5C-DB4027BC146A}"/>
              </a:ext>
            </a:extLst>
          </p:cNvPr>
          <p:cNvSpPr/>
          <p:nvPr/>
        </p:nvSpPr>
        <p:spPr>
          <a:xfrm>
            <a:off x="548640" y="2286000"/>
            <a:ext cx="8046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B5361761-CC5A-7179-4A73-8BBAAC705FC1}"/>
              </a:ext>
            </a:extLst>
          </p:cNvPr>
          <p:cNvSpPr txBox="1"/>
          <p:nvPr/>
        </p:nvSpPr>
        <p:spPr>
          <a:xfrm>
            <a:off x="731520" y="2359152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2043"/>
                </a:solidFill>
              </a:defRPr>
            </a:pPr>
            <a:r>
              <a:t>2. Gerenciador de Tarefas (`Ctrl + Shift + Esc`)</a:t>
            </a:r>
          </a:p>
          <a:p>
            <a:pPr>
              <a:spcBef>
                <a:spcPts val="200"/>
              </a:spcBef>
              <a:defRPr sz="1000">
                <a:solidFill>
                  <a:srgbClr val="282828"/>
                </a:solidFill>
              </a:defRPr>
            </a:pPr>
            <a:r>
              <a:t>Abra a aba Desempenho para monitorar a utilização da CPU em tempo real e se a memória está saturada.</a:t>
            </a:r>
          </a:p>
          <a:p>
            <a:pPr>
              <a:spcBef>
                <a:spcPts val="200"/>
              </a:spcBef>
              <a:defRPr sz="900" b="1">
                <a:solidFill>
                  <a:srgbClr val="0072CE"/>
                </a:solidFill>
              </a:defRPr>
            </a:pPr>
            <a:r>
              <a:t>💡 Dica Prática: Identifique o tipo de disco (SSD NVMe vs HDD) e a taxa de uso em %</a:t>
            </a:r>
          </a:p>
        </p:txBody>
      </p:sp>
      <p:sp>
        <p:nvSpPr>
          <p:cNvPr id="11" name="Rounded Rectangle 7">
            <a:extLst>
              <a:ext uri="{FF2B5EF4-FFF2-40B4-BE49-F238E27FC236}">
                <a16:creationId xmlns:a16="http://schemas.microsoft.com/office/drawing/2014/main" id="{BE20DC4F-905B-6F69-3510-578B39BCB778}"/>
              </a:ext>
            </a:extLst>
          </p:cNvPr>
          <p:cNvSpPr/>
          <p:nvPr/>
        </p:nvSpPr>
        <p:spPr>
          <a:xfrm>
            <a:off x="548640" y="3474720"/>
            <a:ext cx="8046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0C6C2FD7-AB9E-A681-ACC4-E6E8BDD79FA3}"/>
              </a:ext>
            </a:extLst>
          </p:cNvPr>
          <p:cNvSpPr txBox="1"/>
          <p:nvPr/>
        </p:nvSpPr>
        <p:spPr>
          <a:xfrm>
            <a:off x="731520" y="3547872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2043"/>
                </a:solidFill>
              </a:defRPr>
            </a:pPr>
            <a:r>
              <a:t>3. Identificação de Gargalos Computacionais</a:t>
            </a:r>
          </a:p>
          <a:p>
            <a:pPr>
              <a:spcBef>
                <a:spcPts val="200"/>
              </a:spcBef>
              <a:defRPr sz="1000">
                <a:solidFill>
                  <a:srgbClr val="282828"/>
                </a:solidFill>
              </a:defRPr>
            </a:pPr>
            <a:r>
              <a:t>Avalie se a taxa de ocupação da RAM supera 80% e se o disco atinge 100% de uso constante durante a abertura de arquivos grandes.</a:t>
            </a:r>
          </a:p>
          <a:p>
            <a:pPr>
              <a:spcBef>
                <a:spcPts val="200"/>
              </a:spcBef>
              <a:defRPr sz="900" b="1">
                <a:solidFill>
                  <a:srgbClr val="0072CE"/>
                </a:solidFill>
              </a:defRPr>
            </a:pPr>
            <a:r>
              <a:t>💡 Dica Prática: Gargalo no disco indica necessidade imediata de upgrade para SSD NVMe</a:t>
            </a:r>
          </a:p>
        </p:txBody>
      </p:sp>
    </p:spTree>
    <p:extLst>
      <p:ext uri="{BB962C8B-B14F-4D97-AF65-F5344CB8AC3E}">
        <p14:creationId xmlns:p14="http://schemas.microsoft.com/office/powerpoint/2010/main" val="22335745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>
          <a:extLst>
            <a:ext uri="{FF2B5EF4-FFF2-40B4-BE49-F238E27FC236}">
              <a16:creationId xmlns:a16="http://schemas.microsoft.com/office/drawing/2014/main" id="{8DF73BFF-E556-9D11-EC88-E542312F3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>
            <a:extLst>
              <a:ext uri="{FF2B5EF4-FFF2-40B4-BE49-F238E27FC236}">
                <a16:creationId xmlns:a16="http://schemas.microsoft.com/office/drawing/2014/main" id="{DEA2D43B-0C0A-D771-928F-9B6AE845E18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pt-BR" dirty="0"/>
              <a:t>Exercício de Fixação Computacional — Parecer Técnico</a:t>
            </a:r>
          </a:p>
        </p:txBody>
      </p:sp>
      <p:sp>
        <p:nvSpPr>
          <p:cNvPr id="3" name="TextBox 4">
            <a:extLst>
              <a:ext uri="{FF2B5EF4-FFF2-40B4-BE49-F238E27FC236}">
                <a16:creationId xmlns:a16="http://schemas.microsoft.com/office/drawing/2014/main" id="{834E6D71-A939-1B9F-5526-097717B4BED3}"/>
              </a:ext>
            </a:extLst>
          </p:cNvPr>
          <p:cNvSpPr txBox="1"/>
          <p:nvPr/>
        </p:nvSpPr>
        <p:spPr>
          <a:xfrm>
            <a:off x="731520" y="1188720"/>
            <a:ext cx="7680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3"/>
                </a:solidFill>
              </a:defRPr>
            </a:pPr>
            <a:r>
              <a:rPr dirty="0"/>
              <a:t>DESAFIO INDIVIDUAL NO LABORATORIO</a:t>
            </a:r>
          </a:p>
          <a:p>
            <a:pPr>
              <a:spcBef>
                <a:spcPts val="800"/>
              </a:spcBef>
              <a:defRPr sz="1200" b="1">
                <a:solidFill>
                  <a:srgbClr val="0F2043"/>
                </a:solidFill>
              </a:defRPr>
            </a:pPr>
            <a:r>
              <a:rPr dirty="0" err="1"/>
              <a:t>Cenário</a:t>
            </a:r>
            <a:r>
              <a:rPr dirty="0"/>
              <a:t> </a:t>
            </a:r>
            <a:r>
              <a:rPr dirty="0" err="1"/>
              <a:t>Prático</a:t>
            </a:r>
            <a:r>
              <a:rPr dirty="0"/>
              <a:t>: </a:t>
            </a:r>
            <a:r>
              <a:rPr dirty="0" err="1"/>
              <a:t>Você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designado</a:t>
            </a:r>
            <a:r>
              <a:rPr dirty="0"/>
              <a:t> para </a:t>
            </a:r>
            <a:r>
              <a:rPr dirty="0" err="1"/>
              <a:t>emitir</a:t>
            </a:r>
            <a:r>
              <a:rPr dirty="0"/>
              <a:t> o </a:t>
            </a:r>
            <a:r>
              <a:rPr dirty="0" err="1"/>
              <a:t>parecer</a:t>
            </a:r>
            <a:r>
              <a:rPr dirty="0"/>
              <a:t> </a:t>
            </a:r>
            <a:r>
              <a:rPr dirty="0" err="1"/>
              <a:t>técnico</a:t>
            </a:r>
            <a:r>
              <a:rPr dirty="0"/>
              <a:t> de </a:t>
            </a:r>
            <a:r>
              <a:rPr dirty="0" err="1"/>
              <a:t>aquisição</a:t>
            </a:r>
            <a:r>
              <a:rPr dirty="0"/>
              <a:t> de 2 </a:t>
            </a:r>
            <a:r>
              <a:rPr dirty="0" err="1"/>
              <a:t>computadores</a:t>
            </a:r>
            <a:r>
              <a:rPr dirty="0"/>
              <a:t> para a nova base da </a:t>
            </a:r>
            <a:r>
              <a:rPr dirty="0" err="1"/>
              <a:t>oficina</a:t>
            </a:r>
            <a:r>
              <a:rPr dirty="0"/>
              <a:t>:</a:t>
            </a:r>
          </a:p>
          <a:p>
            <a:pPr>
              <a:spcBef>
                <a:spcPts val="400"/>
              </a:spcBef>
              <a:defRPr sz="1100">
                <a:solidFill>
                  <a:srgbClr val="282828"/>
                </a:solidFill>
              </a:defRPr>
            </a:pPr>
            <a:r>
              <a:rPr dirty="0"/>
              <a:t>1. </a:t>
            </a:r>
            <a:r>
              <a:rPr dirty="0" err="1"/>
              <a:t>Estação</a:t>
            </a:r>
            <a:r>
              <a:rPr dirty="0"/>
              <a:t> de </a:t>
            </a:r>
            <a:r>
              <a:rPr dirty="0" err="1"/>
              <a:t>Bancada</a:t>
            </a:r>
            <a:r>
              <a:rPr dirty="0"/>
              <a:t> / Hangar: </a:t>
            </a:r>
            <a:r>
              <a:rPr dirty="0" err="1"/>
              <a:t>Lançamento</a:t>
            </a:r>
            <a:r>
              <a:rPr dirty="0"/>
              <a:t> de </a:t>
            </a:r>
            <a:r>
              <a:rPr dirty="0" err="1"/>
              <a:t>Ordens</a:t>
            </a:r>
            <a:r>
              <a:rPr dirty="0"/>
              <a:t> de </a:t>
            </a:r>
            <a:r>
              <a:rPr dirty="0" err="1"/>
              <a:t>Serviço</a:t>
            </a:r>
            <a:r>
              <a:rPr dirty="0"/>
              <a:t> (OS) e consulta a </a:t>
            </a:r>
            <a:r>
              <a:rPr dirty="0" err="1"/>
              <a:t>manuais</a:t>
            </a:r>
            <a:r>
              <a:rPr dirty="0"/>
              <a:t> </a:t>
            </a:r>
            <a:r>
              <a:rPr dirty="0" err="1"/>
              <a:t>técnicos</a:t>
            </a:r>
            <a:r>
              <a:rPr dirty="0"/>
              <a:t> AMM/IPC.</a:t>
            </a:r>
          </a:p>
          <a:p>
            <a:pPr>
              <a:spcBef>
                <a:spcPts val="400"/>
              </a:spcBef>
              <a:defRPr sz="1100">
                <a:solidFill>
                  <a:srgbClr val="282828"/>
                </a:solidFill>
              </a:defRPr>
            </a:pPr>
            <a:r>
              <a:rPr dirty="0"/>
              <a:t>2. Workstation de </a:t>
            </a:r>
            <a:r>
              <a:rPr dirty="0" err="1"/>
              <a:t>Engenharia</a:t>
            </a:r>
            <a:r>
              <a:rPr dirty="0"/>
              <a:t> &amp; </a:t>
            </a:r>
            <a:r>
              <a:rPr dirty="0" err="1"/>
              <a:t>Confiabilidade</a:t>
            </a:r>
            <a:r>
              <a:rPr dirty="0"/>
              <a:t>: </a:t>
            </a:r>
            <a:r>
              <a:rPr dirty="0" err="1"/>
              <a:t>Análise</a:t>
            </a:r>
            <a:r>
              <a:rPr dirty="0"/>
              <a:t> de </a:t>
            </a:r>
            <a:r>
              <a:rPr dirty="0" err="1"/>
              <a:t>falhas</a:t>
            </a:r>
            <a:r>
              <a:rPr dirty="0"/>
              <a:t> de </a:t>
            </a:r>
            <a:r>
              <a:rPr dirty="0" err="1"/>
              <a:t>frota</a:t>
            </a:r>
            <a:r>
              <a:rPr dirty="0"/>
              <a:t>, </a:t>
            </a:r>
            <a:r>
              <a:rPr dirty="0" err="1"/>
              <a:t>cálculos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planilhas</a:t>
            </a:r>
            <a:r>
              <a:rPr dirty="0"/>
              <a:t> </a:t>
            </a:r>
            <a:r>
              <a:rPr dirty="0" err="1"/>
              <a:t>pesadas</a:t>
            </a:r>
            <a:r>
              <a:rPr dirty="0"/>
              <a:t> e </a:t>
            </a:r>
            <a:r>
              <a:rPr dirty="0" err="1"/>
              <a:t>modelos</a:t>
            </a:r>
            <a:r>
              <a:rPr dirty="0"/>
              <a:t> CAD 3D.</a:t>
            </a:r>
          </a:p>
          <a:p>
            <a:pPr>
              <a:spcBef>
                <a:spcPts val="800"/>
              </a:spcBef>
              <a:defRPr sz="1200" b="1">
                <a:solidFill>
                  <a:srgbClr val="0F2043"/>
                </a:solidFill>
              </a:defRPr>
            </a:pPr>
            <a:r>
              <a:rPr dirty="0" err="1"/>
              <a:t>Entregável</a:t>
            </a:r>
            <a:r>
              <a:rPr dirty="0"/>
              <a:t> </a:t>
            </a:r>
            <a:r>
              <a:rPr dirty="0" err="1"/>
              <a:t>Esperado</a:t>
            </a:r>
            <a:r>
              <a:rPr dirty="0"/>
              <a:t>:</a:t>
            </a:r>
          </a:p>
          <a:p>
            <a:pPr>
              <a:spcBef>
                <a:spcPts val="400"/>
              </a:spcBef>
              <a:defRPr sz="1100">
                <a:solidFill>
                  <a:srgbClr val="282828"/>
                </a:solidFill>
              </a:defRPr>
            </a:pPr>
            <a:r>
              <a:rPr dirty="0"/>
              <a:t>• Monte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tabela</a:t>
            </a:r>
            <a:r>
              <a:rPr dirty="0"/>
              <a:t> </a:t>
            </a:r>
            <a:r>
              <a:rPr dirty="0" err="1"/>
              <a:t>especificada</a:t>
            </a:r>
            <a:r>
              <a:rPr dirty="0"/>
              <a:t> </a:t>
            </a:r>
            <a:r>
              <a:rPr dirty="0" err="1"/>
              <a:t>detalhando</a:t>
            </a:r>
            <a:r>
              <a:rPr dirty="0"/>
              <a:t>: CPU (Cores/Clock), RAM (GB/Freq.), </a:t>
            </a:r>
            <a:r>
              <a:rPr dirty="0" err="1"/>
              <a:t>Armazenamento</a:t>
            </a:r>
            <a:r>
              <a:rPr dirty="0"/>
              <a:t> (Tipo/</a:t>
            </a:r>
            <a:r>
              <a:rPr dirty="0" err="1"/>
              <a:t>Capacidade</a:t>
            </a:r>
            <a:r>
              <a:rPr dirty="0"/>
              <a:t>), GPU e </a:t>
            </a:r>
            <a:r>
              <a:rPr dirty="0" err="1"/>
              <a:t>Monitores</a:t>
            </a:r>
            <a:r>
              <a:rPr dirty="0"/>
              <a:t>.</a:t>
            </a:r>
          </a:p>
          <a:p>
            <a:pPr>
              <a:spcBef>
                <a:spcPts val="400"/>
              </a:spcBef>
              <a:defRPr sz="1100">
                <a:solidFill>
                  <a:srgbClr val="282828"/>
                </a:solidFill>
              </a:defRPr>
            </a:pPr>
            <a:r>
              <a:rPr dirty="0"/>
              <a:t>• </a:t>
            </a:r>
            <a:r>
              <a:rPr dirty="0" err="1"/>
              <a:t>Apresente</a:t>
            </a:r>
            <a:r>
              <a:rPr dirty="0"/>
              <a:t> a JUSTIFICATIVA TÉCNICA para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componente</a:t>
            </a:r>
            <a:r>
              <a:rPr dirty="0"/>
              <a:t> </a:t>
            </a:r>
            <a:r>
              <a:rPr dirty="0" err="1"/>
              <a:t>selecionado</a:t>
            </a:r>
            <a:r>
              <a:rPr dirty="0"/>
              <a:t> com base </a:t>
            </a:r>
            <a:r>
              <a:rPr dirty="0" err="1"/>
              <a:t>nos</a:t>
            </a:r>
            <a:r>
              <a:rPr dirty="0"/>
              <a:t> </a:t>
            </a:r>
            <a:r>
              <a:rPr dirty="0" err="1"/>
              <a:t>conceitos</a:t>
            </a:r>
            <a:r>
              <a:rPr dirty="0"/>
              <a:t> </a:t>
            </a:r>
            <a:r>
              <a:rPr dirty="0" err="1"/>
              <a:t>aprendidos</a:t>
            </a:r>
            <a:r>
              <a:rPr dirty="0"/>
              <a:t> </a:t>
            </a:r>
            <a:r>
              <a:rPr dirty="0" err="1"/>
              <a:t>nesta</a:t>
            </a:r>
            <a:r>
              <a:rPr dirty="0"/>
              <a:t> aula.</a:t>
            </a:r>
          </a:p>
        </p:txBody>
      </p:sp>
    </p:spTree>
    <p:extLst>
      <p:ext uri="{BB962C8B-B14F-4D97-AF65-F5344CB8AC3E}">
        <p14:creationId xmlns:p14="http://schemas.microsoft.com/office/powerpoint/2010/main" val="2817621649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1477</Words>
  <Application>Microsoft Office PowerPoint</Application>
  <PresentationFormat>Apresentação na tela (16:9)</PresentationFormat>
  <Paragraphs>90</Paragraphs>
  <Slides>11</Slides>
  <Notes>11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11</vt:i4>
      </vt:variant>
    </vt:vector>
  </HeadingPairs>
  <TitlesOfParts>
    <vt:vector size="17" baseType="lpstr">
      <vt:lpstr>Roboto</vt:lpstr>
      <vt:lpstr>Raleway</vt:lpstr>
      <vt:lpstr>Lato</vt:lpstr>
      <vt:lpstr>Arial</vt:lpstr>
      <vt:lpstr>Simple Light</vt:lpstr>
      <vt:lpstr>Streamline</vt:lpstr>
      <vt:lpstr>Aula 01: Hardware, Processadores &amp; Estações de Trabalho INF-117 — Informática Aplicada a Aeronáutica</vt:lpstr>
      <vt:lpstr>Objetivos</vt:lpstr>
      <vt:lpstr>Fundamentos — Hardware vs. Software na Aviação</vt:lpstr>
      <vt:lpstr>O Processador (CPU): O Cérebro do Sistema</vt:lpstr>
      <vt:lpstr>Memória RAM e Armazenamento SSD NVMe vs. HDD</vt:lpstr>
      <vt:lpstr>Processamento Gráfico (GPU) e Periféricos Ergonomicos</vt:lpstr>
      <vt:lpstr>Especificação 1 — Estação para Hangar &amp; Oficina MRO</vt:lpstr>
      <vt:lpstr>Especificação 2 — Workstation de Engenharia &amp; PCM</vt:lpstr>
      <vt:lpstr>Tópico Especial — Computação Quântica na Aviação</vt:lpstr>
      <vt:lpstr>Prática em Laboratório — Diagnóstico no Windows 11</vt:lpstr>
      <vt:lpstr>Exercício de Fixação Computacional — Parecer Técnico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Andre</dc:creator>
  <cp:lastModifiedBy>Andre Cassulino Araujo Souza</cp:lastModifiedBy>
  <cp:revision>5</cp:revision>
  <dcterms:modified xsi:type="dcterms:W3CDTF">2026-08-14T03:55:26Z</dcterms:modified>
</cp:coreProperties>
</file>