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Arial"/>
              </a:defRPr>
            </a:pPr>
            <a:r>
              <a:t>FATEC SOROCABA — CURSO SUPERIOR DE TECNOLOGIA EM MANUTENÇÃO DE AERONAVES</a:t>
            </a:r>
          </a:p>
          <a:p>
            <a:pPr>
              <a:spcBef>
                <a:spcPts val="800"/>
              </a:spcBef>
              <a:defRPr sz="1400">
                <a:solidFill>
                  <a:srgbClr val="C8E1FF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spcBef>
                <a:spcPts val="1400"/>
              </a:spcBef>
              <a:defRPr sz="2300" b="1">
                <a:solidFill>
                  <a:srgbClr val="FFFFFF"/>
                </a:solidFill>
                <a:latin typeface="Arial"/>
              </a:defRPr>
            </a:pPr>
            <a:r>
              <a:t>Oficina Prática &amp; Exercício Avaliativo de Formatação ABNT</a:t>
            </a:r>
          </a:p>
          <a:p>
            <a:pPr>
              <a:spcBef>
                <a:spcPts val="800"/>
              </a:spcBef>
              <a:defRPr sz="1300">
                <a:solidFill>
                  <a:srgbClr val="DCEBFA"/>
                </a:solidFill>
                <a:latin typeface="Arial"/>
              </a:defRPr>
            </a:pPr>
            <a:r>
              <a:t>Laboratório de Execução Orientada, Checklist de Entrega e Exercício Avaliativo 1</a:t>
            </a:r>
          </a:p>
          <a:p>
            <a:pPr>
              <a:spcBef>
                <a:spcPts val="2600"/>
              </a:spcBef>
              <a:defRPr sz="1200" b="1">
                <a:solidFill>
                  <a:srgbClr val="0072CE"/>
                </a:solidFill>
                <a:latin typeface="Arial"/>
              </a:defRPr>
            </a:pPr>
            <a:r>
              <a:t>Prof. André Souza  |  Aula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Objetivos da Oficina Prática de Formatação ABNT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2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200">
                <a:solidFill>
                  <a:srgbClr val="0F2043"/>
                </a:solidFill>
                <a:latin typeface="Arial"/>
              </a:rPr>
              <a:t>•  Consolidação Prática Individual: </a:t>
            </a:r>
            <a:r>
              <a:rPr sz="1200">
                <a:solidFill>
                  <a:srgbClr val="282828"/>
                </a:solidFill>
                <a:latin typeface="Arial"/>
              </a:rPr>
              <a:t> Aplicar de forma autônoma e passo a passo todas as regras de formatação ABNT trabalhadas nas Aulas 2 e 3.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2043"/>
                </a:solidFill>
                <a:latin typeface="Arial"/>
              </a:rPr>
              <a:t>•  Transformação de Texto Bruto: </a:t>
            </a:r>
            <a:r>
              <a:rPr sz="1200">
                <a:solidFill>
                  <a:srgbClr val="282828"/>
                </a:solidFill>
                <a:latin typeface="Arial"/>
              </a:rPr>
              <a:t> Receber o arquivo de texto não-formatado sobre Introdução à Aviação e estruturá-lo como um Relatório Técnico oficial de engenharia.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2043"/>
                </a:solidFill>
                <a:latin typeface="Arial"/>
              </a:rPr>
              <a:t>•  Atendimento Bancada a Bancada: </a:t>
            </a:r>
            <a:r>
              <a:rPr sz="1200">
                <a:solidFill>
                  <a:srgbClr val="282828"/>
                </a:solidFill>
                <a:latin typeface="Arial"/>
              </a:rPr>
              <a:t> Esclarecer dúvidas pontuais com o professor durante o desenvolvimento em laboratório.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2043"/>
                </a:solidFill>
                <a:latin typeface="Arial"/>
              </a:rPr>
              <a:t>•  Conclusão do Exercício Avaliativo 1: </a:t>
            </a:r>
            <a:r>
              <a:rPr sz="1200">
                <a:solidFill>
                  <a:srgbClr val="282828"/>
                </a:solidFill>
                <a:latin typeface="Arial"/>
              </a:rPr>
              <a:t> Concluir e entregar o trabalho para somar pontuação na média de exercícios práticos contínuos (peso de 50%).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F2043"/>
                </a:solidFill>
                <a:latin typeface="Arial"/>
              </a:rPr>
              <a:t>•  Entrega em Múltiplos Formatos: </a:t>
            </a:r>
            <a:r>
              <a:rPr sz="1200">
                <a:solidFill>
                  <a:srgbClr val="282828"/>
                </a:solidFill>
                <a:latin typeface="Arial"/>
              </a:rPr>
              <a:t> Gerar o arquivo editável (.docx) e o arquivo final inviolável no padrão oficial PDF/A (.pdf).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Dinâmica e Gestão do Tempo no Laboratório (~1h40)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3 de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2043"/>
                </a:solidFill>
              </a:defRPr>
            </a:pPr>
            <a:r>
              <a:t>1. SETUP &amp; ALINHAMENTO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Primeiros 15 minutos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Ligação dos computadores e login no Office 365.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Download do texto base: Texto_Exercicio_Historia_da_Aviacao.txt.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Abertura do Guia_Exercicio_Formatacao_Word.md.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Revisão rápida dos critérios de pontuação pelo professor.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097280"/>
            <a:ext cx="2560320" cy="3474720"/>
          </a:xfrm>
          <a:prstGeom prst="roundRect">
            <a:avLst/>
          </a:prstGeom>
          <a:solidFill>
            <a:srgbClr val="E6F0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1887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2043"/>
                </a:solidFill>
              </a:defRPr>
            </a:pPr>
            <a:r>
              <a:t>2. DESENVOLVIMENTO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60 minutos de prática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Execução autônoma do checklist de formatação pelo estudante.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Configuração de margens, estilos, quebras de seção e numeração.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Formatação da tabela de aeronaves e legenda de figura.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Atendimento individual do professor passando nas bancadas.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9728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1887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2043"/>
                </a:solidFill>
              </a:defRPr>
            </a:pPr>
            <a:r>
              <a:t>3. CONFERÊNCIA &amp; ENVIO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Últimos 15 minutos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Geração e atualização final do Sumário Automático.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Conferência do checklist completo de requisitos ABNT.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Exportação no formato PDF/A.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Upload dos 2 arquivos (.docx e .pdf) na plataforma institucional.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O Arquivo Base — Introdução à Aviação Civil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4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0F2043"/>
                </a:solidFill>
                <a:latin typeface="Arial"/>
              </a:rPr>
              <a:t>Seção 1: Santos Dumont e o Voo do 14-Bis: </a:t>
            </a:r>
            <a:r>
              <a:rPr sz="1100">
                <a:solidFill>
                  <a:srgbClr val="282828"/>
                </a:solidFill>
                <a:latin typeface="Arial"/>
              </a:rPr>
              <a:t>História, pioneirismo aeronáutico e evolução dos primeiros voos na França.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F2043"/>
                </a:solidFill>
                <a:latin typeface="Arial"/>
              </a:rPr>
              <a:t>Seção 2: A Criação da ANAC e o Papel Regulador: </a:t>
            </a:r>
            <a:r>
              <a:rPr sz="1100">
                <a:solidFill>
                  <a:srgbClr val="282828"/>
                </a:solidFill>
                <a:latin typeface="Arial"/>
              </a:rPr>
              <a:t>Histórico do DAC à ANAC, regulamentos RBAC e segurança operacional.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F2043"/>
                </a:solidFill>
                <a:latin typeface="Arial"/>
              </a:rPr>
              <a:t>Seção 3: Aeronaves Leves Esportivas (ALE / LSA): </a:t>
            </a:r>
            <a:r>
              <a:rPr sz="1100">
                <a:solidFill>
                  <a:srgbClr val="282828"/>
                </a:solidFill>
                <a:latin typeface="Arial"/>
              </a:rPr>
              <a:t>Definição técnica de aeronaves experimentais e desportivas leves.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F2043"/>
                </a:solidFill>
                <a:latin typeface="Arial"/>
              </a:rPr>
              <a:t>Seção 4: A Evolução da Aviação Comercial e a Embraer: </a:t>
            </a:r>
            <a:r>
              <a:rPr sz="1100">
                <a:solidFill>
                  <a:srgbClr val="282828"/>
                </a:solidFill>
                <a:latin typeface="Arial"/>
              </a:rPr>
              <a:t>Crescimento da aviação comercial a jato e a liderança mundial dos E-Jets da Embraer.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F2043"/>
                </a:solidFill>
                <a:latin typeface="Arial"/>
              </a:rPr>
              <a:t>Seção 5: Formação e Licenças na Aviação Civil: </a:t>
            </a:r>
            <a:r>
              <a:rPr sz="1100">
                <a:solidFill>
                  <a:srgbClr val="282828"/>
                </a:solidFill>
                <a:latin typeface="Arial"/>
              </a:rPr>
              <a:t>Requisitos para obtenção de CMA, licenças de piloto e habilitações de mecânicos CHT.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F2043"/>
                </a:solidFill>
                <a:latin typeface="Arial"/>
              </a:rPr>
              <a:t>Seção 6: Segurança Operacional e Tomada de Decisão: </a:t>
            </a:r>
            <a:r>
              <a:rPr sz="1100">
                <a:solidFill>
                  <a:srgbClr val="282828"/>
                </a:solidFill>
                <a:latin typeface="Arial"/>
              </a:rPr>
              <a:t>Cultura de segurança de voo e gerenciamento de risco aeronáutico.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F2043"/>
                </a:solidFill>
                <a:latin typeface="Arial"/>
              </a:rPr>
              <a:t>Seção 7: Considerações Finais e Perspectivas: </a:t>
            </a:r>
            <a:r>
              <a:rPr sz="1100">
                <a:solidFill>
                  <a:srgbClr val="282828"/>
                </a:solidFill>
                <a:latin typeface="Arial"/>
              </a:rPr>
              <a:t>Sustentabilidade, combustíveis SAF e inovação na manutenção de aeronaves.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Checklist ABNT 1 — Margens, Papel e Estilos de 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5 de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2043"/>
                </a:solidFill>
              </a:defRPr>
            </a:pPr>
            <a:r>
              <a:t>CONFIGURAÇÃO DE PÁGINA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Layout -&gt; Margens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Tamanho do Papel: A4 (21,0 cm x 29,7 cm).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Margem Superior: 3,0 cm.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Margem Esquerda: 3,0 cm.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Margem Inferior: 2,0 cm.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Margem Direita: 2,0 cm.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097280"/>
            <a:ext cx="2560320" cy="3474720"/>
          </a:xfrm>
          <a:prstGeom prst="roundRect">
            <a:avLst/>
          </a:prstGeom>
          <a:solidFill>
            <a:srgbClr val="E6F0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1887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2043"/>
                </a:solidFill>
              </a:defRPr>
            </a:pPr>
            <a:r>
              <a:t>ESTILO NORMAL (CORPO DE TEXTO)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Página Inicial -&gt; Estilos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Fonte: Arial ou Calibri 12 pt.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Alinhamento: Justificado (Ctrl + J).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Espaçamento entre Linhas: 1,5 linha.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Recuo Especial de 1ª Linha: 1,25 cm.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Espaçamento Depois: 6 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9728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1887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2043"/>
                </a:solidFill>
              </a:defRPr>
            </a:pPr>
            <a:r>
              <a:t>ESTILOS DE TÍTULOS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Hierarquia estrutural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Título 1: Arial/Calibri 14 pt, Negrito, MAIÚSCULAS (Antes 12 pt / Depois 6 pt).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Título 2: Arial/Calibri 12 pt, Negrito, Caixa Mista (Antes 6 pt / Depois 6 pt).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Aplicar nas seções principais 1 a 7 e subseções.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Checklist ABNT 2 — Quebras de Seção e Numeração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6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Página 1 (Capa): </a:t>
            </a:r>
            <a:r>
              <a:rPr sz="1150">
                <a:solidFill>
                  <a:srgbClr val="282828"/>
                </a:solidFill>
                <a:latin typeface="Arial"/>
              </a:rPr>
              <a:t> Centralizar dados institucionais (Fatec Sorocaba, INF-117, título do relatório, autor, local e ano). Inserir Quebra de Seção (Próxima Página).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Página 2 (Sumário): </a:t>
            </a:r>
            <a:r>
              <a:rPr sz="1150">
                <a:solidFill>
                  <a:srgbClr val="282828"/>
                </a:solidFill>
                <a:latin typeface="Arial"/>
              </a:rPr>
              <a:t> Reservar para o Sumário Automático. Inserir Quebra de Seção (Próxima Página) no final da folha.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Página 3 (Introdução - Seção 2): </a:t>
            </a:r>
            <a:r>
              <a:rPr sz="1150">
                <a:solidFill>
                  <a:srgbClr val="282828"/>
                </a:solidFill>
                <a:latin typeface="Arial"/>
              </a:rPr>
              <a:t> Dê duplo clique no cabeçalho e DESATIVE o botão 'Vincular ao Anterior'.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Inserção do Número de Página: </a:t>
            </a:r>
            <a:r>
              <a:rPr sz="1150">
                <a:solidFill>
                  <a:srgbClr val="282828"/>
                </a:solidFill>
                <a:latin typeface="Arial"/>
              </a:rPr>
              <a:t> Número de Página -&gt; Formatar Números de Página -&gt; Marcar 'Iniciar em: 3' -&gt; Número de Página -&gt; Início da Página -&gt; Número Sem Formatação 3 (canto direito).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2043"/>
                </a:solidFill>
                <a:latin typeface="Arial"/>
              </a:rPr>
              <a:t>•  Conferência Visual Obrigatória: </a:t>
            </a:r>
            <a:r>
              <a:rPr sz="1150">
                <a:solidFill>
                  <a:srgbClr val="282828"/>
                </a:solidFill>
                <a:latin typeface="Arial"/>
              </a:rPr>
              <a:t> Capa e Sumário SEM NÚMERO VISÍVEL; numeração iniciando visível em 3 na Introdução!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Checklist ABNT 3 — Tabela de Aeronaves e Figuras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7 de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931920" cy="3566160"/>
          </a:xfrm>
          <a:prstGeom prst="roundRect">
            <a:avLst/>
          </a:prstGeom>
          <a:solidFill>
            <a:srgbClr val="E6F0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2043"/>
                </a:solidFill>
              </a:defRPr>
            </a:pPr>
            <a:r>
              <a:t>TABELA DE AERONAVES (SEÇÃO 4)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Grade estruturada com 7 colunas x 8 linhas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Inserir tabela com dados de Santos Dumont 14-Bis, Demoiselle, DC-3, Boeing 707, Concorde e E195-E2.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Cabeçalho formatado com fundo escuro e texto em negrito.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Propriedades da Tabela -&gt; Habilitar 'Repetir Linhas de Cabeçalho'.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Inserir legenda acima: 'Tabela 1: Comparativo de especificações de aeronaves'.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Inserir fonte abaixo em 10 pt: 'Fonte: Cartilha ANAC e Manuais (2026)'.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5156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2043"/>
                </a:solidFill>
              </a:defRPr>
            </a:pPr>
            <a:r>
              <a:t>FIGURA TÉCNICA COM LEGENDA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Ilustração oficial no documento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Inserir imagem técnica centralizada (Embraer E195-E2 ou 14-Bis).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Botão direito -&gt; 'Inserir Legenda...'.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Rótulo: 'Figura' -&gt; ': Aeronave comercial com motores turbofan'.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Inserir linha de fonte abaixo da imagem em 10 pt: 'Fonte: Embraer Media (2026)'.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Checklist ABNT 4 — Sumário Automático e PDF/A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8 de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2043"/>
                </a:solidFill>
              </a:defRPr>
            </a:pPr>
            <a:r>
              <a:t>GERAÇÃO DO SUMÁRIO AUTOMÁTICO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Página 2 reservada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Posicionar o cursor na Página 2 reservada.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Guia Referências -&gt; Sumário -&gt; Sumário Automático 1.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Verificar se as 7 seções foram listadas com os números de página exatos.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Pressionar F9 para atualizar o índice antes de exportar.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51560"/>
            <a:ext cx="3931920" cy="3566160"/>
          </a:xfrm>
          <a:prstGeom prst="roundRect">
            <a:avLst/>
          </a:prstGeom>
          <a:solidFill>
            <a:srgbClr val="E6F0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2043"/>
                </a:solidFill>
              </a:defRPr>
            </a:pPr>
            <a:r>
              <a:t>EXPORTAÇÃO OFICIAL PDF/A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ISO 19005 para arquivamento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Arquivo -&gt; Salvar Como -&gt; Tipo: PDF (*.pdf).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Mais opções... -&gt; Marcar 'Compatível com ISO 19005-1 (PDF/A)'.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Salvar com nome padronizado.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Abrir o PDF para conferência visual das margens e numeração.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Critérios de Correção — Exercício Avaliativo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9 de 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4023360"/>
              </a:tblGrid>
              <a:tr h="47026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CRITÉRIO AVALIADO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PONTUAÇÃO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O QUE SERÁ VERIFICADO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2043"/>
                          </a:solidFill>
                        </a:defRPr>
                      </a:pPr>
                      <a:r>
                        <a:t>Configuração de Margens e Papel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072CE"/>
                          </a:solidFill>
                        </a:defRPr>
                      </a:pPr>
                      <a:r>
                        <a:t>1,0 pt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t>Margens corretas (3-3-2-2) e tamanho A4.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2043"/>
                          </a:solidFill>
                        </a:defRPr>
                      </a:pPr>
                      <a:r>
                        <a:t>Aplicação de Estilos (Normal, Título 1, Título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072CE"/>
                          </a:solidFill>
                        </a:defRPr>
                      </a:pPr>
                      <a:r>
                        <a:t>2,5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t>Uso real dos estilos, fontes, recuo de 1,25 cm e entrelinhas 1,5.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2043"/>
                          </a:solidFill>
                        </a:defRPr>
                      </a:pPr>
                      <a:r>
                        <a:t>Quebras de Seção e Numeração ABNT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072CE"/>
                          </a:solidFill>
                        </a:defRPr>
                      </a:pPr>
                      <a:r>
                        <a:t>3,0 pts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t>Desvinculação correta; numeração visível iniciando em 3 na Introdução.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2043"/>
                          </a:solidFill>
                        </a:defRPr>
                      </a:pPr>
                      <a:r>
                        <a:t>Tabelas, Figuras e Legendas Oficiais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072CE"/>
                          </a:solidFill>
                        </a:defRPr>
                      </a:pPr>
                      <a:r>
                        <a:t>1,5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t>Legendas automáticas formatadas e indicação de fonte consultada.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2043"/>
                          </a:solidFill>
                        </a:defRPr>
                      </a:pPr>
                      <a:r>
                        <a:t>Sumário Automático e Exportação PDF/A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072CE"/>
                          </a:solidFill>
                        </a:defRPr>
                      </a:pPr>
                      <a:r>
                        <a:t>2,0 pts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t>Sumário dinâmico funcionando e arquivo PDF gerado corretamente.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2043"/>
                          </a:solidFill>
                        </a:defRPr>
                      </a:pPr>
                      <a:r>
                        <a:t>TOTAL DO EXERCÍCIO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072CE"/>
                          </a:solidFill>
                        </a:defRPr>
                      </a:pPr>
                      <a:r>
                        <a:t>10,0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82828"/>
                          </a:solidFill>
                        </a:defRPr>
                      </a:pPr>
                      <a:r>
                        <a:t>Composição da média de exercícios práticos contínuos (peso 50%).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Instruções de Envio e Nomenclatura dos Arquivos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10 de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2043"/>
                </a:solidFill>
              </a:defRPr>
            </a:pPr>
            <a:r>
              <a:t>ARQUIVO EDITÁVEL (.DOCX)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Salvar para arquivo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Nomenclatura obrigatória: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Relatorio_ABNT_SeuNome_RA.docx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Contém todos os estilos ativos e quebras de seção editáveis.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097280"/>
            <a:ext cx="2560320" cy="3474720"/>
          </a:xfrm>
          <a:prstGeom prst="roundRect">
            <a:avLst/>
          </a:prstGeom>
          <a:solidFill>
            <a:srgbClr val="E6F0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1887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2043"/>
                </a:solidFill>
              </a:defRPr>
            </a:pPr>
            <a:r>
              <a:t>ARQUIVO EXPORTADO (.PDF)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Padrão PDF/A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Nomenclatura obrigatória: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Relatorio_ABNT_SeuNome_RA.pdf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Versão final inviolável para avaliação e conferência gráfica.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9728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1887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2043"/>
                </a:solidFill>
              </a:defRPr>
            </a:pPr>
            <a:r>
              <a:t>UPLOAD NA PLATAFORMA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Envio institucional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Anexar os DOIS arquivos (.docx e .pdf) na tarefa da disciplina.</a:t>
            </a:r>
          </a:p>
          <a:p>
            <a:pPr>
              <a:spcBef>
                <a:spcPts val="500"/>
              </a:spcBef>
              <a:defRPr sz="950">
                <a:solidFill>
                  <a:srgbClr val="282828"/>
                </a:solidFill>
              </a:defRPr>
            </a:pPr>
            <a:r>
              <a:t>• Conferir se o envio foi concluído com sucesso antes de sair do laboratório.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Próximos Passos — Módulo de Microsoft Excel!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11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Parabéns pela conclusão do Módulo de Documentação Técnica e ABNT no Word!</a:t>
            </a:r>
          </a:p>
          <a:p>
            <a:pPr>
              <a:spcBef>
                <a:spcPts val="1000"/>
              </a:spcBef>
              <a:defRPr sz="1250">
                <a:solidFill>
                  <a:srgbClr val="282828"/>
                </a:solidFill>
              </a:defRPr>
            </a:pPr>
            <a:r>
              <a:t>A partir da próxima aula (Aula 05), iniciaremos o Módulo de Microsoft Excel Aplicado à Aeronáutica:</a:t>
            </a:r>
          </a:p>
          <a:p>
            <a:pPr>
              <a:spcBef>
                <a:spcPts val="800"/>
              </a:spcBef>
              <a:defRPr sz="1100">
                <a:solidFill>
                  <a:srgbClr val="0F2043"/>
                </a:solidFill>
              </a:defRPr>
            </a:pPr>
            <a:r>
              <a:t>✈  Aula 05: Primeiros passos no Excel (Interface, tipos de células e operadores básicos).</a:t>
            </a:r>
          </a:p>
          <a:p>
            <a:pPr>
              <a:spcBef>
                <a:spcPts val="800"/>
              </a:spcBef>
              <a:defRPr sz="1100">
                <a:solidFill>
                  <a:srgbClr val="0F2043"/>
                </a:solidFill>
              </a:defRPr>
            </a:pPr>
            <a:r>
              <a:t>✈  Aula 06: Funções essenciais (SOMA, MÉDIA) e Referências Absolutas ($) com conversão de unidades.</a:t>
            </a:r>
          </a:p>
          <a:p>
            <a:pPr>
              <a:spcBef>
                <a:spcPts val="800"/>
              </a:spcBef>
              <a:defRPr sz="1100">
                <a:solidFill>
                  <a:srgbClr val="0F2043"/>
                </a:solidFill>
              </a:defRPr>
            </a:pPr>
            <a:r>
              <a:t>✈  Aula 07: Modelagem de Peso e Balanceamento de Aeronaves (Centro de Gravidade - CG).</a:t>
            </a:r>
          </a:p>
          <a:p>
            <a:pPr>
              <a:spcBef>
                <a:spcPts val="800"/>
              </a:spcBef>
              <a:defRPr sz="1100">
                <a:solidFill>
                  <a:srgbClr val="0F2043"/>
                </a:solidFill>
              </a:defRPr>
            </a:pPr>
            <a:r>
              <a:t>✈  Aulas 08 a 13: Lógica condicional (SE), buscas (PROCX), gráficos de engenharia e tabelas dinâmicas.</a:t>
            </a:r>
          </a:p>
          <a:p>
            <a:pPr>
              <a:spcBef>
                <a:spcPts val="800"/>
              </a:spcBef>
              <a:defRPr sz="1100">
                <a:solidFill>
                  <a:srgbClr val="0F2043"/>
                </a:solidFill>
              </a:defRPr>
            </a:pPr>
            <a:r>
              <a:t>✈  Avaliação Final: Prova Prática de Excel em 27/11 (50% da média) + Exercícios Contínuos (50%).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