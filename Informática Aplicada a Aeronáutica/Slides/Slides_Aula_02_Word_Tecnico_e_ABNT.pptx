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Arial"/>
              </a:defRPr>
            </a:pPr>
            <a:r>
              <a:t>FATEC SOROCABA — CURSO SUPERIOR DE TECNOLOGIA EM MANUTENÇÃO DE AERONAVES</a:t>
            </a:r>
          </a:p>
          <a:p>
            <a:pPr>
              <a:spcBef>
                <a:spcPts val="800"/>
              </a:spcBef>
              <a:defRPr sz="1400">
                <a:solidFill>
                  <a:srgbClr val="C8E1FF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spcBef>
                <a:spcPts val="1400"/>
              </a:spcBef>
              <a:defRPr sz="2400" b="1">
                <a:solidFill>
                  <a:srgbClr val="FFFFFF"/>
                </a:solidFill>
                <a:latin typeface="Arial"/>
              </a:defRPr>
            </a:pPr>
            <a:r>
              <a:t>MS Word Técnico — Normas ABNT (Parte 1)</a:t>
            </a:r>
          </a:p>
          <a:p>
            <a:pPr>
              <a:spcBef>
                <a:spcPts val="800"/>
              </a:spcBef>
              <a:defRPr sz="1300">
                <a:solidFill>
                  <a:srgbClr val="DCEBFA"/>
                </a:solidFill>
                <a:latin typeface="Arial"/>
              </a:defRPr>
            </a:pPr>
            <a:r>
              <a:t>Configuração de Página, Margens Oficiais, Tipografia e Criação de Estilos de Parágrafo</a:t>
            </a:r>
          </a:p>
          <a:p>
            <a:pPr>
              <a:spcBef>
                <a:spcPts val="2600"/>
              </a:spcBef>
              <a:defRPr sz="1200" b="1">
                <a:solidFill>
                  <a:srgbClr val="0072CE"/>
                </a:solidFill>
                <a:latin typeface="Arial"/>
              </a:defRPr>
            </a:pPr>
            <a:r>
              <a:t>Prof. André Souza  |  Aula 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Objetivos de Aprendizagem da Aula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2 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b="1" sz="1150">
                <a:solidFill>
                  <a:srgbClr val="0F2043"/>
                </a:solidFill>
              </a:rPr>
              <a:t>•  Importância Normativa (NBR 14724): </a:t>
            </a:r>
            <a:r>
              <a:rPr sz="1150">
                <a:solidFill>
                  <a:srgbClr val="282828"/>
                </a:solidFill>
              </a:rPr>
              <a:t> Compreender a necessidade de padronização visual e estrutural em relatórios de engenharia e aviação.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0F2043"/>
                </a:solidFill>
              </a:rPr>
              <a:t>•  Configuração de Página e Margens: </a:t>
            </a:r>
            <a:r>
              <a:rPr sz="1150">
                <a:solidFill>
                  <a:srgbClr val="282828"/>
                </a:solidFill>
              </a:rPr>
              <a:t> Definir o papel A4 e as margens oficiais (Superior: 3cm, Esquerda: 3cm, Inferior: 2cm, Direita: 2cm).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0F2043"/>
                </a:solidFill>
              </a:rPr>
              <a:t>•  Parágrafos Técnicos: </a:t>
            </a:r>
            <a:r>
              <a:rPr sz="1150">
                <a:solidFill>
                  <a:srgbClr val="282828"/>
                </a:solidFill>
              </a:rPr>
              <a:t> Aplicar alinhamento Justificado, entrelinhas 1,5, recuo de primeira linha em 1,25 cm e espaçamento entre blocos.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0F2043"/>
                </a:solidFill>
              </a:rPr>
              <a:t>•  Hierarquia de Estilos de Texto: </a:t>
            </a:r>
            <a:r>
              <a:rPr sz="1150">
                <a:solidFill>
                  <a:srgbClr val="282828"/>
                </a:solidFill>
              </a:rPr>
              <a:t> Criar, modificar e aplicar os estilos Normal (corpo), Título 1 (seções) e Título 2 (subseções).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0F2043"/>
                </a:solidFill>
              </a:rPr>
              <a:t>•  Painel de Navegação (Ctrl + F): </a:t>
            </a:r>
            <a:r>
              <a:rPr sz="1150">
                <a:solidFill>
                  <a:srgbClr val="282828"/>
                </a:solidFill>
              </a:rPr>
              <a:t> Utilizar o mapa interativo de títulos para inspecionar e navegar no documento.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0F2043"/>
                </a:solidFill>
              </a:rPr>
              <a:t>•  Base para o Sumário: </a:t>
            </a:r>
            <a:r>
              <a:rPr sz="1150">
                <a:solidFill>
                  <a:srgbClr val="282828"/>
                </a:solidFill>
              </a:rPr>
              <a:t> Preparar o documento para que na Aula 03 seja possível gerar o Sumário Automático instantâneo.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Por que o uso de Estilos é Obrigatório em Engenharia?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3 de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931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043"/>
                </a:solidFill>
              </a:defRPr>
            </a:pPr>
            <a:r>
              <a:t>O PROBLEMA DA FORMATAÇÃO MANUAL</a:t>
            </a:r>
          </a:p>
          <a:p>
            <a:pPr>
              <a:spcBef>
                <a:spcPts val="200"/>
              </a:spcBef>
              <a:defRPr sz="1000">
                <a:solidFill>
                  <a:srgbClr val="0072CE"/>
                </a:solidFill>
              </a:defRPr>
            </a:pPr>
            <a:r>
              <a:t>Vícios comuns que geram retrabalho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Selecionar parágrafo por parágrafo para trocar fontes e tamanhos gera despadronização.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Qualquer ajuste exige alterar dezenas de páginas manualmente uma a uma.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O Word NÃO reconhece títulos formatados manualmente para gerar o Sumário!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Gera arquivos desorganizados e rejeitados em bancas de TCC e auditorias da ANAC.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051560"/>
            <a:ext cx="3931920" cy="3566160"/>
          </a:xfrm>
          <a:prstGeom prst="roundRect">
            <a:avLst/>
          </a:prstGeom>
          <a:solidFill>
            <a:srgbClr val="E6F0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14300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043"/>
                </a:solidFill>
              </a:defRPr>
            </a:pPr>
            <a:r>
              <a:t>A SOLUÇÃO ATRAVÉS DE ESTILOS</a:t>
            </a:r>
          </a:p>
          <a:p>
            <a:pPr>
              <a:spcBef>
                <a:spcPts val="200"/>
              </a:spcBef>
              <a:defRPr sz="1000">
                <a:solidFill>
                  <a:srgbClr val="0072CE"/>
                </a:solidFill>
              </a:defRPr>
            </a:pPr>
            <a:r>
              <a:t>Automação e padronização global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Estilos são regras globais associadas aos blocos do documento.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Alterar o estilo Título 1 atualiza TODOS os capítulos em 1 segundo!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Habilita o Painel de Navegação (Ctrl + F) para saltar entre seções.</a:t>
            </a:r>
          </a:p>
          <a:p>
            <a:pPr>
              <a:spcBef>
                <a:spcPts val="600"/>
              </a:spcBef>
              <a:defRPr sz="1050">
                <a:solidFill>
                  <a:srgbClr val="282828"/>
                </a:solidFill>
              </a:defRPr>
            </a:pPr>
            <a:r>
              <a:t>• Permite ao Word ler a hierarquia e gerar o Sumário Automático com 1 clique.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Padrão Normativo ABNT (NBR 14724) no 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4 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b="1" sz="1150">
                <a:solidFill>
                  <a:srgbClr val="0F2043"/>
                </a:solidFill>
              </a:rPr>
              <a:t>•  Tamanho do Papel: </a:t>
            </a:r>
            <a:r>
              <a:rPr sz="1150">
                <a:solidFill>
                  <a:srgbClr val="282828"/>
                </a:solidFill>
              </a:rPr>
              <a:t> Formato A4 (21,0 cm de largura x 29,7 cm de altura).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0F2043"/>
                </a:solidFill>
              </a:rPr>
              <a:t>•  Margens Superiores e Esquerdas (3,0 cm): </a:t>
            </a:r>
            <a:r>
              <a:rPr sz="1150">
                <a:solidFill>
                  <a:srgbClr val="282828"/>
                </a:solidFill>
              </a:rPr>
              <a:t> Espaço maior reservado para encadernação e perfuração oficial do relatório.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0F2043"/>
                </a:solidFill>
              </a:rPr>
              <a:t>•  Margens Inferiores e Direitas (2,0 cm): </a:t>
            </a:r>
            <a:r>
              <a:rPr sz="1150">
                <a:solidFill>
                  <a:srgbClr val="282828"/>
                </a:solidFill>
              </a:rPr>
              <a:t> Área de respiro e posicionamento da numeração de páginas.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0F2043"/>
                </a:solidFill>
              </a:rPr>
              <a:t>•  Tipografia Padrão: </a:t>
            </a:r>
            <a:r>
              <a:rPr sz="1150">
                <a:solidFill>
                  <a:srgbClr val="282828"/>
                </a:solidFill>
              </a:rPr>
              <a:t> Fonte Arial ou Calibri ou Times New Roman (tamanho 12 pt no corpo de texto).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0F2043"/>
                </a:solidFill>
              </a:rPr>
              <a:t>•  Espaçamento entre Linhas: </a:t>
            </a:r>
            <a:r>
              <a:rPr sz="1150">
                <a:solidFill>
                  <a:srgbClr val="282828"/>
                </a:solidFill>
              </a:rPr>
              <a:t> 1,5 linha em todo o corpo do documento (facilita leitura e anotações do revisor).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0F2043"/>
                </a:solidFill>
              </a:rPr>
              <a:t>•  Recuo de Parágrafo: </a:t>
            </a:r>
            <a:r>
              <a:rPr sz="1150">
                <a:solidFill>
                  <a:srgbClr val="282828"/>
                </a:solidFill>
              </a:rPr>
              <a:t> Recuo especial de primeira linha obrigatório em 1,25 cm.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0F2043"/>
                </a:solidFill>
              </a:rPr>
              <a:t>•  Alinhamento: </a:t>
            </a:r>
            <a:r>
              <a:rPr sz="1150">
                <a:solidFill>
                  <a:srgbClr val="282828"/>
                </a:solidFill>
              </a:rPr>
              <a:t> Sempre Justificado (Ctrl + J), alinhando o texto nas duas margens simultaneamente.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Hierarquia de Estilos: Normal, Título 1 e Título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5 de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2560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F2043"/>
                </a:solidFill>
              </a:defRPr>
            </a:pPr>
            <a:r>
              <a:t>ESTILO NORMAL</a:t>
            </a:r>
          </a:p>
          <a:p>
            <a:pPr>
              <a:spcBef>
                <a:spcPts val="200"/>
              </a:spcBef>
              <a:defRPr sz="950">
                <a:solidFill>
                  <a:srgbClr val="0072CE"/>
                </a:solidFill>
              </a:defRPr>
            </a:pPr>
            <a:r>
              <a:t>Corpo do Relatório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Fonte: Arial 12 pt.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Alinhamento: Justificado.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Entrelinhas: 1,5 linha.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Recuo 1ª Linha: 1,25 cm.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Espaçamento Depois: 6 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097280"/>
            <a:ext cx="2560320" cy="3474720"/>
          </a:xfrm>
          <a:prstGeom prst="roundRect">
            <a:avLst/>
          </a:prstGeom>
          <a:solidFill>
            <a:srgbClr val="E6F0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118872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F2043"/>
                </a:solidFill>
              </a:defRPr>
            </a:pPr>
            <a:r>
              <a:t>ESTILO TÍTULO 1</a:t>
            </a:r>
          </a:p>
          <a:p>
            <a:pPr>
              <a:spcBef>
                <a:spcPts val="200"/>
              </a:spcBef>
              <a:defRPr sz="950">
                <a:solidFill>
                  <a:srgbClr val="0072CE"/>
                </a:solidFill>
              </a:defRPr>
            </a:pPr>
            <a:r>
              <a:t>Capítulos Principais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Fonte: Arial 14 pt.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Formato: Negrito, MAIÚSCULAS.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Entrelinhas: 1,5 linha.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Espaçamento Antes: 12 pt.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Espaçamento Depois: 6 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097280"/>
            <a:ext cx="256032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188720"/>
            <a:ext cx="2286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F2043"/>
                </a:solidFill>
              </a:defRPr>
            </a:pPr>
            <a:r>
              <a:t>ESTILO TÍTULO 2</a:t>
            </a:r>
          </a:p>
          <a:p>
            <a:pPr>
              <a:spcBef>
                <a:spcPts val="200"/>
              </a:spcBef>
              <a:defRPr sz="950">
                <a:solidFill>
                  <a:srgbClr val="0072CE"/>
                </a:solidFill>
              </a:defRPr>
            </a:pPr>
            <a:r>
              <a:t>Subseções Técnicas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Fonte: Arial 12 pt.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Formato: Negrito, Caixa Mista.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Entrelinhas: 1,5 linha.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Espaçamento Antes: 6 pt.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Espaçamento Depois: 6 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Passo a Passo — Configurando o Estilo Normal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6 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b="1" sz="1150">
                <a:solidFill>
                  <a:srgbClr val="0F2043"/>
                </a:solidFill>
              </a:rPr>
              <a:t>1. Localizar a Galeria de Estilos: </a:t>
            </a:r>
            <a:r>
              <a:rPr sz="1150">
                <a:solidFill>
                  <a:srgbClr val="282828"/>
                </a:solidFill>
              </a:rPr>
              <a:t> Na guia Página Inicial, localize a caixa de Estilos.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0F2043"/>
                </a:solidFill>
              </a:rPr>
              <a:t>2. Modificar o Estilo: </a:t>
            </a:r>
            <a:r>
              <a:rPr sz="1150">
                <a:solidFill>
                  <a:srgbClr val="282828"/>
                </a:solidFill>
              </a:rPr>
              <a:t> Clique com o BOTÃO DIREITO sobre o estilo 'Normal' -&gt; selecione 'Modificar...'.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0F2043"/>
                </a:solidFill>
              </a:rPr>
              <a:t>3. Fonte e Alinhamento: </a:t>
            </a:r>
            <a:r>
              <a:rPr sz="1150">
                <a:solidFill>
                  <a:srgbClr val="282828"/>
                </a:solidFill>
              </a:rPr>
              <a:t> Escolha Arial 12 pt e clique no botão 'Justificado'.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0F2043"/>
                </a:solidFill>
              </a:rPr>
              <a:t>4. Caixa Parágrafo: </a:t>
            </a:r>
            <a:r>
              <a:rPr sz="1150">
                <a:solidFill>
                  <a:srgbClr val="282828"/>
                </a:solidFill>
              </a:rPr>
              <a:t> Clique no botão inferior esquerdo 'Formatar' -&gt; 'Parágrafo...'.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0F2043"/>
                </a:solidFill>
              </a:rPr>
              <a:t>5. Recuo e Espaçamento: </a:t>
            </a:r>
            <a:r>
              <a:rPr sz="1150">
                <a:solidFill>
                  <a:srgbClr val="282828"/>
                </a:solidFill>
              </a:rPr>
              <a:t> Em 'Especial', selecione 'Primeira linha' em 1,25 cm | Em 'Espaçamento entre linhas', selecione '1,5 linha' | Em 'Depois', digite 6 pt.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0F2043"/>
                </a:solidFill>
              </a:rPr>
              <a:t>6. Salvar: </a:t>
            </a:r>
            <a:r>
              <a:rPr sz="1150">
                <a:solidFill>
                  <a:srgbClr val="282828"/>
                </a:solidFill>
              </a:rPr>
              <a:t> Clique em OK duas vezes. Pronto! Todo o texto padrão agora obedece à ABNT.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Passo a Passo — Configurando Título 1 e Título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7 de 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3931920" cy="3566160"/>
          </a:xfrm>
          <a:prstGeom prst="roundRect">
            <a:avLst/>
          </a:prstGeom>
          <a:solidFill>
            <a:srgbClr val="E6F0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043"/>
                </a:solidFill>
              </a:defRPr>
            </a:pPr>
            <a:r>
              <a:t>CONFIGURAÇÃO DE TÍTULO 1</a:t>
            </a:r>
          </a:p>
          <a:p>
            <a:pPr>
              <a:spcBef>
                <a:spcPts val="200"/>
              </a:spcBef>
              <a:defRPr sz="1000">
                <a:solidFill>
                  <a:srgbClr val="0072CE"/>
                </a:solidFill>
              </a:defRPr>
            </a:pPr>
            <a:r>
              <a:t>Capítulos Principais (ex: 1. INTRODUÇÃO)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Botão direito sobre 'Título 1' -&gt; Modificar...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Fonte: Arial 14 pt | Negrito | Cor: Preto/Automático.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Formatar -&gt; Parágrafo -&gt; Antes: 12 pt | Depois: 6 pt.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Recuo Especial: Nenhum | Entrelinhas: 1,5 linha.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Atalho rápido de aplicação no texto: Ctrl + Alt + 1.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1051560"/>
            <a:ext cx="39319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143000"/>
            <a:ext cx="3566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2043"/>
                </a:solidFill>
              </a:defRPr>
            </a:pPr>
            <a:r>
              <a:t>CONFIGURAÇÃO DE TÍTULO 2</a:t>
            </a:r>
          </a:p>
          <a:p>
            <a:pPr>
              <a:spcBef>
                <a:spcPts val="200"/>
              </a:spcBef>
              <a:defRPr sz="1000">
                <a:solidFill>
                  <a:srgbClr val="0072CE"/>
                </a:solidFill>
              </a:defRPr>
            </a:pPr>
            <a:r>
              <a:t>Subseções (ex: 1.1 Histórico de Voo)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Botão direito sobre 'Título 2' -&gt; Modificar...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Fonte: Arial 12 pt | Negrito | Cor: Preto/Automático.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Formatar -&gt; Parágrafo -&gt; Antes: 6 pt | Depois: 6 pt.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Recuo Especial: Nenhum | Entrelinhas: 1,5 linha.</a:t>
            </a:r>
          </a:p>
          <a:p>
            <a:pPr>
              <a:spcBef>
                <a:spcPts val="600"/>
              </a:spcBef>
              <a:defRPr sz="1000">
                <a:solidFill>
                  <a:srgbClr val="282828"/>
                </a:solidFill>
              </a:defRPr>
            </a:pPr>
            <a:r>
              <a:t>• Atalho rápido de aplicação no texto: Ctrl + Alt + 2.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O Painel de Navegação (Ctrl + 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8 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b="1" sz="1150">
                <a:solidFill>
                  <a:srgbClr val="0F2043"/>
                </a:solidFill>
              </a:rPr>
              <a:t>•  Como abrir o Painel: </a:t>
            </a:r>
            <a:r>
              <a:rPr sz="1150">
                <a:solidFill>
                  <a:srgbClr val="282828"/>
                </a:solidFill>
              </a:rPr>
              <a:t> Pressione o atalho Ctrl + F e clique na aba 'Títulos' (ou acesse a guia Exibir -&gt; marque 'Painel de Navegação').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0F2043"/>
                </a:solidFill>
              </a:rPr>
              <a:t>•  Árvore de Capítulos Interativa: </a:t>
            </a:r>
            <a:r>
              <a:rPr sz="1150">
                <a:solidFill>
                  <a:srgbClr val="282828"/>
                </a:solidFill>
              </a:rPr>
              <a:t> O Word exibe todo o esqueleto do documento em tempo real.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0F2043"/>
                </a:solidFill>
              </a:rPr>
              <a:t>•  Navegação Instantânea: </a:t>
            </a:r>
            <a:r>
              <a:rPr sz="1150">
                <a:solidFill>
                  <a:srgbClr val="282828"/>
                </a:solidFill>
              </a:rPr>
              <a:t> Clicar em qualquer título salta imediatamente para a página correspondente no texto.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0F2043"/>
                </a:solidFill>
              </a:rPr>
              <a:t>•  Diagnóstico de Estilos: </a:t>
            </a:r>
            <a:r>
              <a:rPr sz="1150">
                <a:solidFill>
                  <a:srgbClr val="282828"/>
                </a:solidFill>
              </a:rPr>
              <a:t> Se um título NÃO aparecer no painel, significa que você esqueceu de aplicar o estilo Título 1 ou Título 2!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0F2043"/>
                </a:solidFill>
              </a:rPr>
              <a:t>•  Reorganização Rápida: </a:t>
            </a:r>
            <a:r>
              <a:rPr sz="1150">
                <a:solidFill>
                  <a:srgbClr val="282828"/>
                </a:solidFill>
              </a:rPr>
              <a:t> É possível arrastar capítulos inteiros para cima ou para baixo direto pelo painel de navegação!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Atividade Prática em Laboratório da Aula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9 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b="1" sz="1150">
                <a:solidFill>
                  <a:srgbClr val="0F2043"/>
                </a:solidFill>
              </a:rPr>
              <a:t>1. Criar o Documento: </a:t>
            </a:r>
            <a:r>
              <a:rPr sz="1150">
                <a:solidFill>
                  <a:srgbClr val="282828"/>
                </a:solidFill>
              </a:rPr>
              <a:t> Inicie um novo arquivo e configure Tamanho A4 e Margens (3-3-2-2).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0F2043"/>
                </a:solidFill>
              </a:rPr>
              <a:t>2. Configurar os Estilos: </a:t>
            </a:r>
            <a:r>
              <a:rPr sz="1150">
                <a:solidFill>
                  <a:srgbClr val="282828"/>
                </a:solidFill>
              </a:rPr>
              <a:t> Configure os estilos Normal, Título 1 e Título 2 conforme os parâmetros ABNT.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0F2043"/>
                </a:solidFill>
              </a:rPr>
              <a:t>3. Inserir o Texto Técnico: </a:t>
            </a:r>
            <a:r>
              <a:rPr sz="1150">
                <a:solidFill>
                  <a:srgbClr val="282828"/>
                </a:solidFill>
              </a:rPr>
              <a:t> Cole as seções do texto sobre História da Aviação Civil.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0F2043"/>
                </a:solidFill>
              </a:rPr>
              <a:t>4. Aplicar os Estilos: </a:t>
            </a:r>
            <a:r>
              <a:rPr sz="1150">
                <a:solidFill>
                  <a:srgbClr val="282828"/>
                </a:solidFill>
              </a:rPr>
              <a:t> Aplique Título 1 nas seções principais, Título 2 nas subseções e Normal nos parágrafos.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0F2043"/>
                </a:solidFill>
              </a:rPr>
              <a:t>5. Salvar o Arquivo Base: </a:t>
            </a:r>
            <a:r>
              <a:rPr sz="1150">
                <a:solidFill>
                  <a:srgbClr val="282828"/>
                </a:solidFill>
              </a:rPr>
              <a:t> Salve como 'Relatorio_ABNT_Aula02.docx' no seu OneDrive institucional.</a:t>
            </a:r>
          </a:p>
          <a:p>
            <a:pPr>
              <a:spcBef>
                <a:spcPts val="600"/>
              </a:spcBef>
            </a:pPr>
            <a:r>
              <a:rPr b="1" sz="1150">
                <a:solidFill>
                  <a:srgbClr val="007832"/>
                </a:solidFill>
              </a:rPr>
              <a:t>Continuação na Aula 03: </a:t>
            </a:r>
            <a:r>
              <a:rPr sz="1150">
                <a:solidFill>
                  <a:srgbClr val="282828"/>
                </a:solidFill>
              </a:rPr>
              <a:t> Guarde este arquivo! Na Aula 03 continuaremos inserindo Capa, Quebras de Seção, Numeração ABNT e o Sumário Automático!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109728"/>
          <a:lstStyle/>
          <a:p>
            <a:pPr algn="ctr">
              <a:defRPr sz="900" b="1">
                <a:solidFill>
                  <a:srgbClr val="0072CE"/>
                </a:solidFill>
                <a:latin typeface="Arial"/>
              </a:defRPr>
            </a:pPr>
            <a:r>
              <a:t>INF-117 — INFORMÁTICA APLICADA A AERONÁUTICA</a:t>
            </a:r>
          </a:p>
          <a:p>
            <a:pPr>
              <a:defRPr sz="1800" b="1">
                <a:solidFill>
                  <a:srgbClr val="FFFFFF"/>
                </a:solidFill>
                <a:latin typeface="Arial"/>
              </a:defRPr>
            </a:pPr>
            <a:r>
              <a:t>Dicas de Produtividade &amp; Atalhos no 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5A5A"/>
                </a:solidFill>
                <a:latin typeface="Arial"/>
              </a:defRPr>
            </a:pPr>
            <a:r>
              <a:t>Fatec Sorocaba — CST em Manutenção de Aeronaves  |  Slide 10 de 10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76809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754880"/>
              </a:tblGrid>
              <a:tr h="47026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ATALHO DE TECLADO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AÇÃO NO MS WORD</a:t>
                      </a:r>
                    </a:p>
                  </a:txBody>
                  <a:tcPr>
                    <a:solidFill>
                      <a:srgbClr val="0F2043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0F2043"/>
                          </a:solidFill>
                        </a:defRPr>
                      </a:pPr>
                      <a:r>
                        <a:t>Ctrl + Alt + 1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Aplica o estilo Título 1 ao parágrafo atual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0F2043"/>
                          </a:solidFill>
                        </a:defRPr>
                      </a:pPr>
                      <a:r>
                        <a:t>Ctrl + Alt + 2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Aplica o estilo Título 2 ao parágrafo atual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0F2043"/>
                          </a:solidFill>
                        </a:defRPr>
                      </a:pPr>
                      <a:r>
                        <a:t>Ctrl + Shift + N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Aplica o estilo Normal (limpa formatações avulsas)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0F2043"/>
                          </a:solidFill>
                        </a:defRPr>
                      </a:pPr>
                      <a:r>
                        <a:t>Ctrl + 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Aplica o alinhamento Justificado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0F2043"/>
                          </a:solidFill>
                        </a:defRPr>
                      </a:pPr>
                      <a:r>
                        <a:t>Ctrl + F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Abre o Painel de Navegação e Busca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0F2043"/>
                          </a:solidFill>
                        </a:defRPr>
                      </a:pPr>
                      <a:r>
                        <a:t>Ctrl + B ou Ctrl +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82828"/>
                          </a:solidFill>
                        </a:defRPr>
                      </a:pPr>
                      <a:r>
                        <a:t>Salva o documento no disco ou nuvem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