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3" r:id="rId1"/>
    <p:sldMasterId id="2147483664" r:id="rId2"/>
  </p:sldMasterIdLst>
  <p:notesMasterIdLst>
    <p:notesMasterId r:id="rId12"/>
  </p:notesMasterIdLst>
  <p:sldIdLst>
    <p:sldId id="256" r:id="rId3"/>
    <p:sldId id="257" r:id="rId4"/>
    <p:sldId id="267" r:id="rId5"/>
    <p:sldId id="290" r:id="rId6"/>
    <p:sldId id="291" r:id="rId7"/>
    <p:sldId id="292" r:id="rId8"/>
    <p:sldId id="293" r:id="rId9"/>
    <p:sldId id="294" r:id="rId10"/>
    <p:sldId id="278" r:id="rId11"/>
  </p:sldIdLst>
  <p:sldSz cx="9144000" cy="5143500" type="screen16x9"/>
  <p:notesSz cx="6858000" cy="9144000"/>
  <p:embeddedFontLst>
    <p:embeddedFont>
      <p:font typeface="Lato" panose="020F0502020204030203" pitchFamily="34" charset="0"/>
      <p:regular r:id="rId13"/>
      <p:bold r:id="rId14"/>
      <p:italic r:id="rId15"/>
      <p:boldItalic r:id="rId16"/>
    </p:embeddedFont>
    <p:embeddedFont>
      <p:font typeface="Raleway" pitchFamily="2" charset="0"/>
      <p:regular r:id="rId17"/>
      <p:bold r:id="rId18"/>
      <p:italic r:id="rId19"/>
      <p:boldItalic r:id="rId20"/>
    </p:embeddedFont>
    <p:embeddedFont>
      <p:font typeface="Roboto" panose="02000000000000000000" pitchFamily="2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9" d="100"/>
          <a:sy n="139" d="100"/>
        </p:scale>
        <p:origin x="804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font" Target="fonts/font9.fntdata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12.fntdata"/><Relationship Id="rId5" Type="http://schemas.openxmlformats.org/officeDocument/2006/relationships/slide" Target="slides/slide3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font" Target="fonts/font7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e42522d5eb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e42522d5eb_0_5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g3e42522d5eb_0_5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e46a7c3e07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e46a7c3e07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3ea1e588659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3ea1e588659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>
          <a:extLst>
            <a:ext uri="{FF2B5EF4-FFF2-40B4-BE49-F238E27FC236}">
              <a16:creationId xmlns:a16="http://schemas.microsoft.com/office/drawing/2014/main" id="{CAB63674-848E-0E6E-841C-9E7F75236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3ea1e588659_1_0:notes">
            <a:extLst>
              <a:ext uri="{FF2B5EF4-FFF2-40B4-BE49-F238E27FC236}">
                <a16:creationId xmlns:a16="http://schemas.microsoft.com/office/drawing/2014/main" id="{79E9DD83-E198-98DD-A795-49558991DB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3ea1e588659_1_0:notes">
            <a:extLst>
              <a:ext uri="{FF2B5EF4-FFF2-40B4-BE49-F238E27FC236}">
                <a16:creationId xmlns:a16="http://schemas.microsoft.com/office/drawing/2014/main" id="{156CE0E6-D1BA-1396-8E26-67129B074C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91274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>
          <a:extLst>
            <a:ext uri="{FF2B5EF4-FFF2-40B4-BE49-F238E27FC236}">
              <a16:creationId xmlns:a16="http://schemas.microsoft.com/office/drawing/2014/main" id="{E3416842-BB2A-3034-6E68-E89DC7F82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3ea1e588659_1_0:notes">
            <a:extLst>
              <a:ext uri="{FF2B5EF4-FFF2-40B4-BE49-F238E27FC236}">
                <a16:creationId xmlns:a16="http://schemas.microsoft.com/office/drawing/2014/main" id="{D4108872-BFE4-3A14-A7A9-44FA3DA542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3ea1e588659_1_0:notes">
            <a:extLst>
              <a:ext uri="{FF2B5EF4-FFF2-40B4-BE49-F238E27FC236}">
                <a16:creationId xmlns:a16="http://schemas.microsoft.com/office/drawing/2014/main" id="{17E75EAD-8136-6317-BFEA-1C78FCBDCF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925021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>
          <a:extLst>
            <a:ext uri="{FF2B5EF4-FFF2-40B4-BE49-F238E27FC236}">
              <a16:creationId xmlns:a16="http://schemas.microsoft.com/office/drawing/2014/main" id="{AFABD6AE-19DE-6BC3-188D-4B2E679E6E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3ea1e588659_1_0:notes">
            <a:extLst>
              <a:ext uri="{FF2B5EF4-FFF2-40B4-BE49-F238E27FC236}">
                <a16:creationId xmlns:a16="http://schemas.microsoft.com/office/drawing/2014/main" id="{FD912164-7C28-5D0D-1021-400F0A00FE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3ea1e588659_1_0:notes">
            <a:extLst>
              <a:ext uri="{FF2B5EF4-FFF2-40B4-BE49-F238E27FC236}">
                <a16:creationId xmlns:a16="http://schemas.microsoft.com/office/drawing/2014/main" id="{FD621E6C-653F-652B-13E0-15D2CC13C0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426766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>
          <a:extLst>
            <a:ext uri="{FF2B5EF4-FFF2-40B4-BE49-F238E27FC236}">
              <a16:creationId xmlns:a16="http://schemas.microsoft.com/office/drawing/2014/main" id="{AFF21B27-DB85-AD1C-16C9-42CA4CE96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3ea1e588659_1_0:notes">
            <a:extLst>
              <a:ext uri="{FF2B5EF4-FFF2-40B4-BE49-F238E27FC236}">
                <a16:creationId xmlns:a16="http://schemas.microsoft.com/office/drawing/2014/main" id="{39202DE3-BC18-B2CD-1A9E-9DBF175CA5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3ea1e588659_1_0:notes">
            <a:extLst>
              <a:ext uri="{FF2B5EF4-FFF2-40B4-BE49-F238E27FC236}">
                <a16:creationId xmlns:a16="http://schemas.microsoft.com/office/drawing/2014/main" id="{AF9BAE8C-E348-A893-AF6F-D747378275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529865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>
          <a:extLst>
            <a:ext uri="{FF2B5EF4-FFF2-40B4-BE49-F238E27FC236}">
              <a16:creationId xmlns:a16="http://schemas.microsoft.com/office/drawing/2014/main" id="{742B5021-206D-400C-6C95-7A95C8A9D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3ea1e588659_1_0:notes">
            <a:extLst>
              <a:ext uri="{FF2B5EF4-FFF2-40B4-BE49-F238E27FC236}">
                <a16:creationId xmlns:a16="http://schemas.microsoft.com/office/drawing/2014/main" id="{7A60791F-769A-2DAD-334F-E3DD9A71B0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3ea1e588659_1_0:notes">
            <a:extLst>
              <a:ext uri="{FF2B5EF4-FFF2-40B4-BE49-F238E27FC236}">
                <a16:creationId xmlns:a16="http://schemas.microsoft.com/office/drawing/2014/main" id="{306EAC10-7747-C4E4-4B86-8FC39804C60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490685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3e42522d5eb_0_3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0" name="Google Shape;370;g3e42522d5eb_0_3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de título 1">
  <p:cSld name="TITLE_1">
    <p:bg>
      <p:bgPr>
        <a:solidFill>
          <a:schemeClr val="lt2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6" name="Google Shape;16;p3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7" name="Google Shape;17;p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" name="Google Shape;19;p3"/>
          <p:cNvSpPr txBox="1">
            <a:spLocks noGrp="1"/>
          </p:cNvSpPr>
          <p:nvPr>
            <p:ph type="ctrTitle"/>
          </p:nvPr>
        </p:nvSpPr>
        <p:spPr>
          <a:xfrm>
            <a:off x="727950" y="1936463"/>
            <a:ext cx="7688100" cy="129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B42526"/>
              </a:buClr>
              <a:buSzPts val="4000"/>
              <a:buFont typeface="Roboto"/>
              <a:buNone/>
              <a:defRPr sz="4000">
                <a:solidFill>
                  <a:srgbClr val="B42526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ubTitle" idx="1"/>
          </p:nvPr>
        </p:nvSpPr>
        <p:spPr>
          <a:xfrm>
            <a:off x="449550" y="3874175"/>
            <a:ext cx="8244900" cy="87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B00303"/>
              </a:buClr>
              <a:buSzPts val="2200"/>
              <a:buFont typeface="Roboto"/>
              <a:buNone/>
              <a:defRPr sz="2200">
                <a:solidFill>
                  <a:srgbClr val="B00303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sp>
        <p:nvSpPr>
          <p:cNvPr id="22" name="Google Shape;22;p3"/>
          <p:cNvSpPr/>
          <p:nvPr/>
        </p:nvSpPr>
        <p:spPr>
          <a:xfrm>
            <a:off x="830400" y="1053850"/>
            <a:ext cx="745800" cy="24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FFFFFF"/>
              </a:solidFill>
            </a:endParaRPr>
          </a:p>
        </p:txBody>
      </p:sp>
      <p:pic>
        <p:nvPicPr>
          <p:cNvPr id="23" name="Google Shape;23;p3"/>
          <p:cNvPicPr preferRelativeResize="0"/>
          <p:nvPr/>
        </p:nvPicPr>
        <p:blipFill rotWithShape="1">
          <a:blip r:embed="rId2">
            <a:alphaModFix/>
          </a:blip>
          <a:srcRect b="26659"/>
          <a:stretch/>
        </p:blipFill>
        <p:spPr>
          <a:xfrm>
            <a:off x="0" y="37106"/>
            <a:ext cx="1178231" cy="4506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Char char="●"/>
              <a:defRPr>
                <a:solidFill>
                  <a:srgbClr val="434343"/>
                </a:solidFill>
              </a:defRPr>
            </a:lvl1pPr>
            <a:lvl2pPr marL="914400" lvl="1" indent="-3175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175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175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175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175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175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175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175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8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1" name="Google Shape;41;p8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1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9" name="Google Shape;49;p10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0" name="Google Shape;50;p10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1" name="Google Shape;51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54" name="Google Shape;54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2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7" name="Google Shape;57;p12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8" name="Google Shape;58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lt2"/>
        </a:solidFill>
        <a:effectLst/>
      </p:bgPr>
    </p:bg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8" name="Google Shape;68;p15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69" name="Google Shape;69;p1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1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1" name="Google Shape;71;p15"/>
          <p:cNvSpPr txBox="1">
            <a:spLocks noGrp="1"/>
          </p:cNvSpPr>
          <p:nvPr>
            <p:ph type="ctrTitle"/>
          </p:nvPr>
        </p:nvSpPr>
        <p:spPr>
          <a:xfrm>
            <a:off x="727950" y="1936463"/>
            <a:ext cx="7688100" cy="129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B42526"/>
              </a:buClr>
              <a:buSzPts val="4000"/>
              <a:buFont typeface="Roboto"/>
              <a:buNone/>
              <a:defRPr sz="4000">
                <a:solidFill>
                  <a:srgbClr val="B42526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72" name="Google Shape;72;p15"/>
          <p:cNvSpPr txBox="1">
            <a:spLocks noGrp="1"/>
          </p:cNvSpPr>
          <p:nvPr>
            <p:ph type="subTitle" idx="1"/>
          </p:nvPr>
        </p:nvSpPr>
        <p:spPr>
          <a:xfrm>
            <a:off x="449550" y="3874175"/>
            <a:ext cx="8244900" cy="87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B00303"/>
              </a:buClr>
              <a:buSzPts val="2200"/>
              <a:buFont typeface="Roboto"/>
              <a:buNone/>
              <a:defRPr sz="2200">
                <a:solidFill>
                  <a:srgbClr val="B00303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73" name="Google Shape;73;p15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sp>
        <p:nvSpPr>
          <p:cNvPr id="74" name="Google Shape;74;p15"/>
          <p:cNvSpPr/>
          <p:nvPr/>
        </p:nvSpPr>
        <p:spPr>
          <a:xfrm>
            <a:off x="830400" y="1053850"/>
            <a:ext cx="745800" cy="24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FFFFFF"/>
              </a:solidFill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 rotWithShape="1">
          <a:blip r:embed="rId2">
            <a:alphaModFix/>
          </a:blip>
          <a:srcRect b="26659"/>
          <a:stretch/>
        </p:blipFill>
        <p:spPr>
          <a:xfrm>
            <a:off x="0" y="37106"/>
            <a:ext cx="1178231" cy="4506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nteúdo" type="obj">
  <p:cSld name="OBJECT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/>
          <p:cNvSpPr txBox="1">
            <a:spLocks noGrp="1"/>
          </p:cNvSpPr>
          <p:nvPr>
            <p:ph type="title"/>
          </p:nvPr>
        </p:nvSpPr>
        <p:spPr>
          <a:xfrm>
            <a:off x="413538" y="87474"/>
            <a:ext cx="8316900" cy="92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72F6D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6"/>
          <p:cNvSpPr txBox="1">
            <a:spLocks noGrp="1"/>
          </p:cNvSpPr>
          <p:nvPr>
            <p:ph type="body" idx="1"/>
          </p:nvPr>
        </p:nvSpPr>
        <p:spPr>
          <a:xfrm>
            <a:off x="413538" y="1167594"/>
            <a:ext cx="8316900" cy="367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●"/>
              <a:defRPr sz="2400"/>
            </a:lvl1pPr>
            <a:lvl2pPr marL="914400" lvl="1" indent="-3810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○"/>
              <a:defRPr sz="2400"/>
            </a:lvl2pPr>
            <a:lvl3pPr marL="1371600" lvl="2" indent="-3810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■"/>
              <a:defRPr sz="2400"/>
            </a:lvl3pPr>
            <a:lvl4pPr marL="1828800" lvl="3" indent="-3810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●"/>
              <a:defRPr sz="2400"/>
            </a:lvl4pPr>
            <a:lvl5pPr marL="2286000" lvl="4" indent="-3810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○"/>
              <a:defRPr sz="2400"/>
            </a:lvl5pPr>
            <a:lvl6pPr marL="2743200" lvl="5" indent="-3810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272F6D"/>
              </a:buClr>
              <a:buSzPts val="2400"/>
              <a:buChar char="■"/>
              <a:defRPr sz="2400"/>
            </a:lvl6pPr>
            <a:lvl7pPr marL="3200400" lvl="6" indent="-3810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272F6D"/>
              </a:buClr>
              <a:buSzPts val="2400"/>
              <a:buChar char="●"/>
              <a:defRPr sz="2400"/>
            </a:lvl7pPr>
            <a:lvl8pPr marL="3657600" lvl="7" indent="-3810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272F6D"/>
              </a:buClr>
              <a:buSzPts val="2400"/>
              <a:buChar char="○"/>
              <a:defRPr sz="2400"/>
            </a:lvl8pPr>
            <a:lvl9pPr marL="4114800" lvl="8" indent="-381000" algn="l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rgbClr val="272F6D"/>
              </a:buClr>
              <a:buSzPts val="2400"/>
              <a:buChar char="■"/>
              <a:defRPr sz="2400"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pic>
        <p:nvPicPr>
          <p:cNvPr id="9" name="Google Shape;9;p1"/>
          <p:cNvPicPr preferRelativeResize="0"/>
          <p:nvPr/>
        </p:nvPicPr>
        <p:blipFill rotWithShape="1">
          <a:blip r:embed="rId14">
            <a:alphaModFix/>
          </a:blip>
          <a:srcRect b="26659"/>
          <a:stretch/>
        </p:blipFill>
        <p:spPr>
          <a:xfrm>
            <a:off x="7573025" y="29688"/>
            <a:ext cx="1570975" cy="600925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treamline">
    <p:bg>
      <p:bgPr>
        <a:solidFill>
          <a:schemeClr val="lt1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>
            <a:spLocks noGrp="1"/>
          </p:cNvSpPr>
          <p:nvPr>
            <p:ph type="title"/>
          </p:nvPr>
        </p:nvSpPr>
        <p:spPr>
          <a:xfrm>
            <a:off x="311700" y="57983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sz="2800" b="1"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sz="2800"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sz="2800"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sz="2800"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sz="2800"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sz="2800"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sz="2800"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sz="2800"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sz="28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63" name="Google Shape;63;p14"/>
          <p:cNvSpPr txBox="1">
            <a:spLocks noGrp="1"/>
          </p:cNvSpPr>
          <p:nvPr>
            <p:ph type="body" idx="1"/>
          </p:nvPr>
        </p:nvSpPr>
        <p:spPr>
          <a:xfrm>
            <a:off x="311700" y="1399209"/>
            <a:ext cx="8520600" cy="314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29845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64" name="Google Shape;64;p14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4">
            <a:alphaModFix/>
          </a:blip>
          <a:srcRect l="15853" t="31506" r="17114" b="34470"/>
          <a:stretch/>
        </p:blipFill>
        <p:spPr>
          <a:xfrm>
            <a:off x="76200" y="-1225"/>
            <a:ext cx="1324742" cy="489025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8"/>
          <p:cNvSpPr txBox="1">
            <a:spLocks noGrp="1"/>
          </p:cNvSpPr>
          <p:nvPr>
            <p:ph type="ctrTitle"/>
          </p:nvPr>
        </p:nvSpPr>
        <p:spPr>
          <a:xfrm>
            <a:off x="727950" y="1936463"/>
            <a:ext cx="7688100" cy="129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pt-BR" sz="2800" dirty="0">
                <a:solidFill>
                  <a:srgbClr val="202529"/>
                </a:solidFill>
              </a:rPr>
              <a:t>Aula 02: MS Word Técnico para Relatórios de Engenharia, Estilos ABNT e Sumários</a:t>
            </a:r>
            <a:br>
              <a:rPr lang="pt-BR" sz="2400" dirty="0">
                <a:solidFill>
                  <a:srgbClr val="202529"/>
                </a:solidFill>
              </a:rPr>
            </a:br>
            <a:r>
              <a:rPr lang="pt-BR" sz="2000" dirty="0">
                <a:solidFill>
                  <a:srgbClr val="202529"/>
                </a:solidFill>
              </a:rPr>
              <a:t>INF-117 — Informática Aplicada a Aeronáutica</a:t>
            </a:r>
            <a:endParaRPr lang="pt-BR" sz="3200" dirty="0">
              <a:solidFill>
                <a:srgbClr val="202529"/>
              </a:solidFill>
            </a:endParaRPr>
          </a:p>
        </p:txBody>
      </p:sp>
      <p:sp>
        <p:nvSpPr>
          <p:cNvPr id="95" name="Google Shape;95;p18"/>
          <p:cNvSpPr txBox="1">
            <a:spLocks noGrp="1"/>
          </p:cNvSpPr>
          <p:nvPr>
            <p:ph type="subTitle" idx="1"/>
          </p:nvPr>
        </p:nvSpPr>
        <p:spPr>
          <a:xfrm>
            <a:off x="449550" y="3914850"/>
            <a:ext cx="8244900" cy="87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b="1" dirty="0">
                <a:solidFill>
                  <a:srgbClr val="098658"/>
                </a:solidFill>
              </a:rPr>
              <a:t>Prof. Me. André Cassulino Araújo Souza</a:t>
            </a:r>
            <a:endParaRPr b="1" dirty="0">
              <a:solidFill>
                <a:srgbClr val="098658"/>
              </a:solidFill>
            </a:endParaRPr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>
                <a:solidFill>
                  <a:srgbClr val="098658"/>
                </a:solidFill>
              </a:rPr>
              <a:t>andre.souza@cps.sp.gov.br</a:t>
            </a:r>
            <a:endParaRPr dirty="0">
              <a:solidFill>
                <a:srgbClr val="098658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Objetivos</a:t>
            </a:r>
            <a:endParaRPr dirty="0"/>
          </a:p>
        </p:txBody>
      </p:sp>
      <p:sp>
        <p:nvSpPr>
          <p:cNvPr id="101" name="Google Shape;101;p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457200" lvl="0" indent="-342900" algn="just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AutoNum type="arabicPeriod"/>
            </a:pPr>
            <a:r>
              <a:rPr lang="pt-BR" dirty="0"/>
              <a:t>Criar e gerenciar hierarquia de Estilos ABNT (Título 1, Título 2, Normal).</a:t>
            </a:r>
          </a:p>
          <a:p>
            <a:pPr marL="457200" lvl="0" indent="-342900" algn="just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AutoNum type="arabicPeriod"/>
            </a:pPr>
            <a:r>
              <a:rPr lang="pt-BR" dirty="0"/>
              <a:t>Configurar Quebras de Seção (Próxima Página) para numeração de páginas diferenciada.</a:t>
            </a:r>
          </a:p>
          <a:p>
            <a:pPr marL="457200" lvl="0" indent="-342900" algn="just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AutoNum type="arabicPeriod"/>
            </a:pPr>
            <a:r>
              <a:rPr lang="pt-BR" dirty="0"/>
              <a:t>Inserir e formatar Tabelas Técnicas de Dados e Figuras com Legendas Automáticas.</a:t>
            </a:r>
          </a:p>
          <a:p>
            <a:pPr marL="457200" lvl="0" indent="-342900" algn="just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AutoNum type="arabicPeriod"/>
            </a:pPr>
            <a:r>
              <a:rPr lang="pt-BR" dirty="0"/>
              <a:t>Gerar Sumário Automático dinâmico e exportar no padrão oficial PDF/A.</a:t>
            </a:r>
          </a:p>
          <a:p>
            <a:pPr marL="457200" lvl="0" indent="-342900" algn="just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AutoNum type="arabicPeriod"/>
            </a:pPr>
            <a:r>
              <a:rPr lang="pt-BR" dirty="0"/>
              <a:t>Articulação com COE-001, Projetos Integradores I a IV e Trabalho de Graduação (TCC).</a:t>
            </a:r>
          </a:p>
          <a:p>
            <a:pPr marL="457200" lvl="0" indent="-342900" algn="just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AutoNum type="arabicPeriod"/>
            </a:pPr>
            <a:r>
              <a:rPr lang="pt-BR" dirty="0"/>
              <a:t>Atividade Prática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r>
              <a:rPr lang="pt-BR" dirty="0"/>
              <a:t>Elimina a formatação manual repetitiva parágrafo por parágrafo.</a:t>
            </a:r>
          </a:p>
          <a:p>
            <a:r>
              <a:rPr lang="pt-BR" dirty="0"/>
              <a:t>Garante padronização rigorosa e permite reconfiguração global instantânea.</a:t>
            </a:r>
          </a:p>
          <a:p>
            <a:r>
              <a:rPr lang="pt-BR" dirty="0"/>
              <a:t>Habilita o Painel de Navegação (Ctrl + F / Navegação) para relatórios extensos (30 a 100 páginas).</a:t>
            </a:r>
          </a:p>
          <a:p>
            <a:r>
              <a:rPr lang="pt-BR" dirty="0"/>
              <a:t>Permite ao Word varrer o documento e construir o Sumário Automático em 1 clique.</a:t>
            </a:r>
          </a:p>
        </p:txBody>
      </p:sp>
      <p:sp>
        <p:nvSpPr>
          <p:cNvPr id="256" name="Google Shape;256;p2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pt-BR" dirty="0"/>
              <a:t>Por que usar Estilos de Parágrafo?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4">
          <a:extLst>
            <a:ext uri="{FF2B5EF4-FFF2-40B4-BE49-F238E27FC236}">
              <a16:creationId xmlns:a16="http://schemas.microsoft.com/office/drawing/2014/main" id="{7C1CEF25-5DD1-D022-2504-1F276B694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9">
            <a:extLst>
              <a:ext uri="{FF2B5EF4-FFF2-40B4-BE49-F238E27FC236}">
                <a16:creationId xmlns:a16="http://schemas.microsoft.com/office/drawing/2014/main" id="{1EFEA918-22F3-BA92-8299-6A43865465E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r>
              <a:rPr lang="pt-BR" dirty="0"/>
              <a:t>Margens: Superior: 3,0 cm | Esquerda: 3,0 cm | Inferior: 2,0 cm | Direita: 2,0 cm.</a:t>
            </a:r>
          </a:p>
          <a:p>
            <a:r>
              <a:rPr lang="pt-BR" dirty="0"/>
              <a:t>Estilo Normal (Corpo): Arial/</a:t>
            </a:r>
            <a:r>
              <a:rPr lang="pt-BR" dirty="0" err="1"/>
              <a:t>Calibri</a:t>
            </a:r>
            <a:r>
              <a:rPr lang="pt-BR" dirty="0"/>
              <a:t> 12 </a:t>
            </a:r>
            <a:r>
              <a:rPr lang="pt-BR" dirty="0" err="1"/>
              <a:t>pt</a:t>
            </a:r>
            <a:r>
              <a:rPr lang="pt-BR" dirty="0"/>
              <a:t>, Justificado, 1,5 linha, recuo de 1,25 cm, depois 6 </a:t>
            </a:r>
            <a:r>
              <a:rPr lang="pt-BR" dirty="0" err="1"/>
              <a:t>pt</a:t>
            </a:r>
            <a:r>
              <a:rPr lang="pt-BR" dirty="0"/>
              <a:t>.</a:t>
            </a:r>
          </a:p>
          <a:p>
            <a:r>
              <a:rPr lang="pt-BR" dirty="0"/>
              <a:t>Estilo Título 1: Arial 14 </a:t>
            </a:r>
            <a:r>
              <a:rPr lang="pt-BR" dirty="0" err="1"/>
              <a:t>pt</a:t>
            </a:r>
            <a:r>
              <a:rPr lang="pt-BR" dirty="0"/>
              <a:t>, Negrito, Caixa Alta, Antes: 12 </a:t>
            </a:r>
            <a:r>
              <a:rPr lang="pt-BR" dirty="0" err="1"/>
              <a:t>pt</a:t>
            </a:r>
            <a:r>
              <a:rPr lang="pt-BR" dirty="0"/>
              <a:t>, Depois: 6 </a:t>
            </a:r>
            <a:r>
              <a:rPr lang="pt-BR" dirty="0" err="1"/>
              <a:t>pt</a:t>
            </a:r>
            <a:r>
              <a:rPr lang="pt-BR" dirty="0"/>
              <a:t>.</a:t>
            </a:r>
          </a:p>
          <a:p>
            <a:r>
              <a:rPr lang="pt-BR" dirty="0"/>
              <a:t>Estilo Título 2: Arial 12 </a:t>
            </a:r>
            <a:r>
              <a:rPr lang="pt-BR" dirty="0" err="1"/>
              <a:t>pt</a:t>
            </a:r>
            <a:r>
              <a:rPr lang="pt-BR" dirty="0"/>
              <a:t>, Negrito, Antes: 6 </a:t>
            </a:r>
            <a:r>
              <a:rPr lang="pt-BR" dirty="0" err="1"/>
              <a:t>pt</a:t>
            </a:r>
            <a:r>
              <a:rPr lang="pt-BR" dirty="0"/>
              <a:t>, Depois: 6 </a:t>
            </a:r>
            <a:r>
              <a:rPr lang="pt-BR" dirty="0" err="1"/>
              <a:t>pt</a:t>
            </a:r>
            <a:r>
              <a:rPr lang="pt-BR" dirty="0"/>
              <a:t>.</a:t>
            </a:r>
          </a:p>
        </p:txBody>
      </p:sp>
      <p:sp>
        <p:nvSpPr>
          <p:cNvPr id="256" name="Google Shape;256;p29">
            <a:extLst>
              <a:ext uri="{FF2B5EF4-FFF2-40B4-BE49-F238E27FC236}">
                <a16:creationId xmlns:a16="http://schemas.microsoft.com/office/drawing/2014/main" id="{FB49F92D-8F24-3DFA-B2A2-C8155231EE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pt-BR" dirty="0"/>
              <a:t>Padrão Normativo ABNT no MS Word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797475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4">
          <a:extLst>
            <a:ext uri="{FF2B5EF4-FFF2-40B4-BE49-F238E27FC236}">
              <a16:creationId xmlns:a16="http://schemas.microsoft.com/office/drawing/2014/main" id="{C3F8B7B0-130D-38D1-751D-13D805BD6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9">
            <a:extLst>
              <a:ext uri="{FF2B5EF4-FFF2-40B4-BE49-F238E27FC236}">
                <a16:creationId xmlns:a16="http://schemas.microsoft.com/office/drawing/2014/main" id="{2DFD29F6-DCF1-3800-9F41-6895A68F5C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r>
              <a:rPr lang="pt-BR" dirty="0"/>
              <a:t>Quebra de Página (Ctrl + </a:t>
            </a:r>
            <a:r>
              <a:rPr lang="pt-BR" dirty="0" err="1"/>
              <a:t>Enter</a:t>
            </a:r>
            <a:r>
              <a:rPr lang="pt-BR" dirty="0"/>
              <a:t>):</a:t>
            </a:r>
          </a:p>
          <a:p>
            <a:pPr lvl="1"/>
            <a:r>
              <a:rPr lang="pt-BR" dirty="0"/>
              <a:t>Transfere o texto para a página seguinte mantendo os mesmos cabeçalhos e numeração.</a:t>
            </a:r>
          </a:p>
          <a:p>
            <a:pPr marL="114300" indent="0">
              <a:buNone/>
            </a:pPr>
            <a:endParaRPr lang="pt-BR" dirty="0"/>
          </a:p>
          <a:p>
            <a:r>
              <a:rPr lang="pt-BR" dirty="0"/>
              <a:t>Quebra de Seção (Layout -&gt; Quebras -&gt; Próxima Página):</a:t>
            </a:r>
          </a:p>
          <a:p>
            <a:pPr lvl="1"/>
            <a:r>
              <a:rPr lang="pt-BR" dirty="0"/>
              <a:t>Cria uma fronteira computacional independente.</a:t>
            </a:r>
          </a:p>
          <a:p>
            <a:pPr lvl="1"/>
            <a:r>
              <a:rPr lang="pt-BR" dirty="0"/>
              <a:t>Permite desvincular o cabeçalho/rodapé para que Capa e Sumário fiquem sem numeração visível!</a:t>
            </a:r>
          </a:p>
        </p:txBody>
      </p:sp>
      <p:sp>
        <p:nvSpPr>
          <p:cNvPr id="256" name="Google Shape;256;p29">
            <a:extLst>
              <a:ext uri="{FF2B5EF4-FFF2-40B4-BE49-F238E27FC236}">
                <a16:creationId xmlns:a16="http://schemas.microsoft.com/office/drawing/2014/main" id="{EAC86D0B-68F5-D4FE-2952-54B15237366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pt-BR" dirty="0"/>
              <a:t>Quebras de Seção vs. Quebras de Página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241294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4">
          <a:extLst>
            <a:ext uri="{FF2B5EF4-FFF2-40B4-BE49-F238E27FC236}">
              <a16:creationId xmlns:a16="http://schemas.microsoft.com/office/drawing/2014/main" id="{9ABBAC06-F1BE-E582-DEB6-98E05833C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9">
            <a:extLst>
              <a:ext uri="{FF2B5EF4-FFF2-40B4-BE49-F238E27FC236}">
                <a16:creationId xmlns:a16="http://schemas.microsoft.com/office/drawing/2014/main" id="{80C31659-DD1F-EF32-F197-F7408BC4FD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r>
              <a:rPr lang="pt-BR" dirty="0"/>
              <a:t>Tabelas Técnicas:</a:t>
            </a:r>
          </a:p>
          <a:p>
            <a:pPr lvl="1"/>
            <a:r>
              <a:rPr lang="pt-BR" dirty="0"/>
              <a:t>Grade estruturada com cabeçalho destacado (fundo escuro, texto branco/negrito).</a:t>
            </a:r>
          </a:p>
          <a:p>
            <a:pPr lvl="1"/>
            <a:r>
              <a:rPr lang="pt-BR" dirty="0"/>
              <a:t>Alinhamento vertical centralizado e repetição de linha de cabeçalho no topo de novas páginas.</a:t>
            </a:r>
          </a:p>
          <a:p>
            <a:r>
              <a:rPr lang="pt-BR" dirty="0"/>
              <a:t>Legendas Automáticas de Figuras:</a:t>
            </a:r>
          </a:p>
          <a:p>
            <a:pPr lvl="1"/>
            <a:r>
              <a:rPr lang="pt-BR" dirty="0"/>
              <a:t>Clique com botão direito na imagem -&gt; Inserir Legenda (Rótulo: Figura).</a:t>
            </a:r>
          </a:p>
          <a:p>
            <a:pPr lvl="1"/>
            <a:r>
              <a:rPr lang="pt-BR" dirty="0"/>
              <a:t>Permite referências cruzadas automáticas ao longo do texto.</a:t>
            </a:r>
          </a:p>
        </p:txBody>
      </p:sp>
      <p:sp>
        <p:nvSpPr>
          <p:cNvPr id="256" name="Google Shape;256;p29">
            <a:extLst>
              <a:ext uri="{FF2B5EF4-FFF2-40B4-BE49-F238E27FC236}">
                <a16:creationId xmlns:a16="http://schemas.microsoft.com/office/drawing/2014/main" id="{9D96BDEE-408B-BFCD-6AF7-09FD57B50E2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pt-BR" dirty="0"/>
              <a:t>Tabelas Técnicas e Legendas Automáticas de Figuras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041904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4">
          <a:extLst>
            <a:ext uri="{FF2B5EF4-FFF2-40B4-BE49-F238E27FC236}">
              <a16:creationId xmlns:a16="http://schemas.microsoft.com/office/drawing/2014/main" id="{342B17FE-198E-D651-29D6-70F3095AA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9">
            <a:extLst>
              <a:ext uri="{FF2B5EF4-FFF2-40B4-BE49-F238E27FC236}">
                <a16:creationId xmlns:a16="http://schemas.microsoft.com/office/drawing/2014/main" id="{7445BFD5-3765-708F-399D-11A0DF97F1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r>
              <a:rPr lang="pt-BR" dirty="0"/>
              <a:t>Sumário Automático:</a:t>
            </a:r>
          </a:p>
          <a:p>
            <a:pPr lvl="1"/>
            <a:r>
              <a:rPr lang="pt-BR" dirty="0"/>
              <a:t>Inserção na Página 2 reservada (Guia Referências -&gt; Sumário -&gt; Sumário Automático 1).</a:t>
            </a:r>
          </a:p>
          <a:p>
            <a:pPr lvl="1"/>
            <a:r>
              <a:rPr lang="pt-BR" dirty="0"/>
              <a:t>Atualização dinâmica de páginas e títulos através da tecla F9.</a:t>
            </a:r>
          </a:p>
          <a:p>
            <a:endParaRPr lang="pt-BR" dirty="0"/>
          </a:p>
          <a:p>
            <a:r>
              <a:rPr lang="pt-BR" dirty="0"/>
              <a:t>Exportação PDF/A (ISO 19005):</a:t>
            </a:r>
          </a:p>
          <a:p>
            <a:pPr lvl="1"/>
            <a:r>
              <a:rPr lang="pt-BR" dirty="0"/>
              <a:t>Padrão oficial de arquivamento digital de relatórios técnicos e monografias de TCC.</a:t>
            </a:r>
          </a:p>
        </p:txBody>
      </p:sp>
      <p:sp>
        <p:nvSpPr>
          <p:cNvPr id="256" name="Google Shape;256;p29">
            <a:extLst>
              <a:ext uri="{FF2B5EF4-FFF2-40B4-BE49-F238E27FC236}">
                <a16:creationId xmlns:a16="http://schemas.microsoft.com/office/drawing/2014/main" id="{04A5286E-8838-0B2A-EDD6-753A89ABCE8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pt-BR" dirty="0"/>
              <a:t>Sumário Automático e Exportação no Padrão PDF/A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209689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4">
          <a:extLst>
            <a:ext uri="{FF2B5EF4-FFF2-40B4-BE49-F238E27FC236}">
              <a16:creationId xmlns:a16="http://schemas.microsoft.com/office/drawing/2014/main" id="{B45AD526-9E84-E920-4BA8-8B51B1B53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9">
            <a:extLst>
              <a:ext uri="{FF2B5EF4-FFF2-40B4-BE49-F238E27FC236}">
                <a16:creationId xmlns:a16="http://schemas.microsoft.com/office/drawing/2014/main" id="{2F16CA8F-0D8B-CD95-DDAD-2FFADDF8AC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r>
              <a:rPr lang="pt-BR" dirty="0"/>
              <a:t>Ctrl + Alt + 1: Aplica o estilo Título 1</a:t>
            </a:r>
          </a:p>
          <a:p>
            <a:r>
              <a:rPr lang="pt-BR" dirty="0"/>
              <a:t>Ctrl + Alt + 2: Aplica o estilo Título 2</a:t>
            </a:r>
          </a:p>
          <a:p>
            <a:r>
              <a:rPr lang="pt-BR" dirty="0"/>
              <a:t>Ctrl + Shift + N: Aplica o estilo Normal (limpa formatação)</a:t>
            </a:r>
          </a:p>
          <a:p>
            <a:r>
              <a:rPr lang="pt-BR" dirty="0"/>
              <a:t>Ctrl + J: Alinhamento Justificado</a:t>
            </a:r>
          </a:p>
          <a:p>
            <a:r>
              <a:rPr lang="pt-BR" dirty="0"/>
              <a:t>F9: Atualiza o Sumário Automático inteiro</a:t>
            </a:r>
          </a:p>
          <a:p>
            <a:r>
              <a:rPr lang="pt-BR" dirty="0"/>
              <a:t>Ctrl + K: Insere hiperlink ou referência cruzada</a:t>
            </a:r>
          </a:p>
        </p:txBody>
      </p:sp>
      <p:sp>
        <p:nvSpPr>
          <p:cNvPr id="256" name="Google Shape;256;p29">
            <a:extLst>
              <a:ext uri="{FF2B5EF4-FFF2-40B4-BE49-F238E27FC236}">
                <a16:creationId xmlns:a16="http://schemas.microsoft.com/office/drawing/2014/main" id="{A4531FF3-44D0-459A-82B8-9C942AA3B1E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pt-BR" dirty="0"/>
              <a:t>Dicas de Produtividade e Atalhos no MS Word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615962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4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Atividade</a:t>
            </a:r>
            <a:endParaRPr/>
          </a:p>
        </p:txBody>
      </p:sp>
      <p:sp>
        <p:nvSpPr>
          <p:cNvPr id="373" name="Google Shape;373;p4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r>
              <a:rPr lang="pt-BR" dirty="0"/>
              <a:t>Texto Base: </a:t>
            </a:r>
            <a:r>
              <a:rPr lang="pt-BR" dirty="0" err="1"/>
              <a:t>Exercicios</a:t>
            </a:r>
            <a:r>
              <a:rPr lang="pt-BR" dirty="0"/>
              <a:t>/Texto_Exercicio_Historia_da_Aviacao.txt (Cartilha ANAC Asas do Conhecimento).</a:t>
            </a:r>
          </a:p>
          <a:p>
            <a:r>
              <a:rPr lang="pt-BR" dirty="0"/>
              <a:t>Guia de Passos: </a:t>
            </a:r>
            <a:r>
              <a:rPr lang="pt-BR" dirty="0" err="1"/>
              <a:t>Exercicios</a:t>
            </a:r>
            <a:r>
              <a:rPr lang="pt-BR" dirty="0"/>
              <a:t>/Guia_Exercicio_Formatacao_Word.md.</a:t>
            </a:r>
          </a:p>
          <a:p>
            <a:r>
              <a:rPr lang="pt-BR" dirty="0"/>
              <a:t>Atividade em Laboratório:</a:t>
            </a:r>
          </a:p>
          <a:p>
            <a:pPr marL="939800" lvl="1" indent="-342900">
              <a:buFont typeface="+mj-lt"/>
              <a:buAutoNum type="arabicPeriod"/>
            </a:pPr>
            <a:r>
              <a:rPr lang="pt-BR" dirty="0"/>
              <a:t>Formatar Capa ABNT e inserir Quebra de Seção.</a:t>
            </a:r>
          </a:p>
          <a:p>
            <a:pPr marL="939800" lvl="1" indent="-342900">
              <a:buFont typeface="+mj-lt"/>
              <a:buAutoNum type="arabicPeriod"/>
            </a:pPr>
            <a:r>
              <a:rPr lang="pt-BR" dirty="0"/>
              <a:t>Aplicar Estilos Normal, Título 1 e Título 2 nas 7 seções do relatório.</a:t>
            </a:r>
          </a:p>
          <a:p>
            <a:pPr marL="939800" lvl="1" indent="-342900">
              <a:buFont typeface="+mj-lt"/>
              <a:buAutoNum type="arabicPeriod"/>
            </a:pPr>
            <a:r>
              <a:rPr lang="pt-BR" dirty="0"/>
              <a:t>Formatar a Tabela de Aeronaves (14-Bis, DC-3, Concorde, E195-E2) e legenda da Figura.</a:t>
            </a:r>
          </a:p>
          <a:p>
            <a:pPr marL="939800" lvl="1" indent="-342900">
              <a:buFont typeface="+mj-lt"/>
              <a:buAutoNum type="arabicPeriod"/>
            </a:pPr>
            <a:r>
              <a:rPr lang="pt-BR" dirty="0"/>
              <a:t>Desvincular numeração (iniciando visível na página 3) e gerar Sumário Automático.</a:t>
            </a:r>
          </a:p>
          <a:p>
            <a:pPr marL="939800" lvl="1" indent="-342900">
              <a:buFont typeface="+mj-lt"/>
              <a:buAutoNum type="arabicPeriod"/>
            </a:pPr>
            <a:r>
              <a:rPr lang="pt-BR" dirty="0"/>
              <a:t>Exportar versão final em PDF/A.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638</Words>
  <Application>Microsoft Office PowerPoint</Application>
  <PresentationFormat>Apresentação na tela (16:9)</PresentationFormat>
  <Paragraphs>58</Paragraphs>
  <Slides>9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9</vt:i4>
      </vt:variant>
    </vt:vector>
  </HeadingPairs>
  <TitlesOfParts>
    <vt:vector size="15" baseType="lpstr">
      <vt:lpstr>Roboto</vt:lpstr>
      <vt:lpstr>Raleway</vt:lpstr>
      <vt:lpstr>Lato</vt:lpstr>
      <vt:lpstr>Arial</vt:lpstr>
      <vt:lpstr>Simple Light</vt:lpstr>
      <vt:lpstr>Streamline</vt:lpstr>
      <vt:lpstr>Aula 02: MS Word Técnico para Relatórios de Engenharia, Estilos ABNT e Sumários INF-117 — Informática Aplicada a Aeronáutica</vt:lpstr>
      <vt:lpstr>Objetivos</vt:lpstr>
      <vt:lpstr>Por que usar Estilos de Parágrafo?</vt:lpstr>
      <vt:lpstr>Padrão Normativo ABNT no MS Word</vt:lpstr>
      <vt:lpstr>Quebras de Seção vs. Quebras de Página</vt:lpstr>
      <vt:lpstr>Tabelas Técnicas e Legendas Automáticas de Figuras</vt:lpstr>
      <vt:lpstr>Sumário Automático e Exportação no Padrão PDF/A</vt:lpstr>
      <vt:lpstr>Dicas de Produtividade e Atalhos no MS Word</vt:lpstr>
      <vt:lpstr>Atividade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Andre</dc:creator>
  <cp:lastModifiedBy>Andre Cassulino Araujo Souza</cp:lastModifiedBy>
  <cp:revision>3</cp:revision>
  <dcterms:modified xsi:type="dcterms:W3CDTF">2026-08-14T03:42:44Z</dcterms:modified>
</cp:coreProperties>
</file>