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FATEC SOROCABA — CURSO SUPERIOR DE TECNOLOGIA EM MANUTENÇÃO DE AERONAVES</a:t>
            </a:r>
          </a:p>
          <a:p>
            <a:pPr>
              <a:spcBef>
                <a:spcPts val="800"/>
              </a:spcBef>
              <a:defRPr sz="1400">
                <a:solidFill>
                  <a:srgbClr val="C8E1FF"/>
                </a:solidFill>
              </a:defRPr>
            </a:pPr>
            <a:r>
              <a:t>INF-117 — Informática Aplicada a Aeronáutica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</a:defRPr>
            </a:pPr>
            <a:r>
              <a:t>MS Excel I — Primeiros Passos no Excel</a:t>
            </a:r>
          </a:p>
          <a:p>
            <a:pPr>
              <a:defRPr sz="1300">
                <a:solidFill>
                  <a:srgbClr val="DCEBFA"/>
                </a:solidFill>
              </a:defRPr>
            </a:pPr>
            <a:r>
              <a:t>Interface, Operadores Aritméticos, Precedência com ^ e -, e Análise de Média vs. Mediana com Outliers</a:t>
            </a:r>
          </a:p>
          <a:p>
            <a:pPr>
              <a:spcBef>
                <a:spcPts val="2000"/>
              </a:spcBef>
              <a:defRPr sz="1100">
                <a:solidFill>
                  <a:srgbClr val="0072CE"/>
                </a:solidFill>
              </a:defRPr>
            </a:pPr>
            <a:r>
              <a:t>Oficina Prática: Planilha de Custos Operacionais, Física Aeronáutica e Ordens de Serviço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Objetivos de Aprendizagem &amp; Contexto Aeronáutico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2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🎯 Competências Técnicas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Compreender a matriz de Linhas, Colunas e Células (A1, B4).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 Regra de Ouro do sinal '=' para execução de equações.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Tipagem de dados: Texto, Números, Moeda (R$) e Unidades.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Operadores aritméticos (+, -, *, /, ^) e precedência matemática.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Casos críticos dos operadores ^ e - na física do voo.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Diferença entre Média (=MÉDIA) e Mediana (=MED) com outliers.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Consolidação de tabelas com =SOMA() e =MED().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0F2043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✈️ Aplicação na Manutenção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Controle de Custos de Hangaragem e Estadia de Frotas.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Conciliação de Abastecimento (Litros de AVGAS / JET A-1).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Cálculo de pressão dinâmica e gradiente térmico de subida.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Avaliação correta de custos típicos de Ordens de Serviço (OS) evitando distorções financeiras causadas por outliers.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Anatomia do Excel &amp; A Regra de Ouro do Sinal '='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3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📐 Endereçamento de Células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Colunas: Letras maiúsculas (A, B, C... Z, AA...).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Linhas: Números sequenciais (1, 2, 3... 1.048.576).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Célula: Interseção Coluna × Linha (ex: C4 = Coluna C, Linha 4).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Cálculos com referências (ex: =B4*C4) recalculam a planilha automaticamente quando a entrada muda!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⚠️ Regra de Ouro do Sinal '='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Toda fórmula DEVE começar com o sinal '='.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100 + 50  →  Texto estático (exibe '100 + 50')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=100 + 50  →  Cálculo aritmético (exibe 150)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=C4 * D4  →  Referência dinâmica calculada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Nunca digite números fixos quando eles já existem na tabela!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Operadores Aritméticos &amp; Hierarquia de Precedência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4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➕ Operadores Básicos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Adição (+): =15 + 5 (Resultado: 20)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Subtração (-): =50 - 20 (Resultado: 30)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Multiplicação (*): =4 * 150 (Resultado: 600)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Divisão (/): =120 / 4 (Resultado: 30)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Exponenciação (^): =2 ^ 3 (Resultado: 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0F7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⚡ Armadilha do Sinal de Menos (-)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1. Parênteses ( ) — Prioridade Absoluta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2. Exponenciação (^) e Negação Unária (-)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3. Multiplicação (*) e Divisão (/)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4. Adição (+) e Subtração (-)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Armadilha no Excel: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=-5^2  →  Calcula (-5)^2 = 25!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Boas Práticas: =-(5^2)  →  Retorna -25 com precisão.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Operadores '^' e '-' em Fórmulas Aeronáuticas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5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💨 1. Pressão Dinâmica (q = 0.5 * ρ * V²)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Fórmula fundamental da sustentação e arrasto: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No Excel: =0.5 * B5 * C5^2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B5: Densidade do ar (kg/m³)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C5: Velocidade verdadeira TAS (m/s)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O operador ^ eleva a velocidade ao quadrado antes de multiplicar pela densidade.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0F2043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🌡️ 2. Gradiente Térmico ISA (T = T₀ - 0.0065*h)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Queda de temperatura com a altitude na atmosfera padrão: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No Excel: =15 - (0.0065 * A13)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A13: Altitude em metros (m)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15°C: Temperatura ao nível do mar (T₀)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A multiplicação (0.0065*h) ocorre antes da subtração, garantindo a taxa de 6,5°C/1.000m.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Média (=MÉDIA) vs. Mediana (=MED) diante de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6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🔧 Estudo de Caso no Hangar (Ordens de Serviço)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5 OS de Rotina (Troca de óleo, inspeção 50h, magnetos): R$ 1.200 a R$ 2.500.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1 OS Extraordinária (Overhaul de Turbina PT6A): R$ 120.000 (OUTLIER).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MÉDIA (=MÉDIA): R$ 21.500,00 ❌ (Distorcida pelo outlier)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MEDIANA (=MED): R$ 1.900,00 ✅ (Representa o custo rotineiro real)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📊 Regra de Decisão do Engenheiro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MÉDIA: Use para orçamento financeiro consolidado, fluxo de caixa e totalizações globais.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MEDIANA: Use para precificação de pacotes de serviços e cálculo de prazos padrão de atendimento (Lead Time) imunes a ruídos estatísticos e eventos raros.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Atividade 1: Estruturando o Relatório do Hangar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7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📋 Passo a Passo (Atividade 1)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1. Renomeie a aba para 'Custos_Hangar'.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2. Título em A1: 'AEROCLUBE DE SOROCABA — CONTROLE DE HANGARAGEM E ABASTECIMENTO' (Mesclar até I1).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3. Cabeçalhos da Linha 3 (9 colunas):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   A3: Prefixo | B3: Modelo da Aeronave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   C3: Diárias Hangar | D3: Valor da Diária (R$)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   E3: Litros Abastecidos (L) | F3: Preço por Litro (R$)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   G3: Subtotal Hangar (R$) | H3: Subtotal Combustível (R$)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   I3: Custo Total (R$)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0F2043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🖥️ Organização das Colunas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Colunas A a F: Dados de Entrada (Brutos).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Colunas G a I: Campos Calculados (Processamento).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Formatação de Cabeçalho: Fundo Azul Marinho (#0F2043) com texto branco em negrito e alinhamento centralizado com quebra automática de texto.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Atividade 2: Lançamento dos Dados da Frota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8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8229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✈️ Dados Operacionais da Frota (Linhas 4 a 8)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 4: PR-ABC | Cessna 172 | 4 diárias | R$ 150,00 | 120 L | R$ 11,50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 5: PT-KRT | Piper Seneca | 10 diárias | R$ 280,00 | 350 L | R$ 11,50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 6: PR-FTE | Beech Baron | 7 diárias | R$ 320,00 | 280 L | R$ 11,50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 7: PP-ZUL | Cirrus SR22 | 3 diárias | R$ 220,00 | 160 L | R$ 11,50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Linha 8: PR-MNT | Cessna 152 | 15 diárias | R$ 120,00 | 90 L | R$ 11,50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Dica: No Excel em português, utilize vírgula (,) para separar as casas decimais (ex: 11,50).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Atividade 3: Fórmulas Aritméticas &amp; Alça de Preenchimento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9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⚙️ Equações da Linha 4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Subtotal Hangar (G4): =C4*D4 (Diárias × Valor Diária)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Subtotal Combustível (H4): =E4*F4 (Litros × Preço/L)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Custo Total (I4): =G4+H4 (Soma dos Subtotais)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0F7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🚀 Alça de Preenchimento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1. Selecione o bloco G4:I4.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2. Posicione o cursor no quadradinho verde inferior direito.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3. Dê duplo clique para replicar as equações até a linha 8.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O Excel ajusta automaticamente as referências (C5*D5, C6*D6...).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Atividade 4: Formatação Moeda (R$) &amp; Função =SOMA()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10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💰 Formatação Visual e Moeda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Formato Moeda (R$): Selecione D, F, G, H, I e use Ctrl + Shift + $.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Bordas: Aplique 'Todas as Bordas' de A3 até I8.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Alinhamentos: Centralize Prefixos, Diárias e Litros.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📊 Linha de Totais (Linha 9)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A9: TOTAL GERAL (Negrito)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G9: =SOMA(G4:G8) (Total Hangar)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H9: =SOMA(H4:H8) (Total Combustível)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I9: =SOMA(I4:I8) (Custo Total Consolidado)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Atalho: Selecione a célula e pressione Alt + = para inserir =SOMA() automaticamente!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Exercício de Fixação: Controle de Consumo de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11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✈️ Aba: Consumo_Treinamento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Piloto Aluno | Horas Voo (h) | Consumo (L/h) | Consumo Total (L)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Lucas Silveira: 18,5 h | 34,0 L/h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Mariana Duarte: 25,0 h | 36,5 L/h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Carlos Eduardo: 12,0 h | 32,0 L/h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Beatriz Ramos: 30,5 h | 38,0 L/h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Rodrigo Nogueira: 22,0 h | 35,0 L/h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Gabriel Souza: 15,5 h | 33,5 L/h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F0F7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🧮 Equações Requeridas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Consumo por Aluno (D4): =B4*C4 (Horas × Consumo/h)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Total Consumido (D10): =SOMA(D4:D9)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Média por Aluno (D11): =MÉDIA(D4:D9)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Mediana por Aluno (D12): =MED(D4:D9)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Atalhos Rápidos &amp; Boas Práticas em Planilhas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12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⚡ Atalhos Essenciais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Ctrl + Z / Ctrl + Y: Desfazer / Refazer.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Alt + =: Inserir função =SOMA() automática.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Ctrl + Shift + $: Formatar como Moeda (R$).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Ctrl + Shift + %: Formatar como Porcentagem (%).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=MED(): Cálculo da Mediana central.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Duplo clique na divisa de coluna: Autoajuste de largura.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0F2043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🛡️ Boas Práticas Aeronáuticas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Nunca digite totais manualmente: utilize fórmulas dinâmicas.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Indique claramente as unidades nos cabeçalhos ((L), (h), (R$), (Pa)).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Parênteses defensivos: use ( ) em expressões combinadas.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Aplique borda dupla na linha de fechamento contábil.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Síntese da Aula, Checklist &amp;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13 de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5661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✅ Checklist de Conclusão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Planilha estruturada com 9 colunas no padrão oficial.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5 aeronaves cadastradas e formatadas.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Subtotais e Custo Total com fórmulas ativas (* e +).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Física do voo calculada com ^ e - (Pressão Dinâmica e ISA).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Análise crítica de Média vs. Mediana com outliers no hangar.</a:t>
            </a:r>
          </a:p>
          <a:p>
            <a:pPr>
              <a:spcBef>
                <a:spcPts val="300"/>
              </a:spcBef>
              <a:defRPr sz="950">
                <a:solidFill>
                  <a:srgbClr val="282828"/>
                </a:solidFill>
              </a:defRPr>
            </a:pPr>
            <a:r>
              <a:t>• ✔ Exercício de fixação com =SOMA(), =MÉDIA() e =MED().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3566160"/>
          </a:xfrm>
          <a:prstGeom prst="roundRect">
            <a:avLst/>
          </a:prstGeom>
          <a:solidFill>
            <a:srgbClr val="0F2043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🚀 Próxima Aula — Aula 06: MS Excel II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Referências Absolutas ($A$1) para fixação de taxas.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Funções Estatísticas: =MÁXIMO(), =MÍNIMO(), =CONT.VALORES().</a:t>
            </a:r>
          </a:p>
          <a:p>
            <a:pPr>
              <a:spcBef>
                <a:spcPts val="300"/>
              </a:spcBef>
              <a:defRPr sz="950">
                <a:solidFill>
                  <a:srgbClr val="DCEBFA"/>
                </a:solidFill>
              </a:defRPr>
            </a:pPr>
            <a:r>
              <a:t>• Gráficos Técnicos de Frota e Desempenho Operacional.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