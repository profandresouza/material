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154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92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32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0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4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15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75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339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96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19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96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84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D2B2239-79B4-4E71-9BF4-D68FA5D3AF42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4F4D2E-BA51-4BAC-976C-6BBE9A480DF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83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20943-05DA-BA18-694A-41974E60E2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Modelo de Desenvolvimento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E9C0B4-A72C-4656-3DD3-D64E9074B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97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46BF3-C8EE-E3F7-D908-07809209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Prototipação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4F896F-56B4-F2A1-5532-346975BF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startup deseja desenvolver um </a:t>
            </a:r>
            <a:r>
              <a:rPr lang="pt-BR" b="1" dirty="0"/>
              <a:t>aplicativo para gerenciamento de filas em restaurantes</a:t>
            </a:r>
            <a:r>
              <a:rPr lang="pt-BR" dirty="0"/>
              <a:t>.</a:t>
            </a:r>
          </a:p>
          <a:p>
            <a:r>
              <a:rPr lang="pt-BR" dirty="0"/>
              <a:t>O sistema deve permitir:</a:t>
            </a:r>
          </a:p>
          <a:p>
            <a:pPr lvl="1"/>
            <a:r>
              <a:rPr lang="pt-BR" dirty="0"/>
              <a:t>O cliente entrar em uma fila virtual para aguardar mesa</a:t>
            </a:r>
          </a:p>
          <a:p>
            <a:pPr lvl="1"/>
            <a:r>
              <a:rPr lang="pt-BR" dirty="0"/>
              <a:t>Visualizar sua posição na fila</a:t>
            </a:r>
          </a:p>
          <a:p>
            <a:pPr lvl="1"/>
            <a:r>
              <a:rPr lang="pt-BR" dirty="0"/>
              <a:t>Receber notificação quando a mesa estiver disponível</a:t>
            </a:r>
          </a:p>
          <a:p>
            <a:pPr lvl="1"/>
            <a:r>
              <a:rPr lang="pt-BR" dirty="0"/>
              <a:t>O restaurante gerenciar a fila e chamar clientes</a:t>
            </a:r>
          </a:p>
          <a:p>
            <a:r>
              <a:rPr lang="pt-BR" dirty="0"/>
              <a:t>Os protótipos podem ser feitos </a:t>
            </a:r>
            <a:r>
              <a:rPr lang="pt-BR" b="1" dirty="0"/>
              <a:t>em papel, quadro, </a:t>
            </a:r>
            <a:r>
              <a:rPr lang="pt-BR" b="1" dirty="0" err="1"/>
              <a:t>post-its</a:t>
            </a:r>
            <a:r>
              <a:rPr lang="pt-BR" b="1" dirty="0"/>
              <a:t> ou ferramentas digitais simples</a:t>
            </a:r>
            <a:r>
              <a:rPr lang="pt-BR" dirty="0"/>
              <a:t>. O objetivo não é programar, mas </a:t>
            </a:r>
            <a:r>
              <a:rPr lang="pt-BR" b="1" dirty="0"/>
              <a:t>representar ideias rapidamente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2616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2973C-3959-92F6-3EE2-5F88253F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Rodada 1 – Protótipo Descartável (Exploratório)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530A13-8DD0-E969-8EA6-80E61FD78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cliente ainda não tem clareza sobre como o sistema deve funcionar.</a:t>
            </a:r>
          </a:p>
          <a:p>
            <a:r>
              <a:rPr lang="pt-BR" dirty="0"/>
              <a:t>Cada grupo deve criar um </a:t>
            </a:r>
            <a:r>
              <a:rPr lang="pt-BR" b="1" dirty="0"/>
              <a:t>protótipo rápido das principais telas ou interações do aplicativo</a:t>
            </a:r>
            <a:r>
              <a:rPr lang="pt-BR" dirty="0"/>
              <a:t>, apenas para ajudar o cliente a visualizar a solução.</a:t>
            </a:r>
          </a:p>
          <a:p>
            <a:r>
              <a:rPr lang="pt-BR" dirty="0"/>
              <a:t>O protótipo deve focar em:</a:t>
            </a:r>
          </a:p>
          <a:p>
            <a:pPr lvl="1"/>
            <a:r>
              <a:rPr lang="pt-BR" dirty="0"/>
              <a:t>Como o cliente entra na fila</a:t>
            </a:r>
          </a:p>
          <a:p>
            <a:pPr lvl="1"/>
            <a:r>
              <a:rPr lang="pt-BR" dirty="0"/>
              <a:t>Como ele visualiza sua posição</a:t>
            </a:r>
          </a:p>
          <a:p>
            <a:pPr lvl="1"/>
            <a:r>
              <a:rPr lang="pt-BR" dirty="0"/>
              <a:t>Como o restaurante adiciona clientes na fila</a:t>
            </a:r>
          </a:p>
          <a:p>
            <a:r>
              <a:rPr lang="pt-BR" dirty="0"/>
              <a:t>Importante:</a:t>
            </a:r>
          </a:p>
          <a:p>
            <a:pPr lvl="1"/>
            <a:r>
              <a:rPr lang="pt-BR" dirty="0"/>
              <a:t>Esse protótipo existe </a:t>
            </a:r>
            <a:r>
              <a:rPr lang="pt-BR" b="1" dirty="0"/>
              <a:t>apenas para entender os requisitos</a:t>
            </a:r>
            <a:r>
              <a:rPr lang="pt-BR" dirty="0"/>
              <a:t> e </a:t>
            </a:r>
            <a:r>
              <a:rPr lang="pt-BR" b="1" dirty="0"/>
              <a:t>seria descartado depois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664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BE0C-A2CE-12CC-E189-0C2EBD59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8BB7B-0E05-A4B5-80D5-3AB178C5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Rodada 2 – Protótipo Evolucionário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AA546-1329-AC4E-B1F5-3C662A90A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Agora a equipe decidiu criar </a:t>
            </a:r>
            <a:r>
              <a:rPr lang="pt-BR" b="1" dirty="0"/>
              <a:t>uma primeira versão simples do sistema</a:t>
            </a:r>
            <a:r>
              <a:rPr lang="pt-BR" dirty="0"/>
              <a:t>, que será melhorada com o tempo.</a:t>
            </a:r>
          </a:p>
          <a:p>
            <a:r>
              <a:rPr lang="pt-BR" dirty="0"/>
              <a:t>Cada grupo deve:</a:t>
            </a:r>
          </a:p>
          <a:p>
            <a:pPr lvl="1"/>
            <a:r>
              <a:rPr lang="pt-BR" dirty="0"/>
              <a:t>Definir qual seria a </a:t>
            </a:r>
            <a:r>
              <a:rPr lang="pt-BR" b="1" dirty="0"/>
              <a:t>primeira versão mínima do aplicativo</a:t>
            </a:r>
            <a:endParaRPr lang="pt-BR" dirty="0"/>
          </a:p>
          <a:p>
            <a:pPr lvl="1"/>
            <a:r>
              <a:rPr lang="pt-BR" dirty="0"/>
              <a:t>Criar um protótipo dessa primeira versão</a:t>
            </a:r>
          </a:p>
          <a:p>
            <a:pPr lvl="1"/>
            <a:r>
              <a:rPr lang="pt-BR" dirty="0"/>
              <a:t>Indicar </a:t>
            </a:r>
            <a:r>
              <a:rPr lang="pt-BR" b="1" dirty="0"/>
              <a:t>como o sistema evoluiria nas próximas versões</a:t>
            </a:r>
            <a:endParaRPr lang="pt-BR" dirty="0"/>
          </a:p>
          <a:p>
            <a:r>
              <a:rPr lang="pt-BR" dirty="0"/>
              <a:t>Exemplos de evolução:</a:t>
            </a:r>
          </a:p>
          <a:p>
            <a:pPr lvl="1"/>
            <a:r>
              <a:rPr lang="pt-BR" dirty="0"/>
              <a:t>inclusão de notificações</a:t>
            </a:r>
          </a:p>
          <a:p>
            <a:pPr lvl="1"/>
            <a:r>
              <a:rPr lang="pt-BR" dirty="0"/>
              <a:t>previsão de tempo de espera</a:t>
            </a:r>
          </a:p>
          <a:p>
            <a:pPr lvl="1"/>
            <a:r>
              <a:rPr lang="pt-BR" dirty="0"/>
              <a:t>integração com reservas</a:t>
            </a:r>
          </a:p>
          <a:p>
            <a:pPr lvl="1"/>
            <a:r>
              <a:rPr lang="pt-BR" dirty="0"/>
              <a:t>histórico de visitas do cliente</a:t>
            </a:r>
          </a:p>
          <a:p>
            <a:r>
              <a:rPr lang="pt-BR" dirty="0"/>
              <a:t>O foco é mostrar </a:t>
            </a:r>
            <a:r>
              <a:rPr lang="pt-BR" b="1" dirty="0"/>
              <a:t>como o protótipo poderia evoluir até virar o sistema final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9632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3B6BF-0A08-159B-42EB-80E0C687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B292B-BD7E-D723-3AA4-98E31DC7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Rodada 3 – Protótipo Incremental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8720B9-A811-C308-005B-9A3D5E8E3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Agora o sistema será dividido em </a:t>
            </a:r>
            <a:r>
              <a:rPr lang="pt-BR" b="1" dirty="0"/>
              <a:t>partes menores</a:t>
            </a:r>
            <a:r>
              <a:rPr lang="pt-BR" dirty="0"/>
              <a:t>, desenvolvidas separadamente.</a:t>
            </a:r>
          </a:p>
          <a:p>
            <a:r>
              <a:rPr lang="pt-BR" dirty="0"/>
              <a:t>Cada grupo deve dividir o sistema em </a:t>
            </a:r>
            <a:r>
              <a:rPr lang="pt-BR" b="1" dirty="0"/>
              <a:t>módulos</a:t>
            </a:r>
            <a:r>
              <a:rPr lang="pt-BR" dirty="0"/>
              <a:t>, por exemplo:</a:t>
            </a:r>
          </a:p>
          <a:p>
            <a:pPr lvl="1"/>
            <a:r>
              <a:rPr lang="pt-BR" dirty="0"/>
              <a:t>cadastro do cliente na fila</a:t>
            </a:r>
          </a:p>
          <a:p>
            <a:pPr lvl="1"/>
            <a:r>
              <a:rPr lang="pt-BR" dirty="0"/>
              <a:t>painel do restaurante</a:t>
            </a:r>
          </a:p>
          <a:p>
            <a:pPr lvl="1"/>
            <a:r>
              <a:rPr lang="pt-BR" dirty="0"/>
              <a:t>sistema de notificações</a:t>
            </a:r>
          </a:p>
          <a:p>
            <a:pPr lvl="1"/>
            <a:r>
              <a:rPr lang="pt-BR" dirty="0"/>
              <a:t>cálculo de tempo de espera</a:t>
            </a:r>
          </a:p>
          <a:p>
            <a:r>
              <a:rPr lang="pt-BR" dirty="0"/>
              <a:t>O grupo deve representar </a:t>
            </a:r>
            <a:r>
              <a:rPr lang="pt-BR" b="1" dirty="0"/>
              <a:t>pequenos protótipos para cada módulo</a:t>
            </a:r>
            <a:r>
              <a:rPr lang="pt-BR" dirty="0"/>
              <a:t>.</a:t>
            </a:r>
          </a:p>
          <a:p>
            <a:r>
              <a:rPr lang="pt-BR" dirty="0"/>
              <a:t>O objetivo é mostrar </a:t>
            </a:r>
            <a:r>
              <a:rPr lang="pt-BR" b="1" dirty="0"/>
              <a:t>como partes do sistema podem ser desenvolvidas separadamente e depois integradas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92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B400-2576-BFAD-76AC-72B8C739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5CD13-9351-003C-F3AE-4D105F3F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Rodada 4 – Protótipo Horizontal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567B48-1457-CF53-28D4-CF8B247EB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Agora o objetivo é avaliar </a:t>
            </a:r>
            <a:r>
              <a:rPr lang="pt-BR" b="1" dirty="0"/>
              <a:t>a interface e a experiência do usuário</a:t>
            </a:r>
            <a:r>
              <a:rPr lang="pt-BR" dirty="0"/>
              <a:t>.</a:t>
            </a:r>
          </a:p>
          <a:p>
            <a:r>
              <a:rPr lang="pt-BR" dirty="0"/>
              <a:t>Cada grupo deve criar </a:t>
            </a:r>
            <a:r>
              <a:rPr lang="pt-BR" b="1" dirty="0"/>
              <a:t>várias telas do sistema</a:t>
            </a:r>
            <a:r>
              <a:rPr lang="pt-BR" dirty="0"/>
              <a:t>, mostrando:</a:t>
            </a:r>
          </a:p>
          <a:p>
            <a:pPr lvl="1"/>
            <a:r>
              <a:rPr lang="pt-BR" dirty="0"/>
              <a:t>tela inicial</a:t>
            </a:r>
          </a:p>
          <a:p>
            <a:pPr lvl="1"/>
            <a:r>
              <a:rPr lang="pt-BR" dirty="0"/>
              <a:t>entrar na fila</a:t>
            </a:r>
          </a:p>
          <a:p>
            <a:pPr lvl="1"/>
            <a:r>
              <a:rPr lang="pt-BR" dirty="0"/>
              <a:t>acompanhar posição</a:t>
            </a:r>
          </a:p>
          <a:p>
            <a:pPr lvl="1"/>
            <a:r>
              <a:rPr lang="pt-BR" dirty="0"/>
              <a:t>notificação de chamada</a:t>
            </a:r>
          </a:p>
          <a:p>
            <a:pPr lvl="1"/>
            <a:r>
              <a:rPr lang="pt-BR" dirty="0"/>
              <a:t>painel do restaurante</a:t>
            </a:r>
          </a:p>
          <a:p>
            <a:r>
              <a:rPr lang="pt-BR" dirty="0"/>
              <a:t>Não é necessário detalhar regras de negócio.</a:t>
            </a:r>
          </a:p>
          <a:p>
            <a:r>
              <a:rPr lang="pt-BR" dirty="0"/>
              <a:t>O foco é mostrar </a:t>
            </a:r>
            <a:r>
              <a:rPr lang="pt-BR" b="1" dirty="0"/>
              <a:t>a navegação e organização da interface do sistema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325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AF76-B5DC-6B21-54FE-2AE844D4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BE3B0-91C2-12A1-26E7-22A7E277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Rodada 5 – Protótipo Vertical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4C4B06-B466-4380-8C24-04EEF3603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Agora o objetivo é testar </a:t>
            </a:r>
            <a:r>
              <a:rPr lang="pt-BR" b="1" dirty="0"/>
              <a:t>uma funcionalidade específica em profundidade</a:t>
            </a:r>
            <a:r>
              <a:rPr lang="pt-BR" dirty="0"/>
              <a:t>.</a:t>
            </a:r>
          </a:p>
          <a:p>
            <a:r>
              <a:rPr lang="pt-BR" dirty="0"/>
              <a:t>Cada grupo deve escolher </a:t>
            </a:r>
            <a:r>
              <a:rPr lang="pt-BR" b="1" dirty="0"/>
              <a:t>um fluxo completo do sistema</a:t>
            </a:r>
            <a:r>
              <a:rPr lang="pt-BR" dirty="0"/>
              <a:t> e detalhá-lo.</a:t>
            </a:r>
          </a:p>
          <a:p>
            <a:r>
              <a:rPr lang="pt-BR" dirty="0"/>
              <a:t>Exemplo de fluxo:</a:t>
            </a:r>
          </a:p>
          <a:p>
            <a:pPr lvl="1"/>
            <a:r>
              <a:rPr lang="pt-BR" dirty="0"/>
              <a:t>cliente entra na fila</a:t>
            </a:r>
          </a:p>
          <a:p>
            <a:pPr lvl="1"/>
            <a:r>
              <a:rPr lang="pt-BR" dirty="0"/>
              <a:t>sistema registra a posição</a:t>
            </a:r>
          </a:p>
          <a:p>
            <a:pPr lvl="1"/>
            <a:r>
              <a:rPr lang="pt-BR" dirty="0"/>
              <a:t>restaurante libera mesa</a:t>
            </a:r>
          </a:p>
          <a:p>
            <a:pPr lvl="1"/>
            <a:r>
              <a:rPr lang="pt-BR" dirty="0"/>
              <a:t>sistema identifica próximo cliente</a:t>
            </a:r>
          </a:p>
          <a:p>
            <a:pPr lvl="1"/>
            <a:r>
              <a:rPr lang="pt-BR" dirty="0"/>
              <a:t>cliente recebe notificação</a:t>
            </a:r>
          </a:p>
          <a:p>
            <a:r>
              <a:rPr lang="pt-BR" dirty="0"/>
              <a:t>Diferente do protótipo horizontal, aqui o grupo deve </a:t>
            </a:r>
            <a:r>
              <a:rPr lang="pt-BR" b="1" dirty="0"/>
              <a:t>aprofundar uma funcionalidade específica</a:t>
            </a:r>
            <a:r>
              <a:rPr lang="pt-BR" dirty="0"/>
              <a:t>, mostrando como ela funciona do início ao fim.</a:t>
            </a:r>
          </a:p>
        </p:txBody>
      </p:sp>
    </p:spTree>
    <p:extLst>
      <p:ext uri="{BB962C8B-B14F-4D97-AF65-F5344CB8AC3E}">
        <p14:creationId xmlns:p14="http://schemas.microsoft.com/office/powerpoint/2010/main" val="45836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1F28F-A394-97E9-DC5C-5AAA5ADB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Etapas e Artefatos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459C3B1-B934-94FA-DDC1-2C3F703D03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659481"/>
              </p:ext>
            </p:extLst>
          </p:nvPr>
        </p:nvGraphicFramePr>
        <p:xfrm>
          <a:off x="1036320" y="1674220"/>
          <a:ext cx="10119360" cy="4630321"/>
        </p:xfrm>
        <a:graphic>
          <a:graphicData uri="http://schemas.openxmlformats.org/drawingml/2006/table">
            <a:tbl>
              <a:tblPr firstRow="1" firstCol="1">
                <a:tableStyleId>{B301B821-A1FF-4177-AEE7-76D212191A09}</a:tableStyleId>
              </a:tblPr>
              <a:tblGrid>
                <a:gridCol w="1648992">
                  <a:extLst>
                    <a:ext uri="{9D8B030D-6E8A-4147-A177-3AD203B41FA5}">
                      <a16:colId xmlns:a16="http://schemas.microsoft.com/office/drawing/2014/main" val="2191665759"/>
                    </a:ext>
                  </a:extLst>
                </a:gridCol>
                <a:gridCol w="1660857">
                  <a:extLst>
                    <a:ext uri="{9D8B030D-6E8A-4147-A177-3AD203B41FA5}">
                      <a16:colId xmlns:a16="http://schemas.microsoft.com/office/drawing/2014/main" val="1863129036"/>
                    </a:ext>
                  </a:extLst>
                </a:gridCol>
                <a:gridCol w="2218430">
                  <a:extLst>
                    <a:ext uri="{9D8B030D-6E8A-4147-A177-3AD203B41FA5}">
                      <a16:colId xmlns:a16="http://schemas.microsoft.com/office/drawing/2014/main" val="2418870350"/>
                    </a:ext>
                  </a:extLst>
                </a:gridCol>
                <a:gridCol w="4591081">
                  <a:extLst>
                    <a:ext uri="{9D8B030D-6E8A-4147-A177-3AD203B41FA5}">
                      <a16:colId xmlns:a16="http://schemas.microsoft.com/office/drawing/2014/main" val="3339382819"/>
                    </a:ext>
                  </a:extLst>
                </a:gridCol>
              </a:tblGrid>
              <a:tr h="240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Tipo de Protótipo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Etapa do Processo onde Aparece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Objetivo Principal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Artefatos Comuns na Etapa</a:t>
                      </a:r>
                    </a:p>
                  </a:txBody>
                  <a:tcPr marL="34382" marR="34382" marT="17191" marB="17191" anchor="ctr"/>
                </a:tc>
                <a:extLst>
                  <a:ext uri="{0D108BD9-81ED-4DB2-BD59-A6C34878D82A}">
                    <a16:rowId xmlns:a16="http://schemas.microsoft.com/office/drawing/2014/main" val="3485239223"/>
                  </a:ext>
                </a:extLst>
              </a:tr>
              <a:tr h="75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Protótipo Descartável (Exploratório)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Levantamento e análise inicial de requisitos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Ajudar o cliente a entender o sistema e esclarecer requisitos ainda vagos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Documento inicial de requisitos, histórias de usuário, lista de requisitos preliminar, wireframes, esboços de telas, fluxos simples de interação</a:t>
                      </a:r>
                    </a:p>
                  </a:txBody>
                  <a:tcPr marL="34382" marR="34382" marT="17191" marB="17191" anchor="ctr"/>
                </a:tc>
                <a:extLst>
                  <a:ext uri="{0D108BD9-81ED-4DB2-BD59-A6C34878D82A}">
                    <a16:rowId xmlns:a16="http://schemas.microsoft.com/office/drawing/2014/main" val="4222851670"/>
                  </a:ext>
                </a:extLst>
              </a:tr>
              <a:tr h="75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Protótipo Evolucionário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Transição entre análise, projeto e desenvolvimento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Criar uma versão inicial do sistema que será continuamente refinada até se tornar o produto final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Casos de uso (UML), modelo inicial de domínio, diagramas de classes iniciais, backlog de funcionalidades, arquitetura inicial do sistema</a:t>
                      </a:r>
                    </a:p>
                  </a:txBody>
                  <a:tcPr marL="34382" marR="34382" marT="17191" marB="17191" anchor="ctr"/>
                </a:tc>
                <a:extLst>
                  <a:ext uri="{0D108BD9-81ED-4DB2-BD59-A6C34878D82A}">
                    <a16:rowId xmlns:a16="http://schemas.microsoft.com/office/drawing/2014/main" val="2433970737"/>
                  </a:ext>
                </a:extLst>
              </a:tr>
              <a:tr h="962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Protótipo Incremental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Projeto arquitetural e desenvolvimento modular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Desenvolver e validar partes do sistema separadamente antes da integração final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Diagramas de componentes, diagramas de classes detalhados, modelo entidade-relacionamento (DER), diagramas de sequência, especificação de módulos</a:t>
                      </a:r>
                    </a:p>
                  </a:txBody>
                  <a:tcPr marL="34382" marR="34382" marT="17191" marB="17191" anchor="ctr"/>
                </a:tc>
                <a:extLst>
                  <a:ext uri="{0D108BD9-81ED-4DB2-BD59-A6C34878D82A}">
                    <a16:rowId xmlns:a16="http://schemas.microsoft.com/office/drawing/2014/main" val="2595221239"/>
                  </a:ext>
                </a:extLst>
              </a:tr>
              <a:tr h="55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Protótipo Horizontal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Análise de interface e design de interação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Avaliar a navegação, organização das telas e experiência do usuário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Wireframes, mockups de interface, protótipos de interface navegáveis, mapa de navegação, fluxo de telas</a:t>
                      </a:r>
                    </a:p>
                  </a:txBody>
                  <a:tcPr marL="34382" marR="34382" marT="17191" marB="17191" anchor="ctr"/>
                </a:tc>
                <a:extLst>
                  <a:ext uri="{0D108BD9-81ED-4DB2-BD59-A6C34878D82A}">
                    <a16:rowId xmlns:a16="http://schemas.microsoft.com/office/drawing/2014/main" val="2699428198"/>
                  </a:ext>
                </a:extLst>
              </a:tr>
              <a:tr h="75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Protótipo Vertical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Projeto detalhado e validação técnica durante o desenvolvimento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Testar em profundidade uma funcionalidade específica do sistema</a:t>
                      </a:r>
                    </a:p>
                  </a:txBody>
                  <a:tcPr marL="34382" marR="34382" marT="17191" marB="171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Diagramas de sequência, diagramas de atividades, diagramas de classes detalhados, modelo de dados (DER), especificação de APIs ou serviços</a:t>
                      </a:r>
                    </a:p>
                  </a:txBody>
                  <a:tcPr marL="34382" marR="34382" marT="17191" marB="17191" anchor="ctr"/>
                </a:tc>
                <a:extLst>
                  <a:ext uri="{0D108BD9-81ED-4DB2-BD59-A6C34878D82A}">
                    <a16:rowId xmlns:a16="http://schemas.microsoft.com/office/drawing/2014/main" val="2736974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E360A-BA4F-960D-6A84-21707B274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C5BB4-8ED4-0A52-F618-DB81296A2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02914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159</TotalTime>
  <Words>692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Retrospectiva</vt:lpstr>
      <vt:lpstr>Modelo de Desenvolvimento de Software</vt:lpstr>
      <vt:lpstr>Prototipação</vt:lpstr>
      <vt:lpstr>Rodada 1 – Protótipo Descartável (Exploratório)</vt:lpstr>
      <vt:lpstr>Rodada 2 – Protótipo Evolucionário</vt:lpstr>
      <vt:lpstr>Rodada 3 – Protótipo Incremental</vt:lpstr>
      <vt:lpstr>Rodada 4 – Protótipo Horizontal</vt:lpstr>
      <vt:lpstr>Rodada 5 – Protótipo Vertical</vt:lpstr>
      <vt:lpstr>Etapas e Artefatos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Cassulino Araujo Souza</dc:creator>
  <cp:lastModifiedBy>Andre Cassulino Araujo Souza</cp:lastModifiedBy>
  <cp:revision>1</cp:revision>
  <dcterms:created xsi:type="dcterms:W3CDTF">2026-03-16T18:22:34Z</dcterms:created>
  <dcterms:modified xsi:type="dcterms:W3CDTF">2026-03-16T21:01:53Z</dcterms:modified>
</cp:coreProperties>
</file>