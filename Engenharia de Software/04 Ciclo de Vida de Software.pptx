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513" autoAdjust="0"/>
  </p:normalViewPr>
  <p:slideViewPr>
    <p:cSldViewPr snapToGrid="0">
      <p:cViewPr varScale="1">
        <p:scale>
          <a:sx n="84" d="100"/>
          <a:sy n="84" d="100"/>
        </p:scale>
        <p:origin x="16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8E5EB-C801-4745-91A0-26A86AA1D736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D48B8-EC39-425E-A7E3-17FF44D30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222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Levantamento de requisitos</a:t>
            </a:r>
          </a:p>
          <a:p>
            <a:r>
              <a:rPr lang="pt-BR" dirty="0"/>
              <a:t>Nesta fase seriam identificadas as necessidades da biblioteca e dos usuários do sistema.</a:t>
            </a:r>
          </a:p>
          <a:p>
            <a:r>
              <a:rPr lang="pt-BR" dirty="0"/>
              <a:t>Atividades possíveis:</a:t>
            </a:r>
          </a:p>
          <a:p>
            <a:r>
              <a:rPr lang="pt-BR" dirty="0"/>
              <a:t>entrevistas com bibliotecários</a:t>
            </a:r>
          </a:p>
          <a:p>
            <a:r>
              <a:rPr lang="pt-BR" dirty="0"/>
              <a:t>análise do processo atual de empréstimos</a:t>
            </a:r>
          </a:p>
          <a:p>
            <a:r>
              <a:rPr lang="pt-BR" dirty="0"/>
              <a:t>identificação das funcionalidades do sistema</a:t>
            </a:r>
          </a:p>
          <a:p>
            <a:r>
              <a:rPr lang="pt-BR" dirty="0"/>
              <a:t>Artefato produzido:</a:t>
            </a:r>
          </a:p>
          <a:p>
            <a:r>
              <a:rPr lang="pt-BR" dirty="0"/>
              <a:t>documento de requisitos do sistema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Projeto do sistema</a:t>
            </a:r>
          </a:p>
          <a:p>
            <a:r>
              <a:rPr lang="pt-BR" dirty="0"/>
              <a:t>A equipe definiria como o sistema será estruturado.</a:t>
            </a:r>
          </a:p>
          <a:p>
            <a:r>
              <a:rPr lang="pt-BR" dirty="0"/>
              <a:t>Decisões importantes:</a:t>
            </a:r>
          </a:p>
          <a:p>
            <a:r>
              <a:rPr lang="pt-BR" dirty="0"/>
              <a:t>arquitetura do sistema</a:t>
            </a:r>
          </a:p>
          <a:p>
            <a:r>
              <a:rPr lang="pt-BR" dirty="0"/>
              <a:t>estrutura do banco de dados</a:t>
            </a:r>
          </a:p>
          <a:p>
            <a:r>
              <a:rPr lang="pt-BR" dirty="0"/>
              <a:t>definição das principais entidades (livro, usuário, empréstimo)</a:t>
            </a:r>
          </a:p>
          <a:p>
            <a:r>
              <a:rPr lang="pt-BR" dirty="0"/>
              <a:t>Artefatos produzidos:</a:t>
            </a:r>
          </a:p>
          <a:p>
            <a:r>
              <a:rPr lang="pt-BR" dirty="0"/>
              <a:t>diagramas UML</a:t>
            </a:r>
          </a:p>
          <a:p>
            <a:r>
              <a:rPr lang="pt-BR" dirty="0"/>
              <a:t>modelo de dados</a:t>
            </a:r>
          </a:p>
          <a:p>
            <a:r>
              <a:rPr lang="pt-BR" dirty="0"/>
              <a:t>definição da arquitetura do sistema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Implementação</a:t>
            </a:r>
          </a:p>
          <a:p>
            <a:r>
              <a:rPr lang="pt-BR" dirty="0"/>
              <a:t>Nesta fase os desenvolvedores implementariam o sistema com base no projeto definido.</a:t>
            </a:r>
          </a:p>
          <a:p>
            <a:r>
              <a:rPr lang="pt-BR" dirty="0"/>
              <a:t>Atividades:</a:t>
            </a:r>
          </a:p>
          <a:p>
            <a:r>
              <a:rPr lang="pt-BR" dirty="0"/>
              <a:t>desenvolvimento do código</a:t>
            </a:r>
          </a:p>
          <a:p>
            <a:r>
              <a:rPr lang="pt-BR" dirty="0"/>
              <a:t>criação das telas do sistema</a:t>
            </a:r>
          </a:p>
          <a:p>
            <a:r>
              <a:rPr lang="pt-BR" dirty="0"/>
              <a:t>implementação das regras de negócio</a:t>
            </a:r>
          </a:p>
          <a:p>
            <a:r>
              <a:rPr lang="pt-BR" dirty="0"/>
              <a:t>Artefato produzido:</a:t>
            </a:r>
          </a:p>
          <a:p>
            <a:r>
              <a:rPr lang="pt-BR" dirty="0"/>
              <a:t>código-fonte do sistema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Testes</a:t>
            </a:r>
          </a:p>
          <a:p>
            <a:r>
              <a:rPr lang="pt-BR" dirty="0"/>
              <a:t>O sistema seria testado para verificar se atende aos requisitos definidos.</a:t>
            </a:r>
          </a:p>
          <a:p>
            <a:r>
              <a:rPr lang="pt-BR" dirty="0"/>
              <a:t>Tipos de testes possíveis:</a:t>
            </a:r>
          </a:p>
          <a:p>
            <a:r>
              <a:rPr lang="pt-BR" dirty="0"/>
              <a:t>testes de cadastro de livros</a:t>
            </a:r>
          </a:p>
          <a:p>
            <a:r>
              <a:rPr lang="pt-BR" dirty="0"/>
              <a:t>testes de empréstimo e devolução</a:t>
            </a:r>
          </a:p>
          <a:p>
            <a:r>
              <a:rPr lang="pt-BR" dirty="0"/>
              <a:t>testes de consulta ao acervo</a:t>
            </a:r>
          </a:p>
          <a:p>
            <a:r>
              <a:rPr lang="pt-BR" dirty="0"/>
              <a:t>Objetivo:</a:t>
            </a:r>
          </a:p>
          <a:p>
            <a:r>
              <a:rPr lang="pt-BR" dirty="0"/>
              <a:t>identificar erros</a:t>
            </a:r>
          </a:p>
          <a:p>
            <a:r>
              <a:rPr lang="pt-BR" dirty="0"/>
              <a:t>validar funcionamento do sistema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/>
              <a:t>Implantação</a:t>
            </a:r>
          </a:p>
          <a:p>
            <a:r>
              <a:rPr lang="pt-BR" dirty="0"/>
              <a:t>Após os testes, o sistema seria disponibilizado para uso real na biblioteca.</a:t>
            </a:r>
          </a:p>
          <a:p>
            <a:r>
              <a:rPr lang="pt-BR" dirty="0"/>
              <a:t>Atividades:</a:t>
            </a:r>
          </a:p>
          <a:p>
            <a:r>
              <a:rPr lang="pt-BR" dirty="0"/>
              <a:t>instalação do sistema</a:t>
            </a:r>
          </a:p>
          <a:p>
            <a:r>
              <a:rPr lang="pt-BR" dirty="0"/>
              <a:t>treinamento dos usuários</a:t>
            </a:r>
          </a:p>
          <a:p>
            <a:r>
              <a:rPr lang="pt-BR" dirty="0"/>
              <a:t>início da operação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D48B8-EC39-425E-A7E3-17FF44D3038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28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43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47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30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00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0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94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381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86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97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72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57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C633AF-0717-4646-94E8-EF24C93562BE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A36AB8-4F50-4878-A8C6-D1B0324F7931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83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5A582-5063-ACD7-25D5-8BBB91E3A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Ciclo de Vida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186C6A-0A56-4FCC-0EB5-52D8A2148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739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0623CF-4249-55CA-4FBD-40EFE0F2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50A2A7-CFB0-C3FC-B839-8409BB531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 desenvolvimento de software é uma atividade complexa que envolve diversas etapas, profissionais e decisões técnicas. Diferentemente de tarefas simples de programação individual, projetos de software geralmente demandam planejamento, coordenação de equipes, controle de qualidade, gestão de recursos e alinhamento com as necessidades dos usuários ou da organização.</a:t>
            </a:r>
          </a:p>
          <a:p>
            <a:r>
              <a:rPr lang="pt-BR" dirty="0"/>
              <a:t>Para lidar com essa complexidade, a Engenharia de Software utiliza o conceito de </a:t>
            </a:r>
            <a:r>
              <a:rPr lang="pt-BR" b="1" dirty="0"/>
              <a:t>Ciclo de Vida de Software</a:t>
            </a:r>
            <a:r>
              <a:rPr lang="pt-BR" dirty="0"/>
              <a:t>, que descreve o conjunto organizado de etapas pelas quais um sistema passa desde a identificação de uma necessidade até sua eventual substituição ou descontinuação.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405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0C57-6829-F48F-F6EC-6B72B083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EC0BC-7337-219C-BE43-2846AF6D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4FE866-385C-E395-CCA1-11AF980F4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ciclo de vida pode ser entendido como </a:t>
            </a:r>
            <a:r>
              <a:rPr lang="pt-BR" b="1" dirty="0"/>
              <a:t>uma estrutura conceitual que organiza o processo de desenvolvimento</a:t>
            </a:r>
            <a:r>
              <a:rPr lang="pt-BR" dirty="0"/>
              <a:t>, estabelecendo:</a:t>
            </a:r>
          </a:p>
          <a:p>
            <a:pPr lvl="1"/>
            <a:r>
              <a:rPr lang="pt-BR" dirty="0"/>
              <a:t>quais atividades devem ser realizadas</a:t>
            </a:r>
          </a:p>
          <a:p>
            <a:pPr lvl="1"/>
            <a:r>
              <a:rPr lang="pt-BR" dirty="0"/>
              <a:t>em que ordem essas atividades ocorrem</a:t>
            </a:r>
          </a:p>
          <a:p>
            <a:pPr lvl="1"/>
            <a:r>
              <a:rPr lang="pt-BR" dirty="0"/>
              <a:t>quais resultados ou artefatos são produzidos em cada etapa</a:t>
            </a:r>
          </a:p>
          <a:p>
            <a:pPr lvl="1"/>
            <a:r>
              <a:rPr lang="pt-BR" dirty="0"/>
              <a:t>quem são os responsáveis por cada fase</a:t>
            </a:r>
          </a:p>
          <a:p>
            <a:r>
              <a:rPr lang="pt-BR" dirty="0"/>
              <a:t>Essa estrutura permite que o desenvolvimento seja conduzido de forma </a:t>
            </a:r>
            <a:r>
              <a:rPr lang="pt-BR" b="1" dirty="0"/>
              <a:t>mais previsível, controlada e transparente</a:t>
            </a:r>
            <a:r>
              <a:rPr lang="pt-BR" dirty="0"/>
              <a:t>, reduzindo riscos associados à construção de sistemas complexos.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208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82BF-F552-94BD-4BCB-46E61295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B2877-E219-8DF8-3266-83562500F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de Software 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B91DF-F09C-EBD2-0549-1F33907DD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Imagine uma empresa que decide desenvolver um sistema para </a:t>
            </a:r>
            <a:r>
              <a:rPr lang="pt-BR" b="1" dirty="0"/>
              <a:t>controle de estoque</a:t>
            </a:r>
            <a:r>
              <a:rPr lang="pt-BR" dirty="0"/>
              <a:t>.</a:t>
            </a:r>
          </a:p>
          <a:p>
            <a:r>
              <a:rPr lang="pt-BR" dirty="0"/>
              <a:t>Sem um ciclo de vida estruturado, os desenvolvedores poderiam começar diretamente a programar, sem compreender completamente:</a:t>
            </a:r>
          </a:p>
          <a:p>
            <a:pPr lvl="1"/>
            <a:r>
              <a:rPr lang="pt-BR" dirty="0"/>
              <a:t>quais funcionalidades o sistema precisa ter</a:t>
            </a:r>
          </a:p>
          <a:p>
            <a:pPr lvl="1"/>
            <a:r>
              <a:rPr lang="pt-BR" dirty="0"/>
              <a:t>quais usuários irão utilizá-lo</a:t>
            </a:r>
          </a:p>
          <a:p>
            <a:pPr lvl="1"/>
            <a:r>
              <a:rPr lang="pt-BR" dirty="0"/>
              <a:t>quais dados precisam ser armazenados</a:t>
            </a:r>
          </a:p>
          <a:p>
            <a:pPr lvl="1"/>
            <a:r>
              <a:rPr lang="pt-BR" dirty="0"/>
              <a:t>quais relatórios são necessários</a:t>
            </a:r>
          </a:p>
          <a:p>
            <a:r>
              <a:rPr lang="pt-BR" dirty="0"/>
              <a:t>Como resultado, o sistema poderia não atender às necessidades reais da empresa.</a:t>
            </a:r>
          </a:p>
          <a:p>
            <a:r>
              <a:rPr lang="pt-BR" dirty="0"/>
              <a:t>Ao utilizar um ciclo de vida estruturado, primeiro ocorre a </a:t>
            </a:r>
            <a:r>
              <a:rPr lang="pt-BR" b="1" dirty="0"/>
              <a:t>análise das necessidades</a:t>
            </a:r>
            <a:r>
              <a:rPr lang="pt-BR" dirty="0"/>
              <a:t>, depois o </a:t>
            </a:r>
            <a:r>
              <a:rPr lang="pt-BR" b="1" dirty="0"/>
              <a:t>planejamento da solução</a:t>
            </a:r>
            <a:r>
              <a:rPr lang="pt-BR" dirty="0"/>
              <a:t>, seguido da </a:t>
            </a:r>
            <a:r>
              <a:rPr lang="pt-BR" b="1" dirty="0"/>
              <a:t>implementação</a:t>
            </a:r>
            <a:r>
              <a:rPr lang="pt-BR" dirty="0"/>
              <a:t>, </a:t>
            </a:r>
            <a:r>
              <a:rPr lang="pt-BR" b="1" dirty="0"/>
              <a:t>testes</a:t>
            </a:r>
            <a:r>
              <a:rPr lang="pt-BR" dirty="0"/>
              <a:t> e </a:t>
            </a:r>
            <a:r>
              <a:rPr lang="pt-BR" b="1" dirty="0"/>
              <a:t>implantação</a:t>
            </a:r>
            <a:r>
              <a:rPr lang="pt-BR" dirty="0"/>
              <a:t>, reduzindo a probabilidade de erros graves no projeto.</a:t>
            </a:r>
          </a:p>
        </p:txBody>
      </p:sp>
    </p:spTree>
    <p:extLst>
      <p:ext uri="{BB962C8B-B14F-4D97-AF65-F5344CB8AC3E}">
        <p14:creationId xmlns:p14="http://schemas.microsoft.com/office/powerpoint/2010/main" val="389533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45BAF-834D-B496-6BA7-AD48CDC5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EC4C58-7F71-A8B6-FD92-28C121981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 </a:t>
            </a:r>
            <a:r>
              <a:rPr lang="pt-BR" b="1" dirty="0"/>
              <a:t>Ciclo de Vida de Software (Software </a:t>
            </a:r>
            <a:r>
              <a:rPr lang="pt-BR" b="1" dirty="0" err="1"/>
              <a:t>Development</a:t>
            </a:r>
            <a:r>
              <a:rPr lang="pt-BR" b="1" dirty="0"/>
              <a:t> Life </a:t>
            </a:r>
            <a:r>
              <a:rPr lang="pt-BR" b="1" dirty="0" err="1"/>
              <a:t>Cycle</a:t>
            </a:r>
            <a:r>
              <a:rPr lang="pt-BR" b="1" dirty="0"/>
              <a:t> – SDLC)</a:t>
            </a:r>
            <a:r>
              <a:rPr lang="pt-BR" dirty="0"/>
              <a:t> é um modelo conceitual que descreve as etapas necessárias para planejar, desenvolver, implantar e manter um sistema de software ao longo do tempo.</a:t>
            </a:r>
          </a:p>
          <a:p>
            <a:r>
              <a:rPr lang="pt-BR" dirty="0"/>
              <a:t>Ele não define apenas atividades técnicas, mas também inclui aspectos organizacionais, como:</a:t>
            </a:r>
          </a:p>
          <a:p>
            <a:pPr lvl="1"/>
            <a:r>
              <a:rPr lang="pt-BR" dirty="0"/>
              <a:t>comunicação entre equipes</a:t>
            </a:r>
          </a:p>
          <a:p>
            <a:pPr lvl="1"/>
            <a:r>
              <a:rPr lang="pt-BR" dirty="0"/>
              <a:t>validação com usuários</a:t>
            </a:r>
          </a:p>
          <a:p>
            <a:pPr lvl="1"/>
            <a:r>
              <a:rPr lang="pt-BR" dirty="0"/>
              <a:t>documentação do sistema</a:t>
            </a:r>
          </a:p>
          <a:p>
            <a:pPr lvl="1"/>
            <a:r>
              <a:rPr lang="pt-BR" dirty="0"/>
              <a:t>gestão de mudanças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3971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33BF-1E99-2D02-CF27-71EC4A94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0AC4F-A58F-9424-3511-6B89F18EA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6775A5-0F7B-9FE9-4D55-DF1752F5B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ciclo de vida busca responder três perguntas fundamentais em projetos de software:</a:t>
            </a:r>
          </a:p>
          <a:p>
            <a:pPr lvl="1"/>
            <a:r>
              <a:rPr lang="pt-BR" b="1" dirty="0"/>
              <a:t>O que deve ser construído?</a:t>
            </a:r>
            <a:endParaRPr lang="pt-BR" dirty="0"/>
          </a:p>
          <a:p>
            <a:pPr lvl="1"/>
            <a:r>
              <a:rPr lang="pt-BR" b="1" dirty="0"/>
              <a:t>Como o sistema será desenvolvido?</a:t>
            </a:r>
            <a:endParaRPr lang="pt-BR" dirty="0"/>
          </a:p>
          <a:p>
            <a:pPr lvl="1"/>
            <a:r>
              <a:rPr lang="pt-BR" b="1" dirty="0"/>
              <a:t>Como garantir que o sistema atende às necessidades dos usuários?</a:t>
            </a:r>
            <a:endParaRPr lang="pt-BR" dirty="0"/>
          </a:p>
          <a:p>
            <a:r>
              <a:rPr lang="pt-BR" dirty="0"/>
              <a:t>Para responder a essas perguntas, o ciclo de vida organiza o processo de desenvolvimento em fases bem definidas.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180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85E5-5D08-DBAF-C674-FE0C9A69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73A54-6FD6-62D7-D99E-A1831A28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10FB9-A8B3-F72D-1963-3A1CFAA2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Essas fases podem variar dependendo do modelo utilizado, mas geralmente incluem:</a:t>
            </a:r>
          </a:p>
          <a:p>
            <a:pPr lvl="1"/>
            <a:r>
              <a:rPr lang="pt-BR" dirty="0"/>
              <a:t>levantamento de requisitos</a:t>
            </a:r>
          </a:p>
          <a:p>
            <a:pPr lvl="1"/>
            <a:r>
              <a:rPr lang="pt-BR" dirty="0"/>
              <a:t>projeto do sistema</a:t>
            </a:r>
          </a:p>
          <a:p>
            <a:pPr lvl="1"/>
            <a:r>
              <a:rPr lang="pt-BR" dirty="0"/>
              <a:t>implementação</a:t>
            </a:r>
          </a:p>
          <a:p>
            <a:pPr lvl="1"/>
            <a:r>
              <a:rPr lang="pt-BR" dirty="0"/>
              <a:t>testes</a:t>
            </a:r>
          </a:p>
          <a:p>
            <a:pPr lvl="1"/>
            <a:r>
              <a:rPr lang="pt-BR" dirty="0"/>
              <a:t>implantação</a:t>
            </a:r>
          </a:p>
          <a:p>
            <a:pPr lvl="1"/>
            <a:r>
              <a:rPr lang="pt-BR" dirty="0"/>
              <a:t>manutenção</a:t>
            </a:r>
          </a:p>
        </p:txBody>
      </p:sp>
    </p:spTree>
    <p:extLst>
      <p:ext uri="{BB962C8B-B14F-4D97-AF65-F5344CB8AC3E}">
        <p14:creationId xmlns:p14="http://schemas.microsoft.com/office/powerpoint/2010/main" val="290823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83C3-8498-0DA3-B962-64838CB0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9B975-E1FC-5672-D0EF-D32ABC44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72CC3-5FC8-20DE-EC92-4E79FD05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Cada fase gera </a:t>
            </a:r>
            <a:r>
              <a:rPr lang="pt-BR" b="1" dirty="0"/>
              <a:t>artefatos específicos</a:t>
            </a:r>
            <a:r>
              <a:rPr lang="pt-BR" dirty="0"/>
              <a:t>, que são produtos do processo de desenvolvimento.</a:t>
            </a:r>
          </a:p>
          <a:p>
            <a:r>
              <a:rPr lang="pt-BR" dirty="0"/>
              <a:t>Exemplos de artefatos incluem:</a:t>
            </a:r>
          </a:p>
          <a:p>
            <a:pPr lvl="1"/>
            <a:r>
              <a:rPr lang="pt-BR" dirty="0"/>
              <a:t>documentos de requisitos</a:t>
            </a:r>
          </a:p>
          <a:p>
            <a:pPr lvl="1"/>
            <a:r>
              <a:rPr lang="pt-BR" dirty="0"/>
              <a:t>diagramas de arquitetura</a:t>
            </a:r>
          </a:p>
          <a:p>
            <a:pPr lvl="1"/>
            <a:r>
              <a:rPr lang="pt-BR" dirty="0"/>
              <a:t>código-fonte</a:t>
            </a:r>
          </a:p>
          <a:p>
            <a:pPr lvl="1"/>
            <a:r>
              <a:rPr lang="pt-BR" dirty="0"/>
              <a:t>scripts de banco de dados</a:t>
            </a:r>
          </a:p>
          <a:p>
            <a:pPr lvl="1"/>
            <a:r>
              <a:rPr lang="pt-BR" dirty="0"/>
              <a:t>relatórios de teste</a:t>
            </a:r>
          </a:p>
          <a:p>
            <a:pPr lvl="1"/>
            <a:r>
              <a:rPr lang="pt-BR" dirty="0"/>
              <a:t>manuais do usuário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140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0BC5-45CD-5AB4-101F-079F28D9E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71A17-B59B-5A92-15E7-5B7223F9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 de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4B4925-E01A-AAA9-CCFC-8C5227E6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No desenvolvimento de um </a:t>
            </a:r>
            <a:r>
              <a:rPr lang="pt-BR" b="1" dirty="0"/>
              <a:t>sistema de matrícula online para uma universidade</a:t>
            </a:r>
            <a:r>
              <a:rPr lang="pt-BR" dirty="0"/>
              <a:t>, o ciclo de vida pode gerar os seguintes artefatos: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Esses artefatos servem como registros formais do progresso do projeto.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7B682A7-AFF4-F224-34A8-996CDFB6F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16091"/>
              </p:ext>
            </p:extLst>
          </p:nvPr>
        </p:nvGraphicFramePr>
        <p:xfrm>
          <a:off x="1161288" y="2469674"/>
          <a:ext cx="6851904" cy="2331720"/>
        </p:xfrm>
        <a:graphic>
          <a:graphicData uri="http://schemas.openxmlformats.org/drawingml/2006/table">
            <a:tbl>
              <a:tblPr/>
              <a:tblGrid>
                <a:gridCol w="2069592">
                  <a:extLst>
                    <a:ext uri="{9D8B030D-6E8A-4147-A177-3AD203B41FA5}">
                      <a16:colId xmlns:a16="http://schemas.microsoft.com/office/drawing/2014/main" val="1164583414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439851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Fase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>
                          <a:effectLst/>
                        </a:rPr>
                        <a:t>Artefato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01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Requisitos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Documento com regras de matrícula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2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Projeto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Diagrama de banco de dados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804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Implementação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Código do sistema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14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Testes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Relatórios de testes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255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effectLst/>
                        </a:rPr>
                        <a:t>Implantação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effectLst/>
                        </a:rPr>
                        <a:t>Manual do usuário</a:t>
                      </a:r>
                    </a:p>
                  </a:txBody>
                  <a:tcPr marL="123825" marR="123825" marT="57150" marB="57150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807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01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3CDF8-1322-E097-EB7B-7CB108AC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Importância do Ciclo de Vida no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14067C-309B-E8D9-2FF5-68AEC471E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adoção de um ciclo de vida estruturado é fundamental para garantir a qualidade e a viabilidade de projetos de software.</a:t>
            </a:r>
          </a:p>
          <a:p>
            <a:r>
              <a:rPr lang="pt-BR" dirty="0"/>
              <a:t>Projetos conduzidos sem planejamento adequado frequentemente enfrentam problemas como:</a:t>
            </a:r>
          </a:p>
          <a:p>
            <a:pPr lvl="1"/>
            <a:r>
              <a:rPr lang="pt-BR" dirty="0"/>
              <a:t>atrasos significativos</a:t>
            </a:r>
          </a:p>
          <a:p>
            <a:pPr lvl="1"/>
            <a:r>
              <a:rPr lang="pt-BR" dirty="0"/>
              <a:t>aumento de custos</a:t>
            </a:r>
          </a:p>
          <a:p>
            <a:pPr lvl="1"/>
            <a:r>
              <a:rPr lang="pt-BR" dirty="0"/>
              <a:t>retrabalho frequente</a:t>
            </a:r>
          </a:p>
          <a:p>
            <a:pPr lvl="1"/>
            <a:r>
              <a:rPr lang="pt-BR" dirty="0"/>
              <a:t>falhas de comunicação entre equipes</a:t>
            </a:r>
          </a:p>
          <a:p>
            <a:pPr lvl="1"/>
            <a:r>
              <a:rPr lang="pt-BR" dirty="0"/>
              <a:t>sistemas que não atendem às necessidades dos usuários</a:t>
            </a:r>
          </a:p>
          <a:p>
            <a:r>
              <a:rPr lang="pt-BR" dirty="0"/>
              <a:t>O ciclo de vida ajuda a evitar esses problemas ao fornecer </a:t>
            </a:r>
            <a:r>
              <a:rPr lang="pt-BR" b="1" dirty="0"/>
              <a:t>uma estrutura organizada para o desenvolvimento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71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BA46-ECAD-FEB6-ECE3-BDAF7D1B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7B167-990D-C363-B86E-6227D61F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Importância do Ciclo de Vida no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D202D7-154C-5248-5025-401777E9F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Entre os principais benefícios estão:</a:t>
            </a:r>
          </a:p>
          <a:p>
            <a:r>
              <a:rPr lang="pt-BR" b="1" dirty="0"/>
              <a:t>Planejamento mais preciso</a:t>
            </a:r>
          </a:p>
          <a:p>
            <a:pPr lvl="1"/>
            <a:r>
              <a:rPr lang="pt-BR" dirty="0"/>
              <a:t>A divisão do projeto em etapas permite estimar prazos, custos e recursos necessários de maneira mais realista.</a:t>
            </a:r>
          </a:p>
          <a:p>
            <a:pPr lvl="1"/>
            <a:r>
              <a:rPr lang="pt-BR" b="1" dirty="0"/>
              <a:t>Exemplo, </a:t>
            </a:r>
            <a:r>
              <a:rPr lang="pt-BR" dirty="0"/>
              <a:t>se um projeto prevê:</a:t>
            </a:r>
          </a:p>
          <a:p>
            <a:pPr lvl="2"/>
            <a:r>
              <a:rPr lang="pt-BR" dirty="0"/>
              <a:t>2 semanas para levantamento de requisitos</a:t>
            </a:r>
          </a:p>
          <a:p>
            <a:pPr lvl="2"/>
            <a:r>
              <a:rPr lang="pt-BR" dirty="0"/>
              <a:t>3 semanas para projeto</a:t>
            </a:r>
          </a:p>
          <a:p>
            <a:pPr lvl="2"/>
            <a:r>
              <a:rPr lang="pt-BR" dirty="0"/>
              <a:t>6 semanas para implementação</a:t>
            </a:r>
          </a:p>
          <a:p>
            <a:pPr lvl="2"/>
            <a:r>
              <a:rPr lang="pt-BR" dirty="0"/>
              <a:t>2 semanas para testes</a:t>
            </a:r>
          </a:p>
          <a:p>
            <a:pPr lvl="1"/>
            <a:r>
              <a:rPr lang="pt-BR" dirty="0"/>
              <a:t>então é possível estimar um cronograma aproximado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361103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D189-E05B-45A2-422A-283081F4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AA04E-4A36-8C4A-2B4A-CA9E1AC0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Importância do Ciclo de Vida no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451589-2838-B0DD-1BA7-AC144B489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Entre os principais benefícios estão:</a:t>
            </a:r>
          </a:p>
          <a:p>
            <a:r>
              <a:rPr lang="pt-BR" b="1" dirty="0"/>
              <a:t>Controle do progresso do projeto</a:t>
            </a:r>
          </a:p>
          <a:p>
            <a:pPr lvl="1"/>
            <a:r>
              <a:rPr lang="pt-BR" dirty="0"/>
              <a:t>Cada fase do ciclo de vida possui entregas específicas, permitindo que o progresso seja acompanhado.</a:t>
            </a:r>
          </a:p>
          <a:p>
            <a:pPr lvl="1"/>
            <a:r>
              <a:rPr lang="pt-BR" b="1" dirty="0"/>
              <a:t>Exemplo</a:t>
            </a:r>
          </a:p>
          <a:p>
            <a:pPr lvl="2"/>
            <a:r>
              <a:rPr lang="pt-BR" dirty="0"/>
              <a:t>Ao finalizar a fase de requisitos, a equipe deve entregar um </a:t>
            </a:r>
            <a:r>
              <a:rPr lang="pt-BR" b="1" dirty="0"/>
              <a:t>documento de requisitos aprovado pelos usuários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Isso permite verificar se o projeto está avançando conforme planejado.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992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D240-E27D-CACB-1955-51FC143B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AD7C1-0CEB-0C51-6884-2330B53F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Importância do Ciclo de Vida no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1AF37F-1C14-48E1-FECE-B4EAC3869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Entre os principais benefícios estão:</a:t>
            </a:r>
          </a:p>
          <a:p>
            <a:r>
              <a:rPr lang="pt-BR" b="1" dirty="0"/>
              <a:t>Melhoria da comunicação</a:t>
            </a:r>
          </a:p>
          <a:p>
            <a:pPr lvl="1"/>
            <a:r>
              <a:rPr lang="pt-BR" dirty="0"/>
              <a:t>Quando todos os participantes compreendem as etapas do processo, a comunicação entre desenvolvedores, analistas e gestores torna-se mais eficiente.</a:t>
            </a:r>
          </a:p>
          <a:p>
            <a:pPr lvl="1"/>
            <a:r>
              <a:rPr lang="pt-BR" b="1" dirty="0"/>
              <a:t>Exemplo</a:t>
            </a:r>
          </a:p>
          <a:p>
            <a:pPr lvl="2"/>
            <a:r>
              <a:rPr lang="pt-BR" dirty="0"/>
              <a:t>Durante a fase de requisitos, reuniões entre usuários e analistas ajudam a esclarecer dúvidas sobre funcionalidades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4616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C44E-3368-4440-910A-E5CE2807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2688A-6B93-4034-67C9-864267B1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Importância do Ciclo de Vida no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35C958-C88A-E80C-323D-F0BC74F26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Entre os principais benefícios estão:</a:t>
            </a:r>
          </a:p>
          <a:p>
            <a:r>
              <a:rPr lang="pt-BR" b="1" dirty="0"/>
              <a:t>Redução de riscos</a:t>
            </a:r>
          </a:p>
          <a:p>
            <a:pPr lvl="1"/>
            <a:r>
              <a:rPr lang="pt-BR" dirty="0"/>
              <a:t>Ao dividir o desenvolvimento em fases, problemas podem ser detectados mais cedo.</a:t>
            </a:r>
          </a:p>
          <a:p>
            <a:pPr lvl="1"/>
            <a:r>
              <a:rPr lang="pt-BR" b="1" dirty="0"/>
              <a:t>Exemplo</a:t>
            </a:r>
          </a:p>
          <a:p>
            <a:pPr lvl="2"/>
            <a:r>
              <a:rPr lang="pt-BR" dirty="0"/>
              <a:t>Se um erro de requisito for identificado ainda na fase de análise, o impacto é pequeno. Se o erro só for percebido após a implementação, pode ser necessário refazer grande parte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6276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9C9B-AA47-E90E-88A6-DF63E8E5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E7B06-D799-E136-C950-62302FA9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CA92BE-FAB1-435C-694D-F923CDDD2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Embora existam diferentes modelos de processo, a maioria deles compartilha um conjunto de fases fundamentais.</a:t>
            </a:r>
          </a:p>
          <a:p>
            <a:pPr lvl="1"/>
            <a:r>
              <a:rPr lang="pt-BR" b="1" dirty="0"/>
              <a:t>Levantamento e Análise de Requisitos</a:t>
            </a:r>
          </a:p>
          <a:p>
            <a:pPr lvl="1"/>
            <a:r>
              <a:rPr lang="pt-BR" b="1" dirty="0"/>
              <a:t>Projeto ou Design do Sistema</a:t>
            </a:r>
          </a:p>
          <a:p>
            <a:pPr lvl="1"/>
            <a:r>
              <a:rPr lang="pt-BR" b="1" dirty="0"/>
              <a:t>Implementação</a:t>
            </a:r>
          </a:p>
          <a:p>
            <a:pPr lvl="1"/>
            <a:r>
              <a:rPr lang="pt-BR" b="1" dirty="0"/>
              <a:t>Testes</a:t>
            </a:r>
          </a:p>
          <a:p>
            <a:pPr lvl="1"/>
            <a:r>
              <a:rPr lang="pt-BR" b="1" dirty="0"/>
              <a:t>Implantação</a:t>
            </a:r>
          </a:p>
          <a:p>
            <a:pPr lvl="1"/>
            <a:r>
              <a:rPr lang="pt-BR" b="1" dirty="0"/>
              <a:t>Manutenção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6708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01FA-D6EF-66D6-0781-1635D1D0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E5E31-E17B-9636-4C05-4230C21F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26FA7-22B0-F9C3-9905-9EEFDD5C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b="1" dirty="0"/>
              <a:t>Levantamento e Análise de Requisitos</a:t>
            </a:r>
          </a:p>
          <a:p>
            <a:r>
              <a:rPr lang="pt-BR" dirty="0"/>
              <a:t>A fase de requisitos é responsável por compreender </a:t>
            </a:r>
            <a:r>
              <a:rPr lang="pt-BR" b="1" dirty="0"/>
              <a:t>o problema que o sistema deve resolver</a:t>
            </a:r>
            <a:r>
              <a:rPr lang="pt-BR" dirty="0"/>
              <a:t>.</a:t>
            </a:r>
          </a:p>
          <a:p>
            <a:r>
              <a:rPr lang="pt-BR" dirty="0"/>
              <a:t>Nessa etapa, os analistas procuram identificar:</a:t>
            </a:r>
          </a:p>
          <a:p>
            <a:pPr lvl="1"/>
            <a:r>
              <a:rPr lang="pt-BR" dirty="0"/>
              <a:t>quais funcionalidades o sistema deve possuir</a:t>
            </a:r>
          </a:p>
          <a:p>
            <a:pPr lvl="1"/>
            <a:r>
              <a:rPr lang="pt-BR" dirty="0"/>
              <a:t>quais dados precisam ser armazenados</a:t>
            </a:r>
          </a:p>
          <a:p>
            <a:pPr lvl="1"/>
            <a:r>
              <a:rPr lang="pt-BR" dirty="0"/>
              <a:t>quem são os usuários do sistema</a:t>
            </a:r>
          </a:p>
          <a:p>
            <a:pPr lvl="1"/>
            <a:r>
              <a:rPr lang="pt-BR" dirty="0"/>
              <a:t>quais restrições técnicas ou legais existem</a:t>
            </a:r>
          </a:p>
          <a:p>
            <a:r>
              <a:rPr lang="pt-BR" dirty="0"/>
              <a:t>O levantamento de requisitos pode utilizar diversas técnicas, como:</a:t>
            </a:r>
          </a:p>
          <a:p>
            <a:pPr lvl="1"/>
            <a:r>
              <a:rPr lang="pt-BR" dirty="0"/>
              <a:t>entrevistas com usuários</a:t>
            </a:r>
          </a:p>
          <a:p>
            <a:pPr lvl="1"/>
            <a:r>
              <a:rPr lang="pt-BR" dirty="0"/>
              <a:t>questionários</a:t>
            </a:r>
          </a:p>
          <a:p>
            <a:pPr lvl="1"/>
            <a:r>
              <a:rPr lang="pt-BR" dirty="0"/>
              <a:t>observação de processos</a:t>
            </a:r>
          </a:p>
          <a:p>
            <a:pPr lvl="1"/>
            <a:r>
              <a:rPr lang="pt-BR" dirty="0"/>
              <a:t>análise de documentos existentes</a:t>
            </a:r>
          </a:p>
          <a:p>
            <a:pPr lvl="1"/>
            <a:r>
              <a:rPr lang="pt-BR" dirty="0"/>
              <a:t>workshops com especialistas</a:t>
            </a:r>
          </a:p>
        </p:txBody>
      </p:sp>
    </p:spTree>
    <p:extLst>
      <p:ext uri="{BB962C8B-B14F-4D97-AF65-F5344CB8AC3E}">
        <p14:creationId xmlns:p14="http://schemas.microsoft.com/office/powerpoint/2010/main" val="2004689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D09F-1067-9A39-63D4-29324951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D4954-6977-89A7-57DF-84E63E38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B6EED2-E94F-FEE2-EB18-5E49D0AC3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Os requisitos geralmente são classificados em duas categorias:</a:t>
            </a:r>
          </a:p>
          <a:p>
            <a:r>
              <a:rPr lang="pt-BR" b="1" dirty="0"/>
              <a:t>Requisitos funcionais</a:t>
            </a:r>
          </a:p>
          <a:p>
            <a:pPr lvl="1"/>
            <a:r>
              <a:rPr lang="pt-BR" dirty="0"/>
              <a:t>Descrevem </a:t>
            </a:r>
            <a:r>
              <a:rPr lang="pt-BR" b="1" dirty="0"/>
              <a:t>o que o sistema deve fazer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Exemplo:</a:t>
            </a:r>
          </a:p>
          <a:p>
            <a:pPr lvl="2"/>
            <a:r>
              <a:rPr lang="pt-BR" dirty="0"/>
              <a:t>cadastrar clientes</a:t>
            </a:r>
          </a:p>
          <a:p>
            <a:pPr lvl="2"/>
            <a:r>
              <a:rPr lang="pt-BR" dirty="0"/>
              <a:t>registrar pedidos</a:t>
            </a:r>
          </a:p>
          <a:p>
            <a:pPr lvl="2"/>
            <a:r>
              <a:rPr lang="pt-BR" dirty="0"/>
              <a:t>emitir relatórios</a:t>
            </a:r>
          </a:p>
          <a:p>
            <a:r>
              <a:rPr lang="pt-BR" b="1" dirty="0"/>
              <a:t>Requisitos não funcionais</a:t>
            </a:r>
          </a:p>
          <a:p>
            <a:pPr lvl="1"/>
            <a:r>
              <a:rPr lang="pt-BR" dirty="0"/>
              <a:t>Descrevem </a:t>
            </a:r>
            <a:r>
              <a:rPr lang="pt-BR" b="1" dirty="0"/>
              <a:t>características de qualidade do sistema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Exemplo:</a:t>
            </a:r>
          </a:p>
          <a:p>
            <a:pPr lvl="2"/>
            <a:r>
              <a:rPr lang="pt-BR" dirty="0"/>
              <a:t>tempo de resposta inferior a 2 segundos</a:t>
            </a:r>
          </a:p>
          <a:p>
            <a:pPr lvl="2"/>
            <a:r>
              <a:rPr lang="pt-BR" dirty="0"/>
              <a:t>disponibilidade de 99% do tempo</a:t>
            </a:r>
          </a:p>
          <a:p>
            <a:pPr lvl="2"/>
            <a:r>
              <a:rPr lang="pt-BR" dirty="0"/>
              <a:t>acesso seguro com autenticação</a:t>
            </a:r>
          </a:p>
        </p:txBody>
      </p:sp>
    </p:spTree>
    <p:extLst>
      <p:ext uri="{BB962C8B-B14F-4D97-AF65-F5344CB8AC3E}">
        <p14:creationId xmlns:p14="http://schemas.microsoft.com/office/powerpoint/2010/main" val="137761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C4A7-4EEE-FA5B-5AAA-EA58E99C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24FE5-8A0F-2AE5-5B3B-FA5779ED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A9931-2067-50CD-316F-D25C8269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Exemplo</a:t>
            </a:r>
          </a:p>
          <a:p>
            <a:r>
              <a:rPr lang="pt-BR" dirty="0"/>
              <a:t>Em um </a:t>
            </a:r>
            <a:r>
              <a:rPr lang="pt-BR" b="1" dirty="0"/>
              <a:t>sistema de biblioteca</a:t>
            </a:r>
            <a:r>
              <a:rPr lang="pt-BR" dirty="0"/>
              <a:t>, alguns requisitos podem ser:</a:t>
            </a:r>
          </a:p>
          <a:p>
            <a:r>
              <a:rPr lang="pt-BR" dirty="0"/>
              <a:t>Requisitos funcionais:</a:t>
            </a:r>
          </a:p>
          <a:p>
            <a:pPr lvl="1"/>
            <a:r>
              <a:rPr lang="pt-BR" dirty="0"/>
              <a:t>cadastrar livros</a:t>
            </a:r>
          </a:p>
          <a:p>
            <a:pPr lvl="1"/>
            <a:r>
              <a:rPr lang="pt-BR" dirty="0"/>
              <a:t>registrar empréstimos</a:t>
            </a:r>
          </a:p>
          <a:p>
            <a:pPr lvl="1"/>
            <a:r>
              <a:rPr lang="pt-BR" dirty="0"/>
              <a:t>controlar devoluções</a:t>
            </a:r>
          </a:p>
          <a:p>
            <a:r>
              <a:rPr lang="pt-BR" dirty="0"/>
              <a:t>Requisitos não funcionais:</a:t>
            </a:r>
          </a:p>
          <a:p>
            <a:pPr lvl="1"/>
            <a:r>
              <a:rPr lang="pt-BR" dirty="0"/>
              <a:t>acesso apenas para usuários autenticados</a:t>
            </a:r>
          </a:p>
          <a:p>
            <a:pPr lvl="1"/>
            <a:r>
              <a:rPr lang="pt-BR" dirty="0"/>
              <a:t>backup diário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1103635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BFCE-E6DB-235F-7ABC-0AF2F0FF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1B1BB-7901-51D8-8BF0-7DFE870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F76BCB-36E5-0E2D-D9A5-F2AB4EA96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Projeto ou Design do Sistema</a:t>
            </a:r>
          </a:p>
          <a:p>
            <a:pPr lvl="1"/>
            <a:r>
              <a:rPr lang="pt-BR" dirty="0"/>
              <a:t>Após compreender os requisitos, a equipe precisa definir </a:t>
            </a:r>
            <a:r>
              <a:rPr lang="pt-BR" b="1" dirty="0"/>
              <a:t>como o sistema será construído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Essa fase envolve decisões arquiteturais importantes, entre elas:</a:t>
            </a:r>
          </a:p>
          <a:p>
            <a:pPr lvl="2"/>
            <a:r>
              <a:rPr lang="pt-BR" dirty="0"/>
              <a:t>estrutura do banco de dados</a:t>
            </a:r>
          </a:p>
          <a:p>
            <a:pPr lvl="2"/>
            <a:r>
              <a:rPr lang="pt-BR" dirty="0"/>
              <a:t>divisão do sistema em módulos</a:t>
            </a:r>
          </a:p>
          <a:p>
            <a:pPr lvl="2"/>
            <a:r>
              <a:rPr lang="pt-BR" dirty="0"/>
              <a:t>tecnologias utilizadas</a:t>
            </a:r>
          </a:p>
          <a:p>
            <a:pPr lvl="2"/>
            <a:r>
              <a:rPr lang="pt-BR" dirty="0"/>
              <a:t>comunicação entre componentes</a:t>
            </a:r>
          </a:p>
          <a:p>
            <a:pPr lvl="1"/>
            <a:r>
              <a:rPr lang="pt-BR" dirty="0"/>
              <a:t>Ferramentas de modelagem são frequentemente utilizadas nessa etapa. Entre os diagramas mais comuns estão:</a:t>
            </a:r>
          </a:p>
          <a:p>
            <a:pPr lvl="2"/>
            <a:r>
              <a:rPr lang="pt-BR" dirty="0"/>
              <a:t>diagramas de classes</a:t>
            </a:r>
          </a:p>
          <a:p>
            <a:pPr lvl="2"/>
            <a:r>
              <a:rPr lang="pt-BR" dirty="0"/>
              <a:t>diagramas de componentes</a:t>
            </a:r>
          </a:p>
          <a:p>
            <a:pPr lvl="2"/>
            <a:r>
              <a:rPr lang="pt-BR" dirty="0"/>
              <a:t>diagramas de sequência</a:t>
            </a:r>
          </a:p>
          <a:p>
            <a:pPr lvl="2"/>
            <a:r>
              <a:rPr lang="pt-BR" dirty="0"/>
              <a:t>diagramas de arquitetura</a:t>
            </a:r>
          </a:p>
        </p:txBody>
      </p:sp>
    </p:spTree>
    <p:extLst>
      <p:ext uri="{BB962C8B-B14F-4D97-AF65-F5344CB8AC3E}">
        <p14:creationId xmlns:p14="http://schemas.microsoft.com/office/powerpoint/2010/main" val="2944856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EB5F9-26A8-E4B6-0C4C-397B4F73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1BCBE-70D8-5C11-B17B-C6B1F13C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949E8B-8B35-AC2A-3575-7D5CAC4D4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Em um </a:t>
            </a:r>
            <a:r>
              <a:rPr lang="pt-BR" b="1" dirty="0"/>
              <a:t>sistema de comércio eletrônico</a:t>
            </a:r>
            <a:r>
              <a:rPr lang="pt-BR" dirty="0"/>
              <a:t>, o projeto pode dividir o sistema em módulos como:</a:t>
            </a:r>
          </a:p>
          <a:p>
            <a:pPr lvl="2"/>
            <a:r>
              <a:rPr lang="pt-BR" dirty="0"/>
              <a:t>módulo de usuários</a:t>
            </a:r>
          </a:p>
          <a:p>
            <a:pPr lvl="2"/>
            <a:r>
              <a:rPr lang="pt-BR" dirty="0"/>
              <a:t>módulo de catálogo de produtos</a:t>
            </a:r>
          </a:p>
          <a:p>
            <a:pPr lvl="2"/>
            <a:r>
              <a:rPr lang="pt-BR" dirty="0"/>
              <a:t>módulo de carrinho de compras</a:t>
            </a:r>
          </a:p>
          <a:p>
            <a:pPr lvl="2"/>
            <a:r>
              <a:rPr lang="pt-BR" dirty="0"/>
              <a:t>módulo de pagamentos</a:t>
            </a:r>
          </a:p>
          <a:p>
            <a:pPr lvl="1"/>
            <a:r>
              <a:rPr lang="pt-BR" dirty="0"/>
              <a:t>Cada módulo possui responsabilidades específicas.</a:t>
            </a:r>
          </a:p>
        </p:txBody>
      </p:sp>
    </p:spTree>
    <p:extLst>
      <p:ext uri="{BB962C8B-B14F-4D97-AF65-F5344CB8AC3E}">
        <p14:creationId xmlns:p14="http://schemas.microsoft.com/office/powerpoint/2010/main" val="3906831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9235-C264-A4CD-B18E-B416781F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63B08-585B-67BA-5FAE-A11ECDCD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FBD1A3-E84D-B6C4-C614-1C94FFC2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Implementação</a:t>
            </a:r>
          </a:p>
          <a:p>
            <a:pPr lvl="1"/>
            <a:r>
              <a:rPr lang="pt-BR" dirty="0"/>
              <a:t>A implementação corresponde à fase de </a:t>
            </a:r>
            <a:r>
              <a:rPr lang="pt-BR" b="1" dirty="0"/>
              <a:t>construção do sistema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Nesta etapa os desenvolvedores transformam o projeto em código executável.</a:t>
            </a:r>
          </a:p>
          <a:p>
            <a:pPr lvl="1"/>
            <a:r>
              <a:rPr lang="pt-BR" dirty="0"/>
              <a:t>As atividades incluem:</a:t>
            </a:r>
          </a:p>
          <a:p>
            <a:pPr lvl="2"/>
            <a:r>
              <a:rPr lang="pt-BR" dirty="0"/>
              <a:t>programação das funcionalidades</a:t>
            </a:r>
          </a:p>
          <a:p>
            <a:pPr lvl="2"/>
            <a:r>
              <a:rPr lang="pt-BR" dirty="0"/>
              <a:t>criação de bancos de dados</a:t>
            </a:r>
          </a:p>
          <a:p>
            <a:pPr lvl="2"/>
            <a:r>
              <a:rPr lang="pt-BR" dirty="0"/>
              <a:t>integração entre módulos</a:t>
            </a:r>
          </a:p>
          <a:p>
            <a:pPr lvl="2"/>
            <a:r>
              <a:rPr lang="pt-BR" dirty="0"/>
              <a:t>configuração de servidores</a:t>
            </a:r>
          </a:p>
          <a:p>
            <a:pPr lvl="1"/>
            <a:r>
              <a:rPr lang="pt-BR" dirty="0"/>
              <a:t>A implementação pode utilizar diversas linguagens e tecnologias, como:</a:t>
            </a:r>
          </a:p>
          <a:p>
            <a:pPr lvl="2"/>
            <a:r>
              <a:rPr lang="pt-BR" dirty="0"/>
              <a:t>Java</a:t>
            </a:r>
          </a:p>
          <a:p>
            <a:pPr lvl="2"/>
            <a:r>
              <a:rPr lang="pt-BR" dirty="0"/>
              <a:t>Python</a:t>
            </a:r>
          </a:p>
          <a:p>
            <a:pPr lvl="2"/>
            <a:r>
              <a:rPr lang="pt-BR" dirty="0" err="1"/>
              <a:t>JavaScript</a:t>
            </a:r>
            <a:endParaRPr lang="pt-BR" dirty="0"/>
          </a:p>
          <a:p>
            <a:pPr lvl="2"/>
            <a:r>
              <a:rPr lang="pt-BR" dirty="0"/>
              <a:t>bancos de dados relacionais ou </a:t>
            </a:r>
            <a:r>
              <a:rPr lang="pt-BR" dirty="0" err="1"/>
              <a:t>NoSQL</a:t>
            </a:r>
            <a:endParaRPr lang="pt-BR" dirty="0"/>
          </a:p>
          <a:p>
            <a:pPr lvl="2"/>
            <a:r>
              <a:rPr lang="pt-BR" dirty="0"/>
              <a:t>frameworks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4020655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A8668-2887-687F-5FE7-EB47B793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01314-3A92-7DC3-62A6-D23D1C2F8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BBE94F-7170-C71D-C819-686D03307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Em um sistema web, a implementação pode incluir:</a:t>
            </a:r>
          </a:p>
          <a:p>
            <a:pPr lvl="2"/>
            <a:r>
              <a:rPr lang="pt-BR" dirty="0" err="1"/>
              <a:t>backend</a:t>
            </a:r>
            <a:r>
              <a:rPr lang="pt-BR" dirty="0"/>
              <a:t> em Node.js</a:t>
            </a:r>
          </a:p>
          <a:p>
            <a:pPr lvl="2"/>
            <a:r>
              <a:rPr lang="pt-BR" dirty="0" err="1"/>
              <a:t>frontend</a:t>
            </a:r>
            <a:r>
              <a:rPr lang="pt-BR" dirty="0"/>
              <a:t> em </a:t>
            </a:r>
            <a:r>
              <a:rPr lang="pt-BR" dirty="0" err="1"/>
              <a:t>React</a:t>
            </a:r>
            <a:endParaRPr lang="pt-BR" dirty="0"/>
          </a:p>
          <a:p>
            <a:pPr lvl="2"/>
            <a:r>
              <a:rPr lang="pt-BR" dirty="0"/>
              <a:t>banco de dados PostgreSQL</a:t>
            </a:r>
          </a:p>
        </p:txBody>
      </p:sp>
    </p:spTree>
    <p:extLst>
      <p:ext uri="{BB962C8B-B14F-4D97-AF65-F5344CB8AC3E}">
        <p14:creationId xmlns:p14="http://schemas.microsoft.com/office/powerpoint/2010/main" val="1892258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567A-4299-A3F0-BA75-44F2105A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4A253-1299-51E2-ACE6-049FB0B4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4A71A6-B521-353F-F4E0-6AA83980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Testes</a:t>
            </a:r>
          </a:p>
          <a:p>
            <a:pPr lvl="1"/>
            <a:r>
              <a:rPr lang="pt-BR" dirty="0"/>
              <a:t>A fase de testes tem como objetivo verificar se o sistema funciona corretamente.</a:t>
            </a:r>
          </a:p>
          <a:p>
            <a:pPr lvl="1"/>
            <a:r>
              <a:rPr lang="pt-BR" dirty="0"/>
              <a:t>Os testes ajudam a identificar erros que podem comprometer o funcionamento do sistema.</a:t>
            </a:r>
          </a:p>
          <a:p>
            <a:pPr lvl="1"/>
            <a:r>
              <a:rPr lang="pt-BR" dirty="0"/>
              <a:t>Existem diferentes tipos de testes:</a:t>
            </a:r>
          </a:p>
          <a:p>
            <a:pPr lvl="2"/>
            <a:r>
              <a:rPr lang="pt-BR" b="1" dirty="0"/>
              <a:t>Testes unitários</a:t>
            </a:r>
          </a:p>
          <a:p>
            <a:pPr lvl="3"/>
            <a:r>
              <a:rPr lang="pt-BR" dirty="0"/>
              <a:t>Verificam partes individuais do código.</a:t>
            </a:r>
          </a:p>
          <a:p>
            <a:pPr lvl="3"/>
            <a:r>
              <a:rPr lang="pt-BR" dirty="0"/>
              <a:t>Exemplo: testar uma função que calcula o valor total de um pedido.</a:t>
            </a:r>
          </a:p>
        </p:txBody>
      </p:sp>
    </p:spTree>
    <p:extLst>
      <p:ext uri="{BB962C8B-B14F-4D97-AF65-F5344CB8AC3E}">
        <p14:creationId xmlns:p14="http://schemas.microsoft.com/office/powerpoint/2010/main" val="1077626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A143-5271-696F-75D9-0404FC82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53C5-8529-4C1B-1E23-0FF593B12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BFEA6-3287-F967-A034-4BAC29896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r>
              <a:rPr lang="pt-BR" b="1" dirty="0"/>
              <a:t>Testes de integração</a:t>
            </a:r>
          </a:p>
          <a:p>
            <a:pPr lvl="3"/>
            <a:r>
              <a:rPr lang="pt-BR" dirty="0"/>
              <a:t>Verificam se diferentes módulos funcionam corretamente juntos.</a:t>
            </a:r>
          </a:p>
          <a:p>
            <a:pPr lvl="3"/>
            <a:r>
              <a:rPr lang="pt-BR" dirty="0"/>
              <a:t>Exemplo: verificar se o módulo de pagamento comunica corretamente com o banco de dados.</a:t>
            </a:r>
          </a:p>
          <a:p>
            <a:pPr lvl="2"/>
            <a:r>
              <a:rPr lang="pt-BR" b="1" dirty="0"/>
              <a:t>Testes de sistema</a:t>
            </a:r>
          </a:p>
          <a:p>
            <a:pPr lvl="3"/>
            <a:r>
              <a:rPr lang="pt-BR" dirty="0"/>
              <a:t>Avaliam o sistema completo.</a:t>
            </a:r>
          </a:p>
          <a:p>
            <a:pPr lvl="3"/>
            <a:r>
              <a:rPr lang="pt-BR" dirty="0"/>
              <a:t>Exemplo: simular uma compra completa em um sistema de e-commerce.</a:t>
            </a:r>
          </a:p>
          <a:p>
            <a:pPr lvl="2"/>
            <a:r>
              <a:rPr lang="pt-BR" b="1" dirty="0"/>
              <a:t>Testes de aceitação</a:t>
            </a:r>
          </a:p>
          <a:p>
            <a:pPr lvl="3"/>
            <a:r>
              <a:rPr lang="pt-BR" dirty="0"/>
              <a:t>Realizados pelos usuários finais para validar se o sistema atende às necessidades.</a:t>
            </a:r>
          </a:p>
        </p:txBody>
      </p:sp>
    </p:spTree>
    <p:extLst>
      <p:ext uri="{BB962C8B-B14F-4D97-AF65-F5344CB8AC3E}">
        <p14:creationId xmlns:p14="http://schemas.microsoft.com/office/powerpoint/2010/main" val="4084655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70B39-A768-834A-C5D6-107932BF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787BA-5A6F-CD51-D9A6-7753947B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92AAD-C241-351D-B689-FC3FD00E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Implantação</a:t>
            </a:r>
          </a:p>
          <a:p>
            <a:pPr lvl="1"/>
            <a:r>
              <a:rPr lang="pt-BR" dirty="0"/>
              <a:t>A implantação ocorre quando o sistema é disponibilizado para uso real.</a:t>
            </a:r>
          </a:p>
          <a:p>
            <a:pPr lvl="1"/>
            <a:r>
              <a:rPr lang="pt-BR" dirty="0"/>
              <a:t>Essa fase pode envolver diversas atividades técnicas e organizacionais. Entre elas:</a:t>
            </a:r>
          </a:p>
          <a:p>
            <a:pPr lvl="2"/>
            <a:r>
              <a:rPr lang="pt-BR" dirty="0"/>
              <a:t>instalação em servidores</a:t>
            </a:r>
          </a:p>
          <a:p>
            <a:pPr lvl="2"/>
            <a:r>
              <a:rPr lang="pt-BR" dirty="0"/>
              <a:t>configuração de ambiente de produção</a:t>
            </a:r>
          </a:p>
          <a:p>
            <a:pPr lvl="2"/>
            <a:r>
              <a:rPr lang="pt-BR" dirty="0"/>
              <a:t>migração de dados antigos</a:t>
            </a:r>
          </a:p>
          <a:p>
            <a:pPr lvl="2"/>
            <a:r>
              <a:rPr lang="pt-BR" dirty="0"/>
              <a:t>treinamento de usuários</a:t>
            </a:r>
          </a:p>
          <a:p>
            <a:pPr lvl="2"/>
            <a:r>
              <a:rPr lang="pt-BR" dirty="0"/>
              <a:t>monitoramento inicial do sistema</a:t>
            </a:r>
          </a:p>
        </p:txBody>
      </p:sp>
    </p:spTree>
    <p:extLst>
      <p:ext uri="{BB962C8B-B14F-4D97-AF65-F5344CB8AC3E}">
        <p14:creationId xmlns:p14="http://schemas.microsoft.com/office/powerpoint/2010/main" val="4229528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FBAE-0237-A3BD-6EC0-24D0D7C5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A4CD2-B314-3534-2D94-86D796E2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46571B-EA25-B014-42CB-C6044818B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Exemplo	</a:t>
            </a:r>
          </a:p>
          <a:p>
            <a:pPr lvl="1"/>
            <a:r>
              <a:rPr lang="pt-BR" dirty="0"/>
              <a:t>Ao implantar um sistema de gestão escolar, pode ser necessário:</a:t>
            </a:r>
          </a:p>
          <a:p>
            <a:pPr lvl="2"/>
            <a:r>
              <a:rPr lang="pt-BR" dirty="0"/>
              <a:t>importar dados de alunos</a:t>
            </a:r>
          </a:p>
          <a:p>
            <a:pPr lvl="2"/>
            <a:r>
              <a:rPr lang="pt-BR" dirty="0"/>
              <a:t>cadastrar professores</a:t>
            </a:r>
          </a:p>
          <a:p>
            <a:pPr lvl="2"/>
            <a:r>
              <a:rPr lang="pt-BR" dirty="0"/>
              <a:t>configurar permissões de acesso</a:t>
            </a:r>
          </a:p>
        </p:txBody>
      </p:sp>
    </p:spTree>
    <p:extLst>
      <p:ext uri="{BB962C8B-B14F-4D97-AF65-F5344CB8AC3E}">
        <p14:creationId xmlns:p14="http://schemas.microsoft.com/office/powerpoint/2010/main" val="2801028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819E-70EB-0AAE-37CC-B5D2CC87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FB735-54D7-333E-E7A3-AEEDB480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091B3-F08A-2706-A6FC-F7D21E26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Manutenção</a:t>
            </a:r>
          </a:p>
          <a:p>
            <a:pPr lvl="1"/>
            <a:r>
              <a:rPr lang="pt-BR" dirty="0"/>
              <a:t>Após a implantação, o sistema continua evoluindo.</a:t>
            </a:r>
          </a:p>
          <a:p>
            <a:pPr lvl="1"/>
            <a:r>
              <a:rPr lang="pt-BR" dirty="0"/>
              <a:t>A manutenção pode ocorrer por diferentes motivos:</a:t>
            </a:r>
          </a:p>
          <a:p>
            <a:pPr lvl="2"/>
            <a:r>
              <a:rPr lang="pt-BR" dirty="0"/>
              <a:t>correção de erros</a:t>
            </a:r>
          </a:p>
          <a:p>
            <a:pPr lvl="2"/>
            <a:r>
              <a:rPr lang="pt-BR" dirty="0"/>
              <a:t>melhoria de desempenho</a:t>
            </a:r>
          </a:p>
          <a:p>
            <a:pPr lvl="2"/>
            <a:r>
              <a:rPr lang="pt-BR" dirty="0"/>
              <a:t>adaptação a mudanças tecnológicas</a:t>
            </a:r>
          </a:p>
          <a:p>
            <a:pPr lvl="2"/>
            <a:r>
              <a:rPr lang="pt-BR" dirty="0"/>
              <a:t>inclusão de novas funcionalidades</a:t>
            </a:r>
          </a:p>
          <a:p>
            <a:pPr lvl="1"/>
            <a:r>
              <a:rPr lang="pt-BR" dirty="0"/>
              <a:t>A manutenção costuma ser dividida em categorias:</a:t>
            </a:r>
          </a:p>
          <a:p>
            <a:pPr lvl="2"/>
            <a:r>
              <a:rPr lang="pt-BR" b="1" dirty="0"/>
              <a:t>Manutenção corretiva</a:t>
            </a:r>
          </a:p>
          <a:p>
            <a:pPr lvl="3"/>
            <a:r>
              <a:rPr lang="pt-BR" dirty="0"/>
              <a:t>Correção de falhas identificadas após o uso do sistema.</a:t>
            </a:r>
          </a:p>
          <a:p>
            <a:pPr lvl="2"/>
            <a:r>
              <a:rPr lang="pt-BR" b="1" dirty="0"/>
              <a:t>Manutenção evolutiva</a:t>
            </a:r>
          </a:p>
          <a:p>
            <a:pPr lvl="3"/>
            <a:r>
              <a:rPr lang="pt-BR" dirty="0"/>
              <a:t>Adição de novas funcionalidades.</a:t>
            </a:r>
          </a:p>
          <a:p>
            <a:pPr lvl="2"/>
            <a:r>
              <a:rPr lang="pt-BR" b="1" dirty="0"/>
              <a:t>Manutenção adaptativa</a:t>
            </a:r>
          </a:p>
          <a:p>
            <a:pPr lvl="3"/>
            <a:r>
              <a:rPr lang="pt-BR" dirty="0"/>
              <a:t>Ajustes para adaptação a novos ambientes tecnológicos.</a:t>
            </a:r>
          </a:p>
        </p:txBody>
      </p:sp>
    </p:spTree>
    <p:extLst>
      <p:ext uri="{BB962C8B-B14F-4D97-AF65-F5344CB8AC3E}">
        <p14:creationId xmlns:p14="http://schemas.microsoft.com/office/powerpoint/2010/main" val="3436471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4CFD3-1ACC-8F06-6B79-73321AA7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D77B5-70D9-E036-5BF4-CF631DBC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Fases Típicas do Ciclo de Vida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3F3FA-4854-EA6B-F837-65A18A77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Um sistema de vendas pode receber uma nova funcionalidade para </a:t>
            </a:r>
            <a:r>
              <a:rPr lang="pt-BR" b="1" dirty="0"/>
              <a:t>integração com meios de pagamento digitais</a:t>
            </a:r>
            <a:r>
              <a:rPr lang="pt-BR" dirty="0"/>
              <a:t>, caracterizando manutenção evolutiva.</a:t>
            </a:r>
          </a:p>
        </p:txBody>
      </p:sp>
    </p:spTree>
    <p:extLst>
      <p:ext uri="{BB962C8B-B14F-4D97-AF65-F5344CB8AC3E}">
        <p14:creationId xmlns:p14="http://schemas.microsoft.com/office/powerpoint/2010/main" val="2224735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D5EF-D97B-AB28-2428-ED0EC164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Cascata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EEA13-A02F-03DD-A055-37874264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 </a:t>
            </a:r>
            <a:r>
              <a:rPr lang="pt-BR" b="1" dirty="0"/>
              <a:t>Modelo Cascata</a:t>
            </a:r>
            <a:r>
              <a:rPr lang="pt-BR" dirty="0"/>
              <a:t> é um dos primeiros modelos de processo utilizados na Engenharia de Software.</a:t>
            </a:r>
          </a:p>
          <a:p>
            <a:r>
              <a:rPr lang="pt-BR" dirty="0"/>
              <a:t>Ele organiza o desenvolvimento de forma </a:t>
            </a:r>
            <a:r>
              <a:rPr lang="pt-BR" b="1" dirty="0"/>
              <a:t>sequencial</a:t>
            </a:r>
            <a:r>
              <a:rPr lang="pt-BR" dirty="0"/>
              <a:t>, onde cada fase depende da conclusão da anterior.</a:t>
            </a:r>
          </a:p>
          <a:p>
            <a:r>
              <a:rPr lang="pt-BR" dirty="0"/>
              <a:t>As etapas do modelo cascata normalmente incluem:</a:t>
            </a:r>
          </a:p>
          <a:p>
            <a:pPr lvl="1"/>
            <a:r>
              <a:rPr lang="pt-BR" dirty="0"/>
              <a:t>Requisitos</a:t>
            </a:r>
          </a:p>
          <a:p>
            <a:pPr lvl="1"/>
            <a:r>
              <a:rPr lang="pt-BR" dirty="0"/>
              <a:t>Projeto</a:t>
            </a:r>
          </a:p>
          <a:p>
            <a:pPr lvl="1"/>
            <a:r>
              <a:rPr lang="pt-BR" dirty="0"/>
              <a:t>Implementação</a:t>
            </a:r>
          </a:p>
          <a:p>
            <a:pPr lvl="1"/>
            <a:r>
              <a:rPr lang="pt-BR" dirty="0"/>
              <a:t>Testes</a:t>
            </a:r>
          </a:p>
          <a:p>
            <a:pPr lvl="1"/>
            <a:r>
              <a:rPr lang="pt-BR" dirty="0"/>
              <a:t>Implantação</a:t>
            </a:r>
          </a:p>
          <a:p>
            <a:pPr lvl="1"/>
            <a:r>
              <a:rPr lang="pt-BR" dirty="0"/>
              <a:t>Manutenção</a:t>
            </a:r>
          </a:p>
          <a:p>
            <a:r>
              <a:rPr lang="pt-BR" dirty="0"/>
              <a:t>Cada etapa gera resultados que servem de base para a próxima fase.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2882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5324-558F-FB43-6783-7DAE7FA9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0ADA0-78AE-76F3-CF4D-2B9F0110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Modelo Cascata - </a:t>
            </a:r>
            <a:r>
              <a:rPr lang="pt-BR" dirty="0" err="1"/>
              <a:t>Sommerville</a:t>
            </a: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5D19692-1F2B-61B9-D41A-04A21080C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232" y="1846263"/>
            <a:ext cx="638986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18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15ADE-AAA2-1A73-2960-3F852F21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Cascata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F17602-86F5-28B0-00FB-5205F8617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Vantagens do Modelo Cascata</a:t>
            </a:r>
          </a:p>
          <a:p>
            <a:pPr lvl="1"/>
            <a:r>
              <a:rPr lang="pt-BR" dirty="0"/>
              <a:t>O modelo cascata apresenta algumas vantagens importantes.</a:t>
            </a:r>
          </a:p>
          <a:p>
            <a:pPr lvl="1"/>
            <a:r>
              <a:rPr lang="pt-BR" b="1" dirty="0"/>
              <a:t>Estrutura clara</a:t>
            </a:r>
          </a:p>
          <a:p>
            <a:pPr lvl="2"/>
            <a:r>
              <a:rPr lang="pt-BR" dirty="0"/>
              <a:t>As fases são bem definidas, facilitando o planejamento.</a:t>
            </a:r>
          </a:p>
          <a:p>
            <a:pPr lvl="2"/>
            <a:r>
              <a:rPr lang="pt-BR" dirty="0"/>
              <a:t>Exemplo: uma equipe pode estabelecer que o projeto só avança para implementação após aprovação formal dos requisitos.</a:t>
            </a:r>
          </a:p>
          <a:p>
            <a:pPr lvl="1"/>
            <a:r>
              <a:rPr lang="pt-BR" b="1" dirty="0"/>
              <a:t>Facilidade de gestão</a:t>
            </a:r>
          </a:p>
          <a:p>
            <a:pPr lvl="2"/>
            <a:r>
              <a:rPr lang="pt-BR" dirty="0"/>
              <a:t>Gestores conseguem acompanhar o progresso do projeto por meio da conclusão das etapas.</a:t>
            </a:r>
          </a:p>
          <a:p>
            <a:pPr lvl="2"/>
            <a:r>
              <a:rPr lang="pt-BR" dirty="0"/>
              <a:t>Exemplo: a entrega do documento de requisitos indica a conclusão da primeira fase.</a:t>
            </a:r>
          </a:p>
          <a:p>
            <a:pPr lvl="1"/>
            <a:r>
              <a:rPr lang="pt-BR" b="1" dirty="0"/>
              <a:t>Boa documentação</a:t>
            </a:r>
          </a:p>
          <a:p>
            <a:pPr lvl="2"/>
            <a:r>
              <a:rPr lang="pt-BR" dirty="0"/>
              <a:t>A forte ênfase em documentação facilita manutenção futura.</a:t>
            </a:r>
          </a:p>
          <a:p>
            <a:pPr lvl="2"/>
            <a:r>
              <a:rPr lang="pt-BR" dirty="0"/>
              <a:t>Exemplo: novos desenvolvedores podem compreender o sistema analisando documentos existentes.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630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D5A2-C7A7-F627-5CE5-0EA192E9F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7F5D0-3E70-CDB9-9C8A-6BBD48EF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Cascata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414986-495F-9C99-CEDF-4CBFF57E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Limitações do Modelo Cascata</a:t>
            </a:r>
          </a:p>
          <a:p>
            <a:pPr lvl="1"/>
            <a:r>
              <a:rPr lang="pt-BR" dirty="0"/>
              <a:t>Apesar de suas vantagens, o modelo cascata apresenta limitações.</a:t>
            </a:r>
          </a:p>
          <a:p>
            <a:pPr lvl="1"/>
            <a:r>
              <a:rPr lang="pt-BR" b="1" dirty="0"/>
              <a:t>Rigidez</a:t>
            </a:r>
          </a:p>
          <a:p>
            <a:pPr lvl="2"/>
            <a:r>
              <a:rPr lang="pt-BR" dirty="0"/>
              <a:t>Mudanças tardias podem exigir retrabalho significativo.</a:t>
            </a:r>
          </a:p>
          <a:p>
            <a:pPr lvl="2"/>
            <a:r>
              <a:rPr lang="pt-BR" dirty="0"/>
              <a:t>Exemplo: alterar um requisito após a implementação pode exigir modificações extensas no código.</a:t>
            </a:r>
          </a:p>
          <a:p>
            <a:pPr lvl="1"/>
            <a:r>
              <a:rPr lang="pt-BR" b="1" dirty="0"/>
              <a:t>Feedback tardio</a:t>
            </a:r>
          </a:p>
          <a:p>
            <a:pPr lvl="2"/>
            <a:r>
              <a:rPr lang="pt-BR" dirty="0"/>
              <a:t>Usuários só interagem com o sistema nas fases finais.</a:t>
            </a:r>
          </a:p>
          <a:p>
            <a:pPr lvl="2"/>
            <a:r>
              <a:rPr lang="pt-BR" dirty="0"/>
              <a:t>Exemplo: um usuário pode perceber apenas na implantação que uma funcionalidade não atende às necessidades reais.</a:t>
            </a:r>
          </a:p>
          <a:p>
            <a:pPr lvl="1"/>
            <a:r>
              <a:rPr lang="pt-BR" b="1" dirty="0"/>
              <a:t>Baixa flexibilidade</a:t>
            </a:r>
          </a:p>
          <a:p>
            <a:pPr lvl="2"/>
            <a:r>
              <a:rPr lang="pt-BR" dirty="0"/>
              <a:t>O modelo não se adapta bem a projetos com requisitos incertos ou que mudam com frequência.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0117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041B-486A-F55E-2B69-694D7A4B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222B4-EA50-E9D7-93D8-38707B81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no Projeto da Disciplina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82F3D8-51C2-66F4-E8EC-1A44BCE5A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No contexto de projetos acadêmicos, o modelo cascata pode ser utilizado como </a:t>
            </a:r>
            <a:r>
              <a:rPr lang="pt-BR" b="1" dirty="0"/>
              <a:t>estrutura inicial de organização do desenvolvimento</a:t>
            </a:r>
            <a:r>
              <a:rPr lang="pt-BR" dirty="0"/>
              <a:t>.</a:t>
            </a:r>
          </a:p>
          <a:p>
            <a:r>
              <a:rPr lang="pt-BR" dirty="0"/>
              <a:t>Um projeto pode seguir as etapas:</a:t>
            </a:r>
          </a:p>
          <a:p>
            <a:pPr lvl="1"/>
            <a:r>
              <a:rPr lang="pt-BR" dirty="0"/>
              <a:t>definição do problema</a:t>
            </a:r>
          </a:p>
          <a:p>
            <a:pPr lvl="1"/>
            <a:r>
              <a:rPr lang="pt-BR" dirty="0"/>
              <a:t>levantamento de requisitos</a:t>
            </a:r>
          </a:p>
          <a:p>
            <a:pPr lvl="1"/>
            <a:r>
              <a:rPr lang="pt-BR" dirty="0"/>
              <a:t>modelagem do sistema</a:t>
            </a:r>
          </a:p>
          <a:p>
            <a:pPr lvl="1"/>
            <a:r>
              <a:rPr lang="pt-BR" dirty="0"/>
              <a:t>implementação inicial</a:t>
            </a:r>
          </a:p>
          <a:p>
            <a:pPr lvl="1"/>
            <a:r>
              <a:rPr lang="pt-BR" dirty="0"/>
              <a:t>testes</a:t>
            </a:r>
          </a:p>
          <a:p>
            <a:pPr lvl="1"/>
            <a:r>
              <a:rPr lang="pt-BR" dirty="0"/>
              <a:t>avaliação final</a:t>
            </a:r>
          </a:p>
        </p:txBody>
      </p:sp>
    </p:spTree>
    <p:extLst>
      <p:ext uri="{BB962C8B-B14F-4D97-AF65-F5344CB8AC3E}">
        <p14:creationId xmlns:p14="http://schemas.microsoft.com/office/powerpoint/2010/main" val="1356443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B1733-EE55-7B72-72F5-3FAE50AF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Estudo de Caso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5ED7C8-3569-52DA-76D6-B2A59094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Considere o desenvolvimento de um </a:t>
            </a:r>
            <a:r>
              <a:rPr lang="pt-BR" b="1" dirty="0"/>
              <a:t>Sistema de Biblioteca Digital</a:t>
            </a:r>
            <a:r>
              <a:rPr lang="pt-BR" dirty="0"/>
              <a:t>.</a:t>
            </a:r>
          </a:p>
          <a:p>
            <a:r>
              <a:rPr lang="pt-BR" dirty="0"/>
              <a:t>O sistema deve permitir:</a:t>
            </a:r>
          </a:p>
          <a:p>
            <a:pPr lvl="1"/>
            <a:r>
              <a:rPr lang="pt-BR" dirty="0"/>
              <a:t>cadastro de livros</a:t>
            </a:r>
          </a:p>
          <a:p>
            <a:pPr lvl="1"/>
            <a:r>
              <a:rPr lang="pt-BR" dirty="0"/>
              <a:t>controle de empréstimos</a:t>
            </a:r>
          </a:p>
          <a:p>
            <a:pPr lvl="1"/>
            <a:r>
              <a:rPr lang="pt-BR" dirty="0"/>
              <a:t>busca por títulos ou autores</a:t>
            </a:r>
          </a:p>
          <a:p>
            <a:pPr lvl="1"/>
            <a:r>
              <a:rPr lang="pt-BR" dirty="0"/>
              <a:t>geração de relatórios de utilização</a:t>
            </a:r>
          </a:p>
          <a:p>
            <a:r>
              <a:rPr lang="pt-BR" dirty="0"/>
              <a:t>Descreva como cada fase do </a:t>
            </a:r>
            <a:r>
              <a:rPr lang="pt-BR" b="1" dirty="0"/>
              <a:t>modelo cascata</a:t>
            </a:r>
            <a:r>
              <a:rPr lang="pt-BR" dirty="0"/>
              <a:t> poderia ser aplicada no desenvolvimento desse sistema.</a:t>
            </a:r>
          </a:p>
        </p:txBody>
      </p:sp>
    </p:spTree>
    <p:extLst>
      <p:ext uri="{BB962C8B-B14F-4D97-AF65-F5344CB8AC3E}">
        <p14:creationId xmlns:p14="http://schemas.microsoft.com/office/powerpoint/2010/main" val="293164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8A52E-A850-EA6C-50CE-FBEA1607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C2A5DC-E904-2E4D-3848-9652147B4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Uma instituição educacional deseja desenvolver um </a:t>
            </a:r>
            <a:r>
              <a:rPr lang="pt-BR" b="1" dirty="0"/>
              <a:t>Sistema de Agendamento de Laboratórios de Informática</a:t>
            </a:r>
            <a:r>
              <a:rPr lang="pt-BR" dirty="0"/>
              <a:t>.</a:t>
            </a:r>
          </a:p>
          <a:p>
            <a:r>
              <a:rPr lang="pt-BR" dirty="0"/>
              <a:t>Atualmente, os horários são controlados manualmente por planilhas, o que gera conflitos entre turmas e dificuldade de organização.</a:t>
            </a:r>
          </a:p>
          <a:p>
            <a:r>
              <a:rPr lang="pt-BR" dirty="0"/>
              <a:t>O novo sistema deve permitir:</a:t>
            </a:r>
          </a:p>
          <a:p>
            <a:pPr lvl="1"/>
            <a:r>
              <a:rPr lang="pt-BR" dirty="0"/>
              <a:t>agendamento online de laboratórios</a:t>
            </a:r>
          </a:p>
          <a:p>
            <a:pPr lvl="1"/>
            <a:r>
              <a:rPr lang="pt-BR" dirty="0"/>
              <a:t>consulta de disponibilidade</a:t>
            </a:r>
          </a:p>
          <a:p>
            <a:pPr lvl="1"/>
            <a:r>
              <a:rPr lang="pt-BR" dirty="0"/>
              <a:t>registro de manutenção de equipamentos</a:t>
            </a:r>
          </a:p>
          <a:p>
            <a:pPr lvl="1"/>
            <a:r>
              <a:rPr lang="pt-BR" dirty="0"/>
              <a:t>geração de relatórios de utilização</a:t>
            </a:r>
          </a:p>
          <a:p>
            <a:r>
              <a:rPr lang="pt-BR" dirty="0"/>
              <a:t>Analise como o desenvolvimento desse sistema poderia seguir o </a:t>
            </a:r>
            <a:r>
              <a:rPr lang="pt-BR" b="1" dirty="0"/>
              <a:t>modelo cascata</a:t>
            </a:r>
            <a:r>
              <a:rPr lang="pt-BR" dirty="0"/>
              <a:t>, identificando as atividades realizadas em cada etapa.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60785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</TotalTime>
  <Words>2343</Words>
  <Application>Microsoft Office PowerPoint</Application>
  <PresentationFormat>Widescreen</PresentationFormat>
  <Paragraphs>355</Paragraphs>
  <Slides>35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Aptos</vt:lpstr>
      <vt:lpstr>Calibri</vt:lpstr>
      <vt:lpstr>Calibri Light</vt:lpstr>
      <vt:lpstr>Retrospectiva</vt:lpstr>
      <vt:lpstr>Ciclo de Vida de Software</vt:lpstr>
      <vt:lpstr>Ciclo de Vida de Software</vt:lpstr>
      <vt:lpstr>Ciclo de Vida de Software</vt:lpstr>
      <vt:lpstr>Ciclo de Vida de Software - Exemplo</vt:lpstr>
      <vt:lpstr>Conceito de Ciclo de Vida de Software</vt:lpstr>
      <vt:lpstr>Conceito de Ciclo de Vida de Software</vt:lpstr>
      <vt:lpstr>Conceito de Ciclo de Vida de Software</vt:lpstr>
      <vt:lpstr>Conceito de Ciclo de Vida de Software</vt:lpstr>
      <vt:lpstr>Conceito de Ciclo de Vida de Software</vt:lpstr>
      <vt:lpstr>Importância do Ciclo de Vida no Desenvolvimento de Software</vt:lpstr>
      <vt:lpstr>Importância do Ciclo de Vida no Desenvolvimento de Software</vt:lpstr>
      <vt:lpstr>Importância do Ciclo de Vida no Desenvolvimento de Software</vt:lpstr>
      <vt:lpstr>Importância do Ciclo de Vida no Desenvolvimento de Software</vt:lpstr>
      <vt:lpstr>Importância do Ciclo de Vida no Desenvolvimento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Fases Típicas do Ciclo de Vida de Software</vt:lpstr>
      <vt:lpstr>Modelo Cascata</vt:lpstr>
      <vt:lpstr>Modelo Cascata - Sommerville</vt:lpstr>
      <vt:lpstr>Modelo Cascata</vt:lpstr>
      <vt:lpstr>Modelo Cascata</vt:lpstr>
      <vt:lpstr>Aplicação no Projeto da Disciplina</vt:lpstr>
      <vt:lpstr>Estudo de Caso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Cassulino Araujo Souza</dc:creator>
  <cp:lastModifiedBy>Andre Cassulino Araujo Souza</cp:lastModifiedBy>
  <cp:revision>2</cp:revision>
  <dcterms:created xsi:type="dcterms:W3CDTF">2026-03-09T15:00:59Z</dcterms:created>
  <dcterms:modified xsi:type="dcterms:W3CDTF">2026-03-09T20:50:04Z</dcterms:modified>
</cp:coreProperties>
</file>