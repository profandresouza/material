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bb8ad15f3348fd" /><Relationship Type="http://schemas.openxmlformats.org/officeDocument/2006/relationships/extended-properties" Target="/docProps/app.xml" Id="R61024360c45c4b68" /><Relationship Type="http://schemas.openxmlformats.org/officeDocument/2006/relationships/officeDocument" Target="/ppt/presentation.xml" Id="R0e3b603d56de47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21b40de8114a29"/>
  </p:sldMasterIdLst>
  <p:notesMasterIdLst>
    <p:notesMasterId xmlns:r="http://schemas.openxmlformats.org/officeDocument/2006/relationships" r:id="R2a26d6d337bf460a"/>
  </p:notesMasterIdLst>
  <p:sldIdLst>
    <p:sldId xmlns:r="http://schemas.openxmlformats.org/officeDocument/2006/relationships" id="256" r:id="R1e5e3308fde34dd9"/>
    <p:sldId xmlns:r="http://schemas.openxmlformats.org/officeDocument/2006/relationships" id="257" r:id="R5982d94a88b14f90"/>
    <p:sldId xmlns:r="http://schemas.openxmlformats.org/officeDocument/2006/relationships" id="258" r:id="R6357c469e78a4da8"/>
    <p:sldId xmlns:r="http://schemas.openxmlformats.org/officeDocument/2006/relationships" id="259" r:id="R61c9e166ee2c4961"/>
    <p:sldId xmlns:r="http://schemas.openxmlformats.org/officeDocument/2006/relationships" id="260" r:id="R26b6cbe04cc44517"/>
    <p:sldId xmlns:r="http://schemas.openxmlformats.org/officeDocument/2006/relationships" id="261" r:id="R8f27c4165448465e"/>
    <p:sldId xmlns:r="http://schemas.openxmlformats.org/officeDocument/2006/relationships" id="262" r:id="Rffec27ce4e7b43e6"/>
    <p:sldId xmlns:r="http://schemas.openxmlformats.org/officeDocument/2006/relationships" id="263" r:id="R525080b95e5b4e30"/>
    <p:sldId xmlns:r="http://schemas.openxmlformats.org/officeDocument/2006/relationships" id="264" r:id="Rf42e24acee794170"/>
    <p:sldId xmlns:r="http://schemas.openxmlformats.org/officeDocument/2006/relationships" id="265" r:id="R3b509ce4d54545ea"/>
    <p:sldId xmlns:r="http://schemas.openxmlformats.org/officeDocument/2006/relationships" id="266" r:id="R12f4091bd0364c57"/>
    <p:sldId xmlns:r="http://schemas.openxmlformats.org/officeDocument/2006/relationships" id="267" r:id="Re80e222ad5584f91"/>
    <p:sldId xmlns:r="http://schemas.openxmlformats.org/officeDocument/2006/relationships" id="268" r:id="R7eef78b94f264095"/>
    <p:sldId xmlns:r="http://schemas.openxmlformats.org/officeDocument/2006/relationships" id="269" r:id="R95e0d575e9f142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13a9e6100f4a82" /><Relationship Type="http://schemas.openxmlformats.org/officeDocument/2006/relationships/slideMaster" Target="/ppt/slideMasters/slideMaster1.xml" Id="R8521b40de8114a29" /><Relationship Type="http://schemas.openxmlformats.org/officeDocument/2006/relationships/notesMaster" Target="/ppt/notesMasters/notesMaster1.xml" Id="R2a26d6d337bf460a" /><Relationship Type="http://schemas.openxmlformats.org/officeDocument/2006/relationships/presProps" Target="/ppt/presProps.xml" Id="R9aa3d44f11ec48da" /><Relationship Type="http://schemas.openxmlformats.org/officeDocument/2006/relationships/tableStyles" Target="/ppt/tableStyles.xml" Id="R969d4a11d36b45b9" /><Relationship Type="http://schemas.openxmlformats.org/officeDocument/2006/relationships/slide" Target="/ppt/slides/slide1.xml" Id="R1e5e3308fde34dd9" /><Relationship Type="http://schemas.openxmlformats.org/officeDocument/2006/relationships/slide" Target="/ppt/slides/slide2.xml" Id="R5982d94a88b14f90" /><Relationship Type="http://schemas.openxmlformats.org/officeDocument/2006/relationships/slide" Target="/ppt/slides/slide3.xml" Id="R6357c469e78a4da8" /><Relationship Type="http://schemas.openxmlformats.org/officeDocument/2006/relationships/slide" Target="/ppt/slides/slide4.xml" Id="R61c9e166ee2c4961" /><Relationship Type="http://schemas.openxmlformats.org/officeDocument/2006/relationships/slide" Target="/ppt/slides/slide5.xml" Id="R26b6cbe04cc44517" /><Relationship Type="http://schemas.openxmlformats.org/officeDocument/2006/relationships/slide" Target="/ppt/slides/slide6.xml" Id="R8f27c4165448465e" /><Relationship Type="http://schemas.openxmlformats.org/officeDocument/2006/relationships/slide" Target="/ppt/slides/slide7.xml" Id="Rffec27ce4e7b43e6" /><Relationship Type="http://schemas.openxmlformats.org/officeDocument/2006/relationships/slide" Target="/ppt/slides/slide8.xml" Id="R525080b95e5b4e30" /><Relationship Type="http://schemas.openxmlformats.org/officeDocument/2006/relationships/slide" Target="/ppt/slides/slide9.xml" Id="Rf42e24acee794170" /><Relationship Type="http://schemas.openxmlformats.org/officeDocument/2006/relationships/slide" Target="/ppt/slides/slide10.xml" Id="R3b509ce4d54545ea" /><Relationship Type="http://schemas.openxmlformats.org/officeDocument/2006/relationships/slide" Target="/ppt/slides/slide11.xml" Id="R12f4091bd0364c57" /><Relationship Type="http://schemas.openxmlformats.org/officeDocument/2006/relationships/slide" Target="/ppt/slides/slide12.xml" Id="Re80e222ad5584f91" /><Relationship Type="http://schemas.openxmlformats.org/officeDocument/2006/relationships/slide" Target="/ppt/slides/slide13.xml" Id="R7eef78b94f264095" /><Relationship Type="http://schemas.openxmlformats.org/officeDocument/2006/relationships/slide" Target="/ppt/slides/slide14.xml" Id="R95e0d575e9f142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9dd27dcde548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8a13bbaf104853" /><Relationship Type="http://schemas.openxmlformats.org/officeDocument/2006/relationships/notesMaster" Target="/ppt/notesMasters/notesMaster1.xml" Id="Re1d65853b52242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a8f1e0e045431d" /><Relationship Type="http://schemas.openxmlformats.org/officeDocument/2006/relationships/notesMaster" Target="/ppt/notesMasters/notesMaster1.xml" Id="R686087352ecb46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781ba88d9f4355" /><Relationship Type="http://schemas.openxmlformats.org/officeDocument/2006/relationships/notesMaster" Target="/ppt/notesMasters/notesMaster1.xml" Id="Re1d91d4bd91d4b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ebb84bd0cf497f" /><Relationship Type="http://schemas.openxmlformats.org/officeDocument/2006/relationships/notesMaster" Target="/ppt/notesMasters/notesMaster1.xml" Id="R69b0238d6d8041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86e0bda8de45d2" /><Relationship Type="http://schemas.openxmlformats.org/officeDocument/2006/relationships/notesMaster" Target="/ppt/notesMasters/notesMaster1.xml" Id="Rc9839a741d6241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b43ca2d625434f" /><Relationship Type="http://schemas.openxmlformats.org/officeDocument/2006/relationships/notesMaster" Target="/ppt/notesMasters/notesMaster1.xml" Id="R7b45e0dea8b642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668c65146e4af4" /><Relationship Type="http://schemas.openxmlformats.org/officeDocument/2006/relationships/notesMaster" Target="/ppt/notesMasters/notesMaster1.xml" Id="Rb481c65904d142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8611fea53c425a" /><Relationship Type="http://schemas.openxmlformats.org/officeDocument/2006/relationships/notesMaster" Target="/ppt/notesMasters/notesMaster1.xml" Id="R48b063876edd47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44e1bd339b4505" /><Relationship Type="http://schemas.openxmlformats.org/officeDocument/2006/relationships/notesMaster" Target="/ppt/notesMasters/notesMaster1.xml" Id="R1376964473104c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93f0317463484c" /><Relationship Type="http://schemas.openxmlformats.org/officeDocument/2006/relationships/notesMaster" Target="/ppt/notesMasters/notesMaster1.xml" Id="R7592b936a4fa4c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b689cc30614a76" /><Relationship Type="http://schemas.openxmlformats.org/officeDocument/2006/relationships/notesMaster" Target="/ppt/notesMasters/notesMaster1.xml" Id="R06689dec1ac744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1cf4db44824cdc" /><Relationship Type="http://schemas.openxmlformats.org/officeDocument/2006/relationships/notesMaster" Target="/ppt/notesMasters/notesMaster1.xml" Id="Rf2883026889a4b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8d29a184874eeb" /><Relationship Type="http://schemas.openxmlformats.org/officeDocument/2006/relationships/notesMaster" Target="/ppt/notesMasters/notesMaster1.xml" Id="R6f5f8f0c334946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b19dc4b6c54040" /><Relationship Type="http://schemas.openxmlformats.org/officeDocument/2006/relationships/notesMaster" Target="/ppt/notesMasters/notesMaster1.xml" Id="Rd07a11054ea34e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 de reforço baseado nas aulas 1 a 7 e nos guias da disciplina.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esta visão como mapa de revisão. A semana 6 aplica as práticas no Projeto Integrador.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imagem existente no material da disciplina, Aulas/img/cultura_devops_calms.jpg.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 quatro métricas aparecem na semana 1. Reforce que o conjunto evita otimização unilateral.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Diagrama conceitual editável. Explique que o desenho simplifica o DAG do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imagem existente no material da disciplina, Aulas/img/gitflow_diagrama_completo.jpg.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Relacione Conventional Commits com SemVer, sem apresentar a automação como obrigatória.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slide usa a aprovação como fronteira operacional entre Delivery 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visual: imagem existente no material da disciplina, Aulas/img/piramide_de_testes.jpg.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o bloqueio ser efetivo, configure a proteção de branch para exigir checks aprovados.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notebook contém todos os comandos e checkpoints para esta sequência.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conflito não significa perda. O Git pausa e pede uma decisão explícita.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retorno à develop evita reintroduzir o defeito na próxima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Encerramento com autoavaliação. O desafio está detalhado no notebook de reforço.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9142c62f44b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7f75a17e4b4b4b" /><Relationship Type="http://schemas.openxmlformats.org/officeDocument/2006/relationships/slideLayout" Target="/ppt/slideLayouts/slideLayout1.xml" Id="Raf6f2c27d6df48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6f2c27d6df48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cb637004d40b0" /><Relationship Type="http://schemas.openxmlformats.org/officeDocument/2006/relationships/notesSlide" Target="/ppt/notesSlides/notesSlide1.xml" Id="R5793f02cf25a46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4d60c469947ee" /><Relationship Type="http://schemas.openxmlformats.org/officeDocument/2006/relationships/notesSlide" Target="/ppt/notesSlides/notesSlide2.xml" Id="Rc065751263e649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ca01e9efd43dc" /><Relationship Type="http://schemas.openxmlformats.org/officeDocument/2006/relationships/image" Target="/ppt/media/image.jpeg" Id="R4abaf7d6121a4151" /><Relationship Type="http://schemas.openxmlformats.org/officeDocument/2006/relationships/notesSlide" Target="/ppt/notesSlides/notesSlide3.xml" Id="R988281e81d6c45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dc716aee44bb5" /><Relationship Type="http://schemas.openxmlformats.org/officeDocument/2006/relationships/notesSlide" Target="/ppt/notesSlides/notesSlide4.xml" Id="Rc01d72419c1448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01db07a3746dd" /><Relationship Type="http://schemas.openxmlformats.org/officeDocument/2006/relationships/notesSlide" Target="/ppt/notesSlides/notesSlide5.xml" Id="Rae58649987c04d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b6d92194844a3" /><Relationship Type="http://schemas.openxmlformats.org/officeDocument/2006/relationships/image" Target="/ppt/media/image2.jpeg" Id="R63a376b1baa44a6d" /><Relationship Type="http://schemas.openxmlformats.org/officeDocument/2006/relationships/notesSlide" Target="/ppt/notesSlides/notesSlide6.xml" Id="R390e36a15fce4b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5010f22204cbe" /><Relationship Type="http://schemas.openxmlformats.org/officeDocument/2006/relationships/notesSlide" Target="/ppt/notesSlides/notesSlide7.xml" Id="R24b4ae2dc1774d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ea54a86054121" /><Relationship Type="http://schemas.openxmlformats.org/officeDocument/2006/relationships/notesSlide" Target="/ppt/notesSlides/notesSlide8.xml" Id="Rad069506b52047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d1c09bdad44d6" /><Relationship Type="http://schemas.openxmlformats.org/officeDocument/2006/relationships/image" Target="/ppt/media/image3.jpeg" Id="R860defb7fb884661" /><Relationship Type="http://schemas.openxmlformats.org/officeDocument/2006/relationships/notesSlide" Target="/ppt/notesSlides/notesSlide9.xml" Id="Ree17e4dc911243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78e526980483a" /><Relationship Type="http://schemas.openxmlformats.org/officeDocument/2006/relationships/notesSlide" Target="/ppt/notesSlides/notesSlide10.xml" Id="Raa94174c2b904e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b01a560fe4b70" /><Relationship Type="http://schemas.openxmlformats.org/officeDocument/2006/relationships/notesSlide" Target="/ppt/notesSlides/notesSlide11.xml" Id="R4d0ffa96f54440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ec6141c4644fd" /><Relationship Type="http://schemas.openxmlformats.org/officeDocument/2006/relationships/notesSlide" Target="/ppt/notesSlides/notesSlide12.xml" Id="Rdb6cb657e20846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5ee0aa8fa64890" /><Relationship Type="http://schemas.openxmlformats.org/officeDocument/2006/relationships/notesSlide" Target="/ppt/notesSlides/notesSlide13.xml" Id="Readd6d876c6c42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10c98c1244de5" /><Relationship Type="http://schemas.openxmlformats.org/officeDocument/2006/relationships/notesSlide" Target="/ppt/notesSlides/notesSlide14.xml" Id="R4411bddc1b5143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7A899-8CB3-4B1C-9BD8-D3C31DAE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C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4F996-3309-4229-890F-0F12958B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AULA DE REFORÇO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5B76C-460B-4E0E-92A1-239743D4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DevOps até a</a:t>
            </a:r>
          </a:p>
          <a:p xmlns:a="http://schemas.openxmlformats.org/drawingml/2006/main">
            <a:pPr algn="l">
              <a:defRPr sz="40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semana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3BACC-E415-4168-9F70-314BEAC1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7E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C9D7E5"/>
                </a:solidFill>
                <a:latin typeface="Aptos"/>
                <a:ea typeface="Aptos"/>
                <a:cs typeface="Aptos"/>
              </a:rPr>
              <a:t>Conceitos fundamentais e prática completa de GitFlow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CEB410-91E5-4078-8D08-95B96AF6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16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AE3C8-75D2-4DA9-AEC0-DC89F822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CALMS  •  Git  •  CI/CD  •  Testes  •  Quality Gates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F6B36-AE6C-434D-9446-F365C824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E2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7E22E"/>
                </a:solidFill>
                <a:latin typeface="Aptos"/>
                <a:ea typeface="Aptos"/>
                <a:cs typeface="Aptos"/>
              </a:rPr>
              <a:t>Laboratório local seguro, sem dependência do GitHub</a:t>
            </a:r>
          </a:p>
        </p:txBody>
      </p:sp>
    </p:spTree>
    <p:extLst>
      <p:ext uri="{BB962C8B-B14F-4D97-AF65-F5344CB8AC3E}">
        <p14:creationId xmlns:p14="http://schemas.microsoft.com/office/powerpoint/2010/main" val="1882026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FFF7F-305D-47BC-BAE8-A27BEE62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 jornada das semanas 1 a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D259F-A2D0-4278-896F-5BE3C5BD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8D5BC-57BA-476F-A75E-311B1D1F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572A4-3DB5-49C2-BF39-B3075085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9F0F4-5858-4710-B0F7-5B1F2FB3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9070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C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06DA5-831E-4378-BB21-6FEA5411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811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Cultura e fluxo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7D305-4672-48BD-A964-1DAA0D54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CALMS, DORA e valor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1F1F65-423D-4451-A97B-A66EC0A4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02–04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00CA5-C109-4EF7-9D40-ADA2ADEA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03D13-3C54-4259-986E-7D4499FB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479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Histórico confiável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F6BBB-9BF1-456C-BAFD-1E8D8137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Git, GitFlow e conflitos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71FF4-1033-4A67-A31A-DD0003A3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05030D-AF54-4700-ABDF-7188C253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2430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5C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3C017-DB43-4241-9614-B94489E6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147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Qualidade automatizada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8C480F-B5C5-416C-9CBA-E3A9878C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147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Pirâmide e gates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40B27-BC50-476B-9C5A-C83F6C04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B2963-998F-4FC2-BB4F-809F2040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9110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E22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1146B-3BB1-48A9-B934-B3AFC9CE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815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CI em 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7D194-0B26-47C7-80DF-6DF5DFF0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815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Integração, E2E e 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588DF-F6C5-4BF5-8D99-E5660D35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8574808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BA0AA-E857-4CB8-B4C3-5A27501D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DevOps organiza o sistema de trabalho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32999-EE7D-4F8F-A79A-45E33A16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291FF-6DC5-4A97-BBCE-5FFE7875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af7d6121a4151"/>
          <a:stretch xmlns:a="http://schemas.openxmlformats.org/drawingml/2006/main"/>
        </p:blipFill>
        <p:spPr>
          <a:xfrm xmlns:a="http://schemas.openxmlformats.org/drawingml/2006/main">
            <a:off x="6667500" y="2147555"/>
            <a:ext cx="4762500" cy="265814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7F177-E0CE-45A4-8B92-582C7FF4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O 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B48D5-A28E-4E0B-AC03-7C68873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Levar mudanças pequenas até o usuário com segurança e feedback rápido.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EAE70-A10D-4685-91AE-05F636AA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CALMS conecta comportamento e engenharia: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Cultura compartilhada</a:t>
            </a:r>
          </a:p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Automação repetível</a:t>
            </a:r>
          </a:p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Fluxo enxuto</a:t>
            </a:r>
          </a:p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Medição útil</a:t>
            </a:r>
          </a:p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Compartilhamento do aprendizado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0A992-C928-4BA8-9F63-6F61EC62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5196888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C9E951-59A8-4F26-9738-9A589B0E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Métricas DORA equilibram velocidade e estabilidade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9DA91-F201-4AAA-A981-D98517D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1C44B-53F3-47AA-AA45-29E5702B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EA8CE-7802-475B-A922-A4E7B59D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Frequência de deploy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C3DE2-686B-4733-BDEA-66D497D6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E2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E22E"/>
                </a:solidFill>
                <a:latin typeface="Aptos"/>
                <a:ea typeface="Aptos"/>
                <a:cs typeface="Aptos"/>
              </a:rPr>
              <a:t>mais alta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07BDD-AB4A-4559-8931-64773DA3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B7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28A19-5C25-4A12-BE7B-912C0381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5E2"/>
                </a:solidFill>
                <a:latin typeface="Aptos"/>
                <a:ea typeface="Aptos"/>
                <a:cs typeface="Aptos"/>
              </a:rPr>
              <a:t>Quantas vezes entregamos?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94E93-62A8-44E9-9362-5A113D89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619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Lead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74BBA-1562-4243-8127-F5AE4050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43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mais baixo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B6435-3BCE-42D7-AE54-21F0DD47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8765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B7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72692-F540-4858-96FE-D37CFE3B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43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5E2"/>
                </a:solidFill>
                <a:latin typeface="Aptos"/>
                <a:ea typeface="Aptos"/>
                <a:cs typeface="Aptos"/>
              </a:rPr>
              <a:t>Quanto a mudança demora?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A0F93-D6D8-4E8B-B221-184A367E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19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Taxa de falha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E8550-FA02-495A-A09E-2FD7B975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mais baixa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D4E62-57A0-4CDF-A471-8A9E9F46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B7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9E043-8AE5-4ED8-A80A-BA85E215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5E2"/>
                </a:solidFill>
                <a:latin typeface="Aptos"/>
                <a:ea typeface="Aptos"/>
                <a:cs typeface="Aptos"/>
              </a:rPr>
              <a:t>Quantas mudanças causam falha?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AEFD8-39EC-43DB-BBEB-B984F031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6192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Tempo de restauração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FB80C-5B46-498E-8B58-2AC2106C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43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mais baixo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FD062-6682-415C-A194-2F4AD341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765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B7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C9AAA-77F5-4D02-97FF-8F51C85B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4325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D5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5E2"/>
                </a:solidFill>
                <a:latin typeface="Aptos"/>
                <a:ea typeface="Aptos"/>
                <a:cs typeface="Aptos"/>
              </a:rPr>
              <a:t>Quanto demoramos para recuperar?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CE799-4090-490B-A12A-A94E1506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Métrica boa orienta melhoria do fluxo. Meta individual incentiva distorção.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5B329-2C94-4F02-B3A0-3B0A50B0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12596021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8EF176-7350-4299-8617-8CD4FA8A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Git registra um grafo de decisões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59D1A-DE0C-48F4-B669-1DBEF47F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73C3B-ACF5-422B-8474-2C6D0D6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31FAD-1136-4F8D-972B-7461AE6A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907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236B1-05E4-411A-8CF6-19D6AA2E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574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C3F51-0012-4907-A66D-FC8F58C6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86000"/>
            <a:ext cx="1428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80DC2-80AD-4D4A-A218-6284B5AE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478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1FCF2-887D-4F6D-9D47-8E95BF36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765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4C28F-C046-42A2-91E6-D929C385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0ED57-D4A5-4D21-9F1E-EF8BADCB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790E2-3B18-42A6-97F4-7DA73376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C3A09-88B0-4DE8-AA40-55919AD7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765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início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7989A-A0EE-4364-A50E-19F5E1C0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911E3-ED3E-4DF1-B0A3-189CEF2F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615B4-A175-4E3E-9FD5-7936EAB7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765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develop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77D9F-C3DA-43F4-A96B-38195760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331B5-746B-43DD-8FCB-218E5E4F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70FFEE-7AF1-40C9-85AA-88BBEDB4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621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F617E-6863-438C-94D3-30D1714F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B5CC5-A153-4788-B93C-611EBDF9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670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7BD5C0-F75B-4354-B930-7EA7E790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develop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E4F6A-4DFD-4F2A-BC96-A63AB7DF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7E22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EA30B-CC2E-4B3A-B730-406FFCDA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4FE69-68DC-492E-8A41-E6F6F30F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765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merge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B7A0D-E01E-44BC-9E18-4EB34DFE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609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AA654-E548-4E62-BA55-8099715C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424635-FC50-4E08-B7CB-DAA5FAD2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765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005E6-8737-49B8-BF44-BEEFEE64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Branch: ponteiro móvel para um commit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86597E-6BD2-4618-A24C-4EB289EF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Merge: integra histórias. Rebase: reaplica commits e reescreve identificadores.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D6BCE9-B4D6-49CA-82E4-4029109B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Leia o histórico com  git log --graph --oneline --all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D1F058-C850-4800-BDD5-B5B51F60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15023621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F5A54-4876-4595-B1BD-76C1163D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Branches e responsabilidades no GitFlow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2DDCE-04A2-4E7B-A6FD-BAFAA14B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E845D-C742-42BF-9BEA-2FC9BC64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376b1baa44a6d"/>
          <a:stretch xmlns:a="http://schemas.openxmlformats.org/drawingml/2006/main"/>
        </p:blipFill>
        <p:spPr>
          <a:xfrm xmlns:a="http://schemas.openxmlformats.org/drawingml/2006/main">
            <a:off x="666750" y="1758802"/>
            <a:ext cx="6667500" cy="3721395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01087-5D7E-4B7C-8F71-23DEE501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03AD2-442D-4D69-BF69-F01200A6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produção e tags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8D56C-525A-4206-998C-6DBD92E5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develop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72EF0-BEBB-4D68-85EF-72923280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765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da próxima versão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2C130-0AFE-4514-A571-8BFF184D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feature/*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A5541A-8862-4856-876B-8F988500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814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nasce e retorna em develop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E080D-9A00-431A-8EBE-D0FBD1A4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052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05252"/>
                </a:solidFill>
                <a:latin typeface="Aptos"/>
                <a:ea typeface="Aptos"/>
                <a:cs typeface="Aptos"/>
              </a:rPr>
              <a:t>release/* e hotfix/*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CCDA7-93FF-4EBA-927B-68331F3B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673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integram main e develop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23626-8B21-4100-947B-3B608F0D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13214801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AD26B-DA1F-4F30-AB67-1F6B4A70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Commits explicam impacto e alimentam versões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D6CEE-1189-4CCA-844B-AF06541F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3F1E6-E2B5-495C-B57E-8B5CC138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576A1-8FAA-410A-9C2C-EF89EE35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fix(api): trata tarefa inexistente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62FEB-8018-4ED6-8647-88D3ED3E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573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PATCH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75A14-AC0F-45C7-BADF-E07ACD5D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feat(api): adiciona filtro por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304EF-C63A-491F-92D7-91F78EFF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7E22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7E22E"/>
                </a:solidFill>
                <a:latin typeface="Aptos"/>
                <a:ea typeface="Aptos"/>
                <a:cs typeface="Aptos"/>
              </a:rPr>
              <a:t>MINOR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6EB07-F26E-4B77-AEA4-6DE86AAD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feat(api)!: altera contrato de resposta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BA522A-2BCA-45FC-9B19-CF0FCB38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14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0525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E05252"/>
                </a:solidFill>
                <a:latin typeface="Aptos"/>
                <a:ea typeface="Aptos"/>
                <a:cs typeface="Aptos"/>
              </a:rPr>
              <a:t>MAJOR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3EF5A-AF90-464B-8884-D31858B1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B7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8960F-259D-441D-A870-E15BE4E5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8E3E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8E3ED"/>
                </a:solidFill>
                <a:latin typeface="Aptos"/>
                <a:ea typeface="Aptos"/>
                <a:cs typeface="Aptos"/>
              </a:rPr>
              <a:t>Commit atômico = uma mudança lógica, coerente e testável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7BBB9-F27B-43CF-BCCC-052950FC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1092853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152EA4-9B5A-4BF9-9D8A-5360C632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CI/CD define até onde a automação avança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5FC5B-2AE4-47DD-A894-6D02D197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C748A-5C94-4C9F-850C-67E281A7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AC63F-7AF7-4B89-9BAD-DABA94DE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1762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FFAB4-75C6-425D-A95E-F0D1FBF5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8140B-F4F8-416F-BC5D-40642BE1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336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mudança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35607-C64C-4B51-A9FD-CDFD4C94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90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61A66-DB54-40CA-BF71-9F022C90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00250"/>
            <a:ext cx="1762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652FC-B11A-4531-B14C-47719CBF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1145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DB793-4870-4C00-A205-06D4878B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336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build e testes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E4B45-80B9-42C8-B40C-BC087E66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38D28-D2A9-48D8-89A8-AA0528B4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1762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DFB78-09A3-41AC-A58E-16A62A6B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145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14B40-AEEE-4F71-AA1A-2B8CF65E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336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pronto para produção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9EEC6-E743-44F4-94B0-B29A1F74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90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4DCAC-5B71-4FD2-B9AE-99BF99EE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00250"/>
            <a:ext cx="1762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66AEC-9113-48A8-A252-EA70B1D4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145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Aprovação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6AEA4-76E6-431C-84DB-E8F36F95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336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decisão humana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526D7-F2C7-4B18-8007-E3EC4364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90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4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1F1643-5348-459A-9FB8-D0583920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00250"/>
            <a:ext cx="1762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5660E-9B24-4030-9DC7-F98BF60A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145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5039E-08CF-41D6-9469-B682E631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336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produção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654DB-2AB2-472A-B9BC-ED0F6936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Continuous Delivery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B27F3-8502-432D-8320-13D6EB7D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100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mantém a aprovação antes de produção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334E84-E3AD-42C6-B2E4-BECE43C3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0525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E05252"/>
                </a:solidFill>
                <a:latin typeface="Aptos"/>
                <a:ea typeface="Aptos"/>
                <a:cs typeface="Aptos"/>
              </a:rPr>
              <a:t>Continuous Deployment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75BD6-A468-4C9F-AEBD-02C55D69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76750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remove a aprovação e publica após os gates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524EE-A3F7-4EE9-83A9-ED361B36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11551220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04C8B-DDCC-4A82-81BA-2DA39FB6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 pirâmide distribui custo e confiança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C85A6-7043-40C9-803F-4136A5F2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CAC2B-04F1-49A4-BF82-74B2393B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0defb7fb884661"/>
          <a:stretch xmlns:a="http://schemas.openxmlformats.org/drawingml/2006/main"/>
        </p:blipFill>
        <p:spPr>
          <a:xfrm xmlns:a="http://schemas.openxmlformats.org/drawingml/2006/main">
            <a:off x="762000" y="2117838"/>
            <a:ext cx="5381625" cy="3003325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8EB8D-19FD-4E5E-B620-6A501BB3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Unitários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B5588-BC7C-4ED5-828E-8E6FF908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muitos, rápidos, isolados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EFD43-9007-4C9A-8303-67BFB39C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Integração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81668-0CCB-46AD-AF05-234E65BF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componentes reais em conjunto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B4356-300E-4CB3-B178-D1B90AD6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48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525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05252"/>
                </a:solidFill>
                <a:latin typeface="Aptos"/>
                <a:ea typeface="Aptos"/>
                <a:cs typeface="Aptos"/>
              </a:rPr>
              <a:t>E2E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359B8-40B0-4DD9-81EA-8AEFEF6E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291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poucos fluxos críticos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148B8-EE35-4D93-919F-4FA2174C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Cobertura mede execução. Asserções medem comportamento.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F2D92-F872-4EA5-B80D-AC8C2696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18646205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C31C98-4D06-4330-9E81-3BCF46C5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Quality Gate transforma resultado em decisão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78C5C-9859-48D1-83D3-56C4F4F7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FFFA1-A659-414C-A804-6049810C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3F2A1-8730-46FD-BB5E-73E6D490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51854-F167-4085-A13F-DBDEF869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145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Pull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13B62-7A71-43BF-AE24-6C8CAF9E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145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80EA2-F55E-4CC4-AD5A-84E6B5CF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5E0BF-F9BD-48CC-ADD1-2AE7B44F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145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Lint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1687E-46A7-4C20-A213-463323E8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145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52CDD-60ED-40F6-9F81-640A4F9E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D7BDF-D399-4D01-A0D5-8E45F108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145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Unitários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40417-3121-45C9-AE6F-CC9AF098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1145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B2D51-10AC-478E-A111-39E5AD49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8D9FED-CB60-4D65-9FC1-B6145DD4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145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Integração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DEC78-D4CB-49E9-B069-44EB025D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145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3CB82-E1F3-4284-A0C9-E8B03430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02A10-1B29-40C5-A718-80B9FD91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E2E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CF3BC-ED2C-4D70-8089-327BAF79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14550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B46574-CAD4-4874-B806-FF1281F0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A7E22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D6F2D5-0EB1-4E1E-ADBB-E25175BE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1145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Cobertura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A5BE5A-EA72-46B6-B7E3-8864F651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0525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E05252"/>
                </a:solidFill>
                <a:latin typeface="Aptos"/>
                <a:ea typeface="Aptos"/>
                <a:cs typeface="Aptos"/>
              </a:rPr>
              <a:t>Falhou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0FBBB-2B27-4752-B298-C17DA2BB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195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pipeline retorna erro e o merge fica bloqueado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D3689-FCEB-4123-825E-403A5F00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8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7E2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A7E22E"/>
                </a:solidFill>
                <a:latin typeface="Aptos"/>
                <a:ea typeface="Aptos"/>
                <a:cs typeface="Aptos"/>
              </a:rPr>
              <a:t>Passou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D94B0F-806B-466D-B43C-FF53BF0B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386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revisão e política da equipe autorizam a integração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A0F49E-5000-4236-8788-FAF97F4D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19709088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FF76C2-172D-4F1B-81C7-FBB00800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Laboratório GitFlow: feature até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FF6F3-1EA6-4975-991F-7CE2F53B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7F9C8-8073-4329-BFAD-26BE19AD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F1B95-6E3D-4C6B-9D41-8AFFB4C3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4EBAA-EA1D-4F1C-9268-3A339FE3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87DF8-4450-437C-8154-E8672AD0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287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Inicializar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F35C3-0F50-4DE6-83E3-B045CF2A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main + develop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70C97-E4E6-4A44-9A2E-A25D7F50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890D3-CF47-4225-9186-6B92E624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D526A-D498-4EB1-8B04-608CBE4D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050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109A2-A02D-4D87-97F3-B89BF835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050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feature/filtro-status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CDA40-A6F4-48F3-B528-5B39D03E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47BF2-5408-408E-8BAB-45EC82FF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C1802-44E4-42E9-B279-1EB4DE0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Integrar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AB142-9E35-4F67-BA8A-87B04101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813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merge --no-ff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8898E-FF70-4543-81FF-C943A859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3CE9E-7CB0-4112-A7EA-95977AFC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E4C470-B86A-4943-ABA6-FAB84D16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Conflito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4F437-8566-4825-A7EA-1B67681D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576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resolver e registrar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4AA39-07E9-4893-BB0E-8569D426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A7E22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CD4984-7F1A-4EAB-8E35-FE897535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6DB66-E466-48A0-8AC9-0E7A9BAC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0031F5-6D58-429D-851B-09081A75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339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536"/>
                </a:solidFill>
                <a:latin typeface="Aptos"/>
                <a:ea typeface="Aptos"/>
                <a:cs typeface="Aptos"/>
              </a:rPr>
              <a:t>release/1.0.0 + tag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21EC97-3CB8-4891-9B71-F02DBC93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Repositório local. Nenhuma conta externa necessária.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5EF5C-CA20-4223-AEE2-6B9700CF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12501485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7306FB-1B33-4687-B322-40B452EA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Conflito de merge: diagnóstico e resolução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BF2E0-5A7E-4442-A782-9D5B2834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77A44-D52E-4218-AB13-4343C1E7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17D2F-124B-4EC6-A338-C756921D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95300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C969A-7B76-45D0-B824-63450EE1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438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&lt;&lt;&lt;&lt;&lt;&lt;&lt; HEAD</a:t>
            </a:r>
          </a:p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# Catálogo DevOps</a:t>
            </a:r>
          </a:p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=======</a:t>
            </a:r>
          </a:p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# Tarefas</a:t>
            </a:r>
          </a:p>
          <a:p xmlns:a="http://schemas.openxmlformats.org/drawingml/2006/main">
            <a:pPr algn="l">
              <a:defRPr sz="1650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&gt;&gt;&gt;&gt;&gt;&gt;&gt; feature/titulo-curto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BE478-DDAE-4B32-86C6-DEDE0CB5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959B6-C539-44C0-B967-F997698B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28F5A-52DC-48EC-8DCF-B681CB93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git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61BD8-77B6-405A-9A80-FACFBFE6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912DB-AC19-45F6-AEED-0D17BBF7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412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27579-E6CE-4658-BA47-4E5C2811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editar o arquivo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3F7EA-4AB5-4FDF-B6EF-8BC6FB27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E72C3-8C45-4AC0-B87E-AA66046E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15390-1FA2-4EDB-9F2B-2730B0ED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remover marcadores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96747-2A7A-452B-847F-A883E6E2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FA02AB-7891-4104-A621-99959E34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24375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48052-5979-43DB-952D-57F7ECED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243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git add + commit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609AF-12E8-45DE-A192-B913B72F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0525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05252"/>
                </a:solidFill>
                <a:latin typeface="Aptos"/>
                <a:ea typeface="Aptos"/>
                <a:cs typeface="Aptos"/>
              </a:rPr>
              <a:t>Saída segura: git merge --abort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A65D9-7E6E-49C3-B984-0B6AA83C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14974522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35279F-BC13-47B4-A6E6-8C2DB6FA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Hotfix fecha o ciclo de manutenção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551BA-C1CB-4672-957D-DBA0F3B9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4D51F-EB88-4EA1-9467-2E13E7BA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50CC1-48EB-4BAF-95A4-38DCCDB4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2238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BDB3E-6768-4942-9FEE-1869FE8C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479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25FAD-BEF0-4B8D-BEC2-53E10545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860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v1.0.0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05A9C-AD57-4673-ABB9-E507A5DE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812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BE671-57A3-4CF9-A195-A15511AC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238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B4A75-90D4-4DB0-A702-FCEFECC6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479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hotfix/1.0.1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8C7BA-D5E3-4047-8CCB-33EC9D43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860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94F8E-E7C5-4A57-B10F-BF891121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3812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34AEF-8DFC-4CC8-8FA0-77705A23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2238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A7E22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4C5E2-B890-4E66-8BF5-9587B8E1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479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00283-0790-41BF-B1FF-4159D09A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860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tag v1.0.1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9AC59-3A29-4F9E-A09C-8E49E7E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812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2D691-DD73-4C82-A6C6-43B8628E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2238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CCDCB-9070-46F6-ACA7-A4D3302F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4790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develop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C3D48-1195-4261-B122-968FBB3C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86050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AFC"/>
                </a:solidFill>
                <a:latin typeface="Aptos"/>
                <a:ea typeface="Aptos"/>
                <a:cs typeface="Aptos"/>
              </a:rPr>
              <a:t>correção propagada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7AE98-0BE6-43A0-85E0-F98CA63A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C5C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0C5C7"/>
                </a:solidFill>
                <a:latin typeface="Aptos"/>
                <a:ea typeface="Aptos"/>
                <a:cs typeface="Aptos"/>
              </a:rPr>
              <a:t>Regra essencial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C7BB65-0E7C-4A94-98BE-6E765FA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7FAFC"/>
                </a:solidFill>
                <a:latin typeface="Aptos"/>
                <a:ea typeface="Aptos"/>
                <a:cs typeface="Aptos"/>
              </a:rPr>
              <a:t>a correção urgente nasce de main e retorna para develop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4FD49-D4AD-4179-906E-93812918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7331628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F2A2A9-2F00-43F9-907A-F607EEED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Checklist de 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E5D98-D326-45B5-A529-E7C5B87F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7B4DB-C15B-4010-816C-C8CFAD57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4A80C-FB86-406B-BE43-CA2C73EB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7E22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31F15-0B48-49E5-9B45-A2F2876F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09643-3A60-4F08-B7C7-135550B0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76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Explicar CALMS e as quatro métricas DORA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541BA1-B912-4F20-81BC-9A753451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7E22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73D84-207A-444B-84A2-AE22D4AF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FABCA-7CE9-4CF1-BA84-D432BE96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19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Distinguir CI, Delivery e Deployment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EDD9D-5B70-4EE9-9962-1BAFC9E6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7E2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8D0E5-4871-45BF-B686-1A52B382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00E27-95F0-458B-B3A4-C9F8B79D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62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Escolher feature, release ou hotfix corretamente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CED9F-2C30-4C56-AE1C-9483A17E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7E22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5B4DE5-9E06-44C8-BC9D-A8AE95D4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B3DAF-CE6A-4FC1-BAF5-3AAE2007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476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Relacionar cada camada da pirâmide ao seu custo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9BF54-7BDF-4A7C-958B-7F3987FB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7E22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00BC3-D900-436C-92D2-1E3EB661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33543-0224-4C93-BB46-CC38963E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19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B1F33"/>
                </a:solidFill>
                <a:latin typeface="Aptos"/>
                <a:ea typeface="Aptos"/>
                <a:cs typeface="Aptos"/>
              </a:rPr>
              <a:t>Executar conflito, release e hotfix no laboratório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55346-6F1A-493F-A702-707C490D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A7E22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C0AD58-48A7-4397-A6BC-3CEC5C06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0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9AF6C-76DB-48F1-A670-8F5F8381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62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Explicar por que um gate bloqueia o merge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415BB-89B1-4DFD-BF40-4C0B4426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3E8C4-35A8-451E-A2D2-0407A21B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77FF"/>
                </a:solidFill>
                <a:latin typeface="Aptos"/>
                <a:ea typeface="Aptos"/>
                <a:cs typeface="Aptos"/>
              </a:rPr>
              <a:t>Próximo passo: concluir o desafio feature/prioridade no notebook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1F1C1-AEBB-4864-A1D3-E0DEA831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2"/>
                </a:solidFill>
                <a:latin typeface="Aptos"/>
                <a:ea typeface="Aptos"/>
                <a:cs typeface="Aptos"/>
              </a:rPr>
              <a:t>Integração e Entrega Contínua — DevOps</a:t>
            </a:r>
          </a:p>
        </p:txBody>
      </p:sp>
    </p:spTree>
    <p:extLst>
      <p:ext uri="{BB962C8B-B14F-4D97-AF65-F5344CB8AC3E}">
        <p14:creationId xmlns:p14="http://schemas.microsoft.com/office/powerpoint/2010/main" val="1659967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2026-10-05T19:48:03.6700000Z</dcterms:created>
  <dcterms:modified xsi:type="dcterms:W3CDTF">2026-10-05T19:48:03.6710000Z</dcterms:modified>
</coreProperties>
</file>