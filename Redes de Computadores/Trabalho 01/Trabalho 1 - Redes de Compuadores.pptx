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do texto do título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pt-BR" sz="24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pt-BR" sz="21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24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Clique para editar o formato de texto dos tópicos</a:t>
            </a:r>
            <a:endParaRPr lang="pt-BR" sz="2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pt-BR" sz="21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2.º nível de tópicos</a:t>
            </a:r>
            <a:endParaRPr lang="pt-BR" sz="21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3.º nível de tópicos</a:t>
            </a:r>
            <a:endParaRPr lang="pt-BR" sz="18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4.º nível de tópicos</a:t>
            </a:r>
            <a:endParaRPr lang="pt-BR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5.º nível de tópicos</a:t>
            </a:r>
            <a:endParaRPr lang="pt-BR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6.º nível de tópicos</a:t>
            </a:r>
            <a:endParaRPr lang="pt-BR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7.º nível de tópicos</a:t>
            </a:r>
            <a:endParaRPr lang="pt-BR" sz="15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&lt;rodapé&gt;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0D18C44E-72E7-4FDA-8080-90F65B56D235}" type="slidenum"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79640" cy="377964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do texto do título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de texto dos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2.º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3.º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4.º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5.º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6.º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7.º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&lt;rodapé&gt;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E887918A-22CE-478B-AFC2-3D775FD85F69}" type="slidenum"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0079640" cy="377964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do texto do título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de texto dos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2.º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3.º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4.º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5.º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6.º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7.º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&lt;rodapé&gt;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EBE7BD18-2D3F-407A-8933-C7FF16E0211D}" type="slidenum"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pt-BR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"/>
          <p:cNvSpPr/>
          <p:nvPr/>
        </p:nvSpPr>
        <p:spPr>
          <a:xfrm>
            <a:off x="2520000" y="1350000"/>
            <a:ext cx="5039640" cy="188964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tIns="75600" rIns="120600" bIns="75600" anchor="ctr">
            <a:noAutofit/>
          </a:bodyPr>
          <a:p>
            <a:endParaRPr lang="pt-BR" sz="1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79640" cy="16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2700" b="1" u="none" strike="noStrike">
                <a:solidFill>
                  <a:srgbClr val="2C3E5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7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Clique para editar o formato do texto do título</a:t>
            </a:r>
            <a:endParaRPr lang="pt-BR" sz="27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299640" cy="16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  <a:def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0" algn="l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Clique para editar o formato de texto dos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indent="0" algn="l">
              <a:lnSpc>
                <a:spcPct val="100000"/>
              </a:lnSpc>
              <a:spcAft>
                <a:spcPts val="850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2.º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indent="0" algn="l">
              <a:lnSpc>
                <a:spcPct val="100000"/>
              </a:lnSpc>
              <a:spcAft>
                <a:spcPts val="63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3.º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indent="0" algn="l">
              <a:lnSpc>
                <a:spcPct val="100000"/>
              </a:lnSpc>
              <a:spcAft>
                <a:spcPts val="425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4.º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5.º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6.º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indent="0" algn="l">
              <a:lnSpc>
                <a:spcPct val="100000"/>
              </a:lnSpc>
              <a:spcAft>
                <a:spcPts val="213"/>
              </a:spcAft>
              <a:buNone/>
              <a:tabLst>
                <a:tab pos="0" algn="l"/>
              </a:tabLst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7.º nível de tópicos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0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&lt;rodapé&gt;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2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fld id="{0D5BC53A-D863-4D04-8EE6-ABA5EBB48F86}" type="slidenum"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1948320"/>
            <a:ext cx="9359640" cy="249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Protocolos de Controle de Fluxo em Camada de Enlace</a:t>
            </a:r>
            <a:br>
              <a:rPr sz="4800"/>
            </a:br>
            <a:endParaRPr lang="pt-BR" sz="48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60000" y="3914640"/>
            <a:ext cx="4859640" cy="148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Grupo 03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Caroline Espanha Simão – 0030482421028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Aft>
                <a:spcPts val="655"/>
              </a:spcAft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Matheus Henrique Roque Camargo - 0030482421008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40000" y="3915000"/>
            <a:ext cx="485964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Grupo 08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Nome – 0030482421000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Nome – 0030482421000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Nome - 0030482421000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Introdução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60000" y="144036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2400" b="1" u="none" strike="noStrike">
                <a:solidFill>
                  <a:srgbClr val="0563C1"/>
                </a:solidFill>
                <a:effectLst/>
                <a:uFillTx/>
                <a:latin typeface="Noto Sans"/>
              </a:rPr>
              <a:t>O que é a camada de enlace?</a:t>
            </a:r>
            <a:endParaRPr lang="pt-BR" sz="2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"/>
            </a:pPr>
            <a:r>
              <a:rPr lang="pt-BR" sz="16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Transferência confiável;</a:t>
            </a:r>
            <a:endParaRPr lang="pt-BR" sz="16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"/>
            </a:pPr>
            <a:r>
              <a:rPr lang="pt-BR" sz="16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Organização em Quadros;</a:t>
            </a:r>
            <a:endParaRPr lang="pt-BR" sz="16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"/>
            </a:pPr>
            <a:r>
              <a:rPr lang="pt-BR" sz="16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Detecção e correção de erros;</a:t>
            </a:r>
            <a:endParaRPr lang="pt-BR" sz="16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2400" b="1" u="none" strike="noStrike">
                <a:solidFill>
                  <a:srgbClr val="0563C1"/>
                </a:solidFill>
                <a:effectLst/>
                <a:uFillTx/>
                <a:latin typeface="Noto Sans"/>
              </a:rPr>
              <a:t>Pra que servem os protocolos de controle de fluxo?</a:t>
            </a:r>
            <a:endParaRPr lang="pt-BR" sz="24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"/>
            </a:pPr>
            <a:r>
              <a:rPr lang="pt-BR" sz="16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Velocidade de Transmissão;</a:t>
            </a:r>
            <a:endParaRPr lang="pt-BR" sz="16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"/>
            </a:pPr>
            <a:r>
              <a:rPr lang="pt-BR" sz="16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Evitar Sobrecarga;</a:t>
            </a:r>
            <a:endParaRPr lang="pt-BR" sz="1600" b="0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0F5A1-4725-440B-A6B9-0DBF8AC5E3C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Protocolo Stop-and-Wait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500" b="1" u="none" strike="noStrike">
                <a:solidFill>
                  <a:srgbClr val="2C3E50"/>
                </a:solidFill>
                <a:effectLst/>
                <a:uFillTx/>
                <a:latin typeface="Arial"/>
              </a:rPr>
              <a:t>O protocolo </a:t>
            </a:r>
            <a:r>
              <a:rPr lang="pt-BR" sz="1500" b="1" i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Stop and Wait </a:t>
            </a:r>
            <a:r>
              <a:rPr lang="pt-BR" sz="150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é um método onde o emissor envia um quadro (FRAME) e aguarda a confirmação (ACK) do receptor antes de enviar o próximo.</a:t>
            </a:r>
            <a:endParaRPr lang="pt-BR" sz="15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462600" y="2160000"/>
            <a:ext cx="3317040" cy="31215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9" name=""/>
          <p:cNvSpPr/>
          <p:nvPr/>
        </p:nvSpPr>
        <p:spPr>
          <a:xfrm>
            <a:off x="3960000" y="2274480"/>
            <a:ext cx="5759640" cy="301536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just">
              <a:lnSpc>
                <a:spcPct val="115000"/>
              </a:lnSpc>
            </a:pPr>
            <a:r>
              <a:rPr lang="pt-BR" sz="1800" b="0" u="none" strike="noStrike">
                <a:solidFill>
                  <a:srgbClr val="0369A3"/>
                </a:solidFill>
                <a:effectLst/>
                <a:uFillTx/>
                <a:latin typeface="Noto Sans"/>
              </a:rPr>
              <a:t>Vantagens: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Simplicidade: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Ele é o protocolo mais simples de se implementar;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Confiabilidade: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É ideal para links de pouca distância;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lang="pt-BR" sz="1800" b="0" u="none" strike="noStrike">
                <a:solidFill>
                  <a:srgbClr val="0369A3"/>
                </a:solidFill>
                <a:effectLst/>
                <a:uFillTx/>
                <a:latin typeface="Noto Sans"/>
              </a:rPr>
              <a:t>Desvantagens: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Ineficiência: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Performance lenta, especialmente em WANs (links de grande distância);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Pouca taxa de Transferência: 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O tempo do link inteiro é usado para apenas 1 frame, assim trazendo delay de propagação;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98C2E-EC12-499A-94FC-A3CD7F03865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Protocolo Sliding Window</a:t>
            </a:r>
            <a:endParaRPr lang="pt-BR" sz="32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6200" y="124344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pt-BR" sz="1500" b="1" u="none" strike="noStrike">
                <a:solidFill>
                  <a:srgbClr val="2C3E50"/>
                </a:solidFill>
                <a:effectLst/>
                <a:uFillTx/>
                <a:latin typeface="Arial"/>
              </a:rPr>
              <a:t>O Protocolo Sliding Window Protocol é um método utilizado para controle de fluxo e erros, permitindo a transmissão de múltiplos quadros (FRAMES) sequenciais antes de receber confirmação (ACK).</a:t>
            </a:r>
            <a:endParaRPr lang="pt-BR" sz="1500" b="1" u="none" strike="noStrik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3960000" y="2166480"/>
            <a:ext cx="5939640" cy="347652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just">
              <a:lnSpc>
                <a:spcPct val="115000"/>
              </a:lnSpc>
            </a:pPr>
            <a:r>
              <a:rPr lang="pt-BR" sz="1800" b="0" u="none" strike="noStrike">
                <a:solidFill>
                  <a:srgbClr val="0369A3"/>
                </a:solidFill>
                <a:effectLst/>
                <a:uFillTx/>
                <a:latin typeface="Noto Sans"/>
              </a:rPr>
              <a:t>Vantagens: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Eficiência: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Taxa de Transferência um pouco maior que o Stop-and-Wait, especialmente em WANs ou redes com muita latência;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Controle de Fluxo: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Previne que o emissor sobrecarregue o receptor limitando o número de packets enviados;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</a:pPr>
            <a:r>
              <a:rPr lang="pt-BR" sz="1800" b="0" u="none" strike="noStrike">
                <a:solidFill>
                  <a:srgbClr val="0369A3"/>
                </a:solidFill>
                <a:effectLst/>
                <a:uFillTx/>
                <a:latin typeface="Noto Sans"/>
              </a:rPr>
              <a:t>Desvantagens: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Complexidade: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 É mais complexo de implementar e projetar que os protocolos mais simples;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1C99E0"/>
                </a:solidFill>
                <a:effectLst/>
                <a:uFillTx/>
                <a:latin typeface="Noto Sans"/>
              </a:rPr>
              <a:t>Dependência da Sequência de Números: </a:t>
            </a:r>
            <a:r>
              <a:rPr lang="pt-BR" sz="14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É limitado pelo tamanho da sequência de números, assim definindo o tamanho maximo da janela;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02600" y="2326320"/>
            <a:ext cx="3857040" cy="30733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6FE66-5210-4BD7-AC8C-75228E418EF2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2026-03-24T18:36:52Z</dcterms:created>
  <dc:creator/>
  <dc:description>This work is licensed under a Creative Commons 0 License.
It makes use of the works of Jun NOGATA.</dc:description>
  <dc:language>pt-BR</dc:language>
  <cp:lastModifiedBy/>
  <dcterms:modified xsi:type="dcterms:W3CDTF">2026-03-25T08:43:20Z</dcterms:modified>
  <cp:revision>3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