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defRPr sz="1800" b="1">
                <a:solidFill>
                  <a:srgbClr val="059669"/>
                </a:solidFill>
                <a:latin typeface="Calibri"/>
              </a:defRPr>
            </a:pPr>
            <a:r>
              <a:t>GOVERNANÇA DE TI • OFICINA PRÁTICA PDGTI</a:t>
            </a:r>
          </a:p>
          <a:p>
            <a:pPr>
              <a:spcBef>
                <a:spcPts val="1400"/>
              </a:spcBef>
              <a:defRPr sz="3600" b="1">
                <a:solidFill>
                  <a:srgbClr val="4F46E5"/>
                </a:solidFill>
                <a:latin typeface="Calibri"/>
              </a:defRPr>
            </a:pPr>
            <a:r>
              <a:t>Aula 2: Escolha da Empresa &amp; Capítulo 1 do PDGTI</a:t>
            </a:r>
          </a:p>
          <a:p>
            <a:pPr>
              <a:spcBef>
                <a:spcPts val="14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Formação de Duplas • Caracterização da Empresa • Matriz de McFarlan</a:t>
            </a:r>
          </a:p>
          <a:p>
            <a:pPr>
              <a:spcBef>
                <a:spcPts val="3000"/>
              </a:spcBef>
              <a:defRPr sz="2200" b="1">
                <a:solidFill>
                  <a:srgbClr val="0284C7"/>
                </a:solidFill>
                <a:latin typeface="Calibri"/>
              </a:defRPr>
            </a:pPr>
            <a:r>
              <a:t>Oficina em Sala (50 min) | Sexta-feira (07/Ago)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AULA 2 • SEXTA-FEIRA (07/AGO)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Objetivos da Oficina &amp; Cronograma da Aula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🎯 Objetivos Práticos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Formar as duplas de consultoria de Governança de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Selecionar e validar a empresa-alvo do projeto PDGTI.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Entender a estrutura necessária para o Capítulo 1.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Concluir o rascunho inicial da caracterização durante a aula.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⏱️ Roteiro da Oficina (50 min)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10 min: Orientações &amp; Critérios de escolha da empresa.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25 min: Mão na massa (Trabalho em dupla no Capítulo 1).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15 min: Validação individual das empresas com o professor.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2 • ORGANIZAÇÃO DOS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Formação das Duplas &amp; Atuação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👥 Regras de Formação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Trabalho elaborado preferencialmente em DUPLAS.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Permite divisão de papéis (Visão de Negócio vs Visão de TI).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Opção individual permitida mediante alinhamento.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💼 Papel dos Consultores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Vocês atuam como Consultores Seniores de Governança.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 cliente é a empresa escolhida para o PDGTI.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Todas as decisões técnicas devem ser justificadas no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Calibri"/>
              </a:defRPr>
            </a:pPr>
            <a:r>
              <a:t>AULA 2 • ESCOLHA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Critérios para Escolha da Empresa-Alvo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t>🏢 Opção A: Empresa Real (Recomendada)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Empresa de um dos alunos, familiar ou conhecida.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Vantagem: Acesso a dados reais e problemas autênticos.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Porte recomendado: PME ou grande empresa com uso de 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🏢 Opção B: Cenário Fictício Estruturado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Cenário empresarial realista previamente validado.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Vantagem: Facilidade caso não haja acesso a uma empresa real.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Exigência: Modelo de negócio e infraestrutura bem definidos.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2 • ESTRUTURA DO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Estrutura do Capítulo 1 do PDGTI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📄 Propósito do Capítulo 1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Caracterizar a Organização e sua Estrutura Atual de 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Criar a base de contexto que fundamentará todo o PDGTI.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Sem entender o negócio, é impossível governar a TI!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📌 As 3 Seções Obrigatórias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1.1 Caracterização Geral da Organização (Negócio).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1.2 Estrutura e Recursos Atuais de TI (Tecnologia).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1.3 Posicionamento Estratégico da TI (Matriz de Impacto).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AULA 2 • DETALHAMENTO SEÇÃO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Seção 1.1: Caracterização do Negócio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🏢 Dados Gerais da Empresa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Razão Social / Nome Fantasia e Ramo de Atuação.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Porte da Empresa (Micro, Pequena, Média ou Grande).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Número de colaboradores e filiais (se houver).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🎯 Missão &amp; Processos Vitais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Missão, Visão e Valores corporativos.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Quais são os principais processos que geram receita?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Exemplo: Vendas e-commerce, logística de entrega, atendimento.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2 • DETALHAMENTO SEÇÃO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Seção 1.2: Estrutura Atual de 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👨‍💻 Pessoas &amp; Organograma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Tamanho da equipe interna de TI (Devs, Suporte, Redes).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Serviços terceirizados (Outsourcing, Consultorias).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Quem toma as decisões de TI na empresa atualmente?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💻 Infraestrutura &amp; Recursos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Servidores: On-Premises (locais) ou Nuvem (AWS/Azure/GCP)?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Rede, conectividade e segurança da informação.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Equipamentos e estações de trabalho dos usuários.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Calibri"/>
              </a:defRPr>
            </a:pPr>
            <a:r>
              <a:t>AULA 2 • MAPEAMENTO DE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Mapeamento do Portfólio de Aplicações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t>🧩 Sistemas Críticos do Negócio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Sistemas de Gestão (ERP, CRM, WMS, RH).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Bancos de dados e ferramentas de Business Intelligence.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Sistemas proprietários ou desenvolvidos internamente.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⚠️ Problemas &amp; Dores Identificadas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Sistemas legados sem suporte ou atualização.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Falta de integração entre os sistemas dos departamentos.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Ocorrência de instabilidades ou paradas não planejadas.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AULA 2 • FERRAMENTA DE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Matriz de Impacto de TI (McFarlan)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📊 Os 4 Quadrantes da Matriz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1. Suporte: TI útil, mas não crítica para a operação diária.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2. Fábrica: Operação depende da TI, mas sem inovação futura.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3. Virada: TI em transformação para virar estratégica.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4. Estratégica: Operação e futuro dependem 100% da 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284C7"/>
                </a:solidFill>
                <a:latin typeface="Calibri"/>
              </a:defRPr>
            </a:pPr>
            <a:r>
              <a:t>🎯 Aplicação no Capítulo 1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Classificar em qual quadrante a empresa escolhida se encontra.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Justificar tecnicamente o porquê dessa classificação.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Essa análise orientará as decisões dos capítulos seguintes!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AULA 2 • 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Trabalho em Sala: Elaboração do Rascunho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📝 Checklist dos 25 Minutos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Passo 1: Definir a empresa e alinhar com a dupla.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Passo 2: Preencher os dados de caracterização do negócio.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Passo 3: Listar a infraestrutura e os sistemas principais.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Passo 4: Posicionar a empresa na Matriz de McFarlan.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🙋 Mentoria do Professor em Sala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 professor circulará entre os grupos para tirar dúvidas.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Aprovação imediata da empresa escolhida.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Orientações personalizadas para cada grupo.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AULA 2 •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Calibri"/>
              </a:defRPr>
            </a:pPr>
            <a:r>
              <a:t>Fechamento da Aula &amp; Metas para a Semana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✅ Entregável de Hoje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Rascunho inicial do Capítulo 1 salvo no Caderno Interativo.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Empresa e dupla devidamente registradas com o professor.</a:t>
            </a:r>
          </a:p>
          <a:p>
            <a:pPr>
              <a:spcBef>
                <a:spcPts val="800"/>
              </a:spcBef>
              <a:defRPr sz="2400">
                <a:solidFill>
                  <a:srgbClr val="0F172A"/>
                </a:solidFill>
                <a:latin typeface="Calibri"/>
              </a:defRPr>
            </a:pPr>
            <a:r>
              <a:t>• Primeira etapa da consultoria concluída com sucesso!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2600" b="1">
                <a:solidFill>
                  <a:srgbClr val="4F46E5"/>
                </a:solidFill>
                <a:latin typeface="Calibri"/>
              </a:defRPr>
            </a:pPr>
            <a:r>
              <a:t>🚀 Na Próxima Semana (Semana 2)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Quarta-feira (12/Ago): Governança Corporativa, SOX &amp; Compliance.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Sexta-feira (14/Ago): Construção do Capítulo 2 (Diagnóstico de TI).</a:t>
            </a:r>
          </a:p>
          <a:p>
            <a:pPr>
              <a:spcBef>
                <a:spcPts val="800"/>
              </a:spcBef>
              <a:defRPr sz="2400">
                <a:solidFill>
                  <a:srgbClr val="334155"/>
                </a:solidFill>
                <a:latin typeface="Calibri"/>
              </a:defRPr>
            </a:pPr>
            <a:r>
              <a:t>• Bom trabalho a todas as equipes de consultoria!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