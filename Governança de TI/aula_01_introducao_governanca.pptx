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defRPr sz="1800" b="1">
                <a:solidFill>
                  <a:srgbClr val="0284C7"/>
                </a:solidFill>
                <a:latin typeface="Calibri"/>
              </a:defRPr>
            </a:pPr>
            <a:r>
              <a:t>GOVERNANÇA DE TI • UNIDADE CURRICULAR ELETIVA</a:t>
            </a:r>
          </a:p>
          <a:p>
            <a:pPr>
              <a:spcBef>
                <a:spcPts val="1400"/>
              </a:spcBef>
              <a:defRPr sz="3600" b="1">
                <a:solidFill>
                  <a:srgbClr val="4F46E5"/>
                </a:solidFill>
                <a:latin typeface="Calibri"/>
              </a:defRPr>
            </a:pPr>
            <a:r>
              <a:t>Aula 1: Fundamentos da Governança de TI &amp; O Projeto PDGTI</a:t>
            </a:r>
          </a:p>
          <a:p>
            <a:pPr>
              <a:spcBef>
                <a:spcPts val="14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Governança vs. Gestão • Os 5 Pilares de Valor • Metodologia PBL</a:t>
            </a:r>
          </a:p>
          <a:p>
            <a:pPr>
              <a:spcBef>
                <a:spcPts val="3000"/>
              </a:spcBef>
              <a:defRPr sz="2200" b="1">
                <a:solidFill>
                  <a:srgbClr val="059669"/>
                </a:solidFill>
                <a:latin typeface="Calibri"/>
              </a:defRPr>
            </a:pPr>
            <a:r>
              <a:t>Encontro Síncrono (50 min) | Quarta-feira (05/Ago)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AULA 1 • QUARTA-FEIRA (05/AGO)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Objetivos de Aprendizagem &amp; Agenda da Aula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🎯 Objetivos da Aula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Compreender a Governança de TI como direcionador de valor.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Diferenciar de forma inequívoca Governança de Gestão.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Entender os 5 Pilares Fundamentais de valor para a empresa.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Conhecer a metodologia PBL e a estrutura do produto PDGTI.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⏱️ Agenda dos 50 Minutos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15 min: Problematização (Caso real de desalinhamento de TI).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20 min: Exposição Dialogada (Governança vs Gestão / 5 Pilares).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15 min: Apresentação do PDGTI e Sistema de Avaliação.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Calibri"/>
              </a:defRPr>
            </a:pPr>
            <a:r>
              <a:t>AULA 1 • PROBLEMATIZAÇÃO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Por que Grandes Investimentos em TI Falham?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t>❌ Sintomas do Desalinhamento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Sistemas milionários contratados que ninguém utiliza.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TI vista apenas como 'centro de custo' ou 'apaga-incêndios'.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Projetos entregues fora do prazo, do orçamento e sem valor.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Diretoria e TI falando 'línguas totalmente diferentes'.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❓ A Pergunta Central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Por que ter a tecnologia mais moderna do mercado não garante o sucesso da empresa?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Resposta: Falta de Governança de TI!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 tecnologia sem direcionamento estratégico gera desperdício.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1 • CONCEITO FUNDAMENTAL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 que é Governança de TI?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📘 Definição Formal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Conjunto de estruturas, políticas e processos para dirigir e controlar a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Garante que a TI suporte e alavanque as estratégias do negócio.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Não é um projeto com fim, mas um sistema contínuo de direcionamento.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💡 Na Prática Significa...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Tomar as decisões certas sobre onde investir recursos de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Garantir a proteção dos dados e a continuidade das operações.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Prestar contas dos resultados gerados para o Conselho/Diretoria.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AULA 1 • COMPARATIVO ESSENCIAL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Governança de TI vs. Gestão de 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🏛️ Governança de TI (EDM)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Foco: O QUÊ fazer e POR QUÊ.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Responsáveis: Conselho, Diretoria Executiva, CIO.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Modelo EDM: Avaliar (Evaluate), Dirigir (Direct), Monitorar (Monitor).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Objetivo: Estratégia e valor para o negócio.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⚙️ Gestão de TI (PBRM)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Foco: COMO fazer e QUANDO.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Responsáveis: Gerentes de TI, Coordenadores, Operação.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Modelo PBRM: Planejar, Construir, Executar e Monitorar.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Objetivo: Eficiência operacional e entrega de serviços.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1 • ESTRUTURA DE SUSTENTAÇÃO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Os 5 Pilares Fundamentais da Governança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🏛️ Pilares 1, 2 e 3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1. Alinhamento Estratégico: TI integrada aos planos do negócio.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2. Entrega de Valor: Benefícios reais acima dos custos de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3. Gestão de Riscos: Mitigação de ameaças e continuidade das operações.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⚙️ Pilares 4 e 5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4. Gestão de Recursos: Otimização de pessoas, infra e software.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5. Mensuração do Desempenho: Acompanhamento rigoroso por KPIs.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Todos os 5 pilares trabalham juntos de forma integrada!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AULA 1 • FOCO EM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Alinhamento Estratégico &amp; Entrega de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🎯 Alinhamento Estratégico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 TI deixa de ser 'fornecedora reativa' e passa a ser 'parceira estratégica'.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Cada projeto de TI deve ter um objetivo de negócio correspondente.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Ferramentas: PETI, Mapa Estratégico e BSC de 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💰 Entrega de Valor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Valor = (Benefícios do Negócio) ÷ (Custos + Riscos).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Garantir a execução dos investimentos dentro do orçamento.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Comprovar o ROI (Retorno sobre Investimento) das soluções.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Calibri"/>
              </a:defRPr>
            </a:pPr>
            <a:r>
              <a:t>AULA 1 • GESTÃO &amp;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Riscos, Recursos &amp; Mensuração do Desempenho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t>🛡️ Gestão de Riscos &amp; Compliance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Mapeamento de vulnerabilidades e ameaças cibernéticas.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Conformidade regulatória (LGPD, SOX, ISO 27001).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Planos de Continuidade de Negócios (PCN) e Disaster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📊 Recursos &amp; Desempenho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Gestão eficiente de talentos, nuvem, servidores e licenças.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Uso de indicadores chave (KPIs de TI e KPIs de Negócio).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 que não se mede, não se governa!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AULA 1 • METODOLOGIA DA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Aprendizagem Baseada em Problemas (PBL)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🧩 Metodologia PBL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 teoria estudada nas quartas-feiras é aplicada imediatamente.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Os estudantes atuam no papel de Consultores de Governança de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Aprendizado prático, ativo e voltado ao mercado profissional.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📄 O Produto Final: PDGTI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Plano Diretor de Governança de TI (PDGTI).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Elaborado em duplas (ou individualmente) ao longo do semestre.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Artefato de portfólio real pronto para entrega a uma organização.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1 • REGRAS &amp;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Estrutura do PDGTI &amp; Avaliações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📋 9 Capítulos do PDGTI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Cap 1-4: Caracterização, Diagnóstico, Estratégia e Estrutura.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Cap 5-9: KPIs, Riscos, Frameworks, Qualidade e Roadmap.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Entrega Parcial 1 na Semana 5 | Entrega Final na Semana 11/17.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📊 Distribuição das Notas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55% Avaliação Docente (Prova 1: 40%, Prova 2: 40%, PDGTI: 20%).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35% Projeto Integrador Interdisciplinar (PII).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10% Autoavaliação do Estudante.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AULA 1 • FECHAMENTO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Síntese &amp; Próximos Passos (Aula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✅ O que Aprendemos Hoje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Governança alinha TI ao negócio e gera valor real.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Governança decide/avalia (EDM); Gestão executa (PBRM).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 PDGTI será construído aula a aula com mentoria em sala.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🚀 Próximo Encontro (Sexta 07/Ago)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Oficina Prática de 50 min em sala de aula.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Formação das duplas de consultoria.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Escolha da empresa-alvo e início do Capítulo 1 do PDGTI.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