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E9716D-51D7-4618-8149-D6B98208CDEC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679E75-B33A-48DA-86AB-A66356C4BF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5943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679E75-B33A-48DA-86AB-A66356C4BFAC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3918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60709650-8DD6-1FFE-885B-AFCD817739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" y="0"/>
            <a:ext cx="12189015" cy="685800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FB1BDCD4-FC40-087D-140C-E9D81F02A24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" y="0"/>
            <a:ext cx="12190756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5F4DCD2-F444-3A66-99ED-4FAB23934D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21857"/>
            <a:ext cx="9144000" cy="1102895"/>
          </a:xfrm>
        </p:spPr>
        <p:txBody>
          <a:bodyPr anchor="b"/>
          <a:lstStyle>
            <a:lvl1pPr algn="ctr">
              <a:defRPr sz="6000" b="0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41C83EA-BA64-340F-D803-B6EBB7A7FB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4904"/>
            <a:ext cx="9144000" cy="110289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619237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19">
            <a:extLst>
              <a:ext uri="{FF2B5EF4-FFF2-40B4-BE49-F238E27FC236}">
                <a16:creationId xmlns:a16="http://schemas.microsoft.com/office/drawing/2014/main" id="{B5044173-00A7-A802-BA2E-1FD573654E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1783" y="5590502"/>
            <a:ext cx="3068432" cy="787150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8AD76BD2-FAFF-B2F6-EAE2-0E9BCC6D45CF}"/>
              </a:ext>
            </a:extLst>
          </p:cNvPr>
          <p:cNvSpPr/>
          <p:nvPr userDrawn="1"/>
        </p:nvSpPr>
        <p:spPr>
          <a:xfrm>
            <a:off x="0" y="0"/>
            <a:ext cx="12192000" cy="214144"/>
          </a:xfrm>
          <a:prstGeom prst="rect">
            <a:avLst/>
          </a:prstGeom>
          <a:solidFill>
            <a:srgbClr val="F100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F530592-D8C5-5A75-CC56-1B35AD369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707" y="500062"/>
            <a:ext cx="10515600" cy="1325563"/>
          </a:xfrm>
        </p:spPr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77A21AD-B6EE-114E-68B6-A22D35575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514840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B1C0BE5-AA00-5860-48D4-B346356B98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92" y="0"/>
            <a:ext cx="12189014" cy="685799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E011D31-69C2-A704-192F-74259608FF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1783" y="5590502"/>
            <a:ext cx="3068432" cy="78715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B5547523-8968-8A3B-5E47-A6BFB2833F55}"/>
              </a:ext>
            </a:extLst>
          </p:cNvPr>
          <p:cNvSpPr/>
          <p:nvPr userDrawn="1"/>
        </p:nvSpPr>
        <p:spPr>
          <a:xfrm>
            <a:off x="0" y="0"/>
            <a:ext cx="12192000" cy="214144"/>
          </a:xfrm>
          <a:prstGeom prst="rect">
            <a:avLst/>
          </a:prstGeom>
          <a:solidFill>
            <a:srgbClr val="F100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F530592-D8C5-5A75-CC56-1B35AD369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707" y="500062"/>
            <a:ext cx="10515600" cy="1325563"/>
          </a:xfrm>
        </p:spPr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77A21AD-B6EE-114E-68B6-A22D35575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703406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B13C17-DEC3-6975-EF3A-27AD7D319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4D46461-B7CB-764E-5BB9-B018258D23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84C698-6663-40FF-1D29-ABD8198CBB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5B40B8-1D5E-47F5-B7C9-D9029EB1CB8A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D6B9A54-7E98-D0A4-1C41-FBC0E7DE0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EE3BB3E-9DAB-C1FF-D483-7DCF9D446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7EACC57-C48F-4F20-8878-626D3D7E1B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6252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E1816F-9846-8D53-19F8-27EF6A27E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B1335B7-AE25-0D3D-2EB0-5F8069A850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461806B-FB7A-5099-EEAF-FB3B29BCA1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30B2B84-E7F7-6461-F3B7-B45EE49E32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5B40B8-1D5E-47F5-B7C9-D9029EB1CB8A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B692B5D-E0BD-7B8D-067D-308EA0143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04DA169-934C-3BE6-1FE2-57FA6259D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7EACC57-C48F-4F20-8878-626D3D7E1B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98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DE35E9-4156-C920-4EFD-F300E6898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9F9CAFE-E75E-AA25-8DC0-EBA0DB84A8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0E6F474-7B95-8CF6-5C74-F2AFE3151B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17B1140-FA0D-2D4D-1624-330B3C246B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EA1972C-DD42-3297-5E87-F14E1C95C5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6837C5A-FD43-2D6C-3760-A623C4EFDD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5B40B8-1D5E-47F5-B7C9-D9029EB1CB8A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B6DF31E-80E2-2858-A317-EA4F72FD9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58DD80-0458-CDC9-856A-6C1C286B0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7EACC57-C48F-4F20-8878-626D3D7E1B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1302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2498F4-1484-96A9-BC81-8904C27C7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03010FD-88EE-D950-3168-8446A4BC4C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5B40B8-1D5E-47F5-B7C9-D9029EB1CB8A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47DDC46-C6FC-977D-995D-364075A4F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7CDA1AA-5BF3-F9ED-8779-C9A2293A5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7EACC57-C48F-4F20-8878-626D3D7E1B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9537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466ADDB7-5E27-666C-7C67-4667268576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92" y="1119"/>
            <a:ext cx="12189014" cy="685576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D33619A-5E58-CB3A-F72B-6B62BF3BA2D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4913" y="3117720"/>
            <a:ext cx="4457087" cy="1143384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534A342C-67DB-3B60-4B50-DA6CBFDFB841}"/>
              </a:ext>
            </a:extLst>
          </p:cNvPr>
          <p:cNvSpPr/>
          <p:nvPr userDrawn="1"/>
        </p:nvSpPr>
        <p:spPr>
          <a:xfrm>
            <a:off x="0" y="0"/>
            <a:ext cx="12192000" cy="214144"/>
          </a:xfrm>
          <a:prstGeom prst="rect">
            <a:avLst/>
          </a:prstGeom>
          <a:solidFill>
            <a:srgbClr val="F100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1893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99FE78-2CC0-5E06-5762-B789501F5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A8209F-CE73-B78D-9F4F-92CD40DF6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24EDD9F-3AC2-487B-956F-B0E3820C58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59EA61E-5830-2A8E-1014-9953851E1B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5B40B8-1D5E-47F5-B7C9-D9029EB1CB8A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1C280A-7B38-9786-B184-80EFCEBC9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BDD2AAF-2CC7-7B49-FB1D-9C1EEB9F5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7EACC57-C48F-4F20-8878-626D3D7E1B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294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EB1FEA-7680-6589-0254-F96C74179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A91BAD4-971E-0F17-3C75-D04061F2D2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AA8AFFC-907B-F49C-8B03-46E7850DF0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E3AAB40-E465-76D5-CBAD-6E5B4CEE15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5B40B8-1D5E-47F5-B7C9-D9029EB1CB8A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9ACC855-45E4-EDA0-F653-A567DCDAA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370EF71-AB8E-013E-D0CA-65859133F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7EACC57-C48F-4F20-8878-626D3D7E1B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4766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35ACFF-BB08-D74B-F8C8-89BE1AB88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B93D39D-0E8F-EAAB-E993-F61C982C40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A2A86A-94B1-8860-21C0-5170376687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5B40B8-1D5E-47F5-B7C9-D9029EB1CB8A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A49E374-8FB6-0774-0DA4-E412688CC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8CF71F-5F4C-07D0-7B39-7BCA7908D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7EACC57-C48F-4F20-8878-626D3D7E1B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66256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201C1C8-A578-ED6A-DADF-676B99638D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72EA0C8-81FD-73C7-A5E8-DA1E2960EC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A330277-5319-A635-4948-3EAC08CF21C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5B40B8-1D5E-47F5-B7C9-D9029EB1CB8A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01ABF99-6C9F-2CF0-B101-62F0F9EEB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FF6DDDE-0FE5-016A-E1F7-B668CA273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7EACC57-C48F-4F20-8878-626D3D7E1B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3289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B9588DD7-55F2-7C7E-8480-1F868831122D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92" y="0"/>
            <a:ext cx="12189014" cy="6857999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6FE8EBBC-320C-693F-E2B2-64571F5948CC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1783" y="5590502"/>
            <a:ext cx="3068432" cy="787150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5B243A1E-5775-10F9-E1D0-54E65D591038}"/>
              </a:ext>
            </a:extLst>
          </p:cNvPr>
          <p:cNvSpPr/>
          <p:nvPr userDrawn="1"/>
        </p:nvSpPr>
        <p:spPr>
          <a:xfrm>
            <a:off x="0" y="0"/>
            <a:ext cx="12192000" cy="214144"/>
          </a:xfrm>
          <a:prstGeom prst="rect">
            <a:avLst/>
          </a:prstGeom>
          <a:solidFill>
            <a:srgbClr val="F100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CD03860-9E8F-359C-255B-CA7A90477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B511808-2B59-44B5-7ABC-60C351806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97083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2D69E87-F970-0AE1-5A9D-7F255FC173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 algn="l">
              <a:defRPr sz="3200">
                <a:latin typeface="Arial"/>
              </a:defRPr>
            </a:pPr>
            <a:r>
              <a:rPr sz="3200" b="1">
                <a:solidFill>
                  <a:srgbClr val="0B2545"/>
                </a:solidFill>
                <a:latin typeface="Arial"/>
              </a:rPr>
              <a:t>Governança Corporativa, SOX,
Compliance e Ética</a:t>
            </a:r>
            <a:endParaRPr lang="pt-BR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5297F4FA-6843-71C6-D5B0-DBF82B4672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l">
              <a:defRPr sz="2000">
                <a:latin typeface="Arial"/>
              </a:defRPr>
            </a:pPr>
            <a:r>
              <a:rPr sz="2000" b="1">
                <a:solidFill>
                  <a:srgbClr val="C8102E"/>
                </a:solidFill>
                <a:latin typeface="Arial"/>
              </a:rPr>
              <a:t>Unidade Curricular: Governança de TI • SENAI</a:t>
            </a:r>
            <a:endParaRPr lang="pt-BR"/>
          </a:p>
          <a:p>
            <a:pPr algn="l">
              <a:defRPr sz="1600">
                <a:latin typeface="Arial"/>
              </a:defRPr>
            </a:pPr>
            <a:r>
              <a:rPr sz="1600" b="0">
                <a:solidFill>
                  <a:srgbClr val="475569"/>
                </a:solidFill>
                <a:latin typeface="Arial"/>
              </a:rPr>
              <a:t>Fundamentos Estratégicos, Controles Internos (ITGC), Conformidade &amp; Integridade</a:t>
            </a:r>
          </a:p>
        </p:txBody>
      </p:sp>
    </p:spTree>
    <p:extLst>
      <p:ext uri="{BB962C8B-B14F-4D97-AF65-F5344CB8AC3E}">
        <p14:creationId xmlns:p14="http://schemas.microsoft.com/office/powerpoint/2010/main" val="3902268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>
                <a:latin typeface="Arial"/>
              </a:defRPr>
            </a:pPr>
            <a:r>
              <a:rPr sz="1600" b="1">
                <a:solidFill>
                  <a:srgbClr val="C8102E"/>
                </a:solidFill>
                <a:latin typeface="Arial"/>
              </a:rPr>
              <a:t>VISÃO GERAL &amp; AGENDA DA AULA</a:t>
            </a:r>
          </a:p>
          <a:p>
            <a:pPr>
              <a:defRPr sz="2600">
                <a:latin typeface="Arial"/>
              </a:defRPr>
            </a:pPr>
            <a:r>
              <a:rPr sz="2600" b="1">
                <a:solidFill>
                  <a:srgbClr val="0B2545"/>
                </a:solidFill>
                <a:latin typeface="Arial"/>
              </a:rPr>
              <a:t>Os 4 Eixos da Integridade &amp; Direcionamento Organizacional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71270"/>
            <a:ext cx="5230368" cy="2212848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201168" rtlCol="0" anchor="t"/>
          <a:lstStyle/>
          <a:p>
            <a:pPr algn="ctr">
              <a:spcAft>
                <a:spcPts val="1200"/>
              </a:spcAft>
              <a:defRPr sz="2000">
                <a:latin typeface="Arial"/>
              </a:defRPr>
            </a:pPr>
            <a:r>
              <a:rPr b="1" dirty="0">
                <a:solidFill>
                  <a:srgbClr val="1E3A8A"/>
                </a:solidFill>
                <a:latin typeface="Arial"/>
              </a:rPr>
              <a:t>🏛️ </a:t>
            </a:r>
            <a:r>
              <a:rPr b="1" dirty="0" err="1">
                <a:solidFill>
                  <a:srgbClr val="1E3A8A"/>
                </a:solidFill>
                <a:latin typeface="Arial"/>
              </a:rPr>
              <a:t>Governança</a:t>
            </a:r>
            <a:r>
              <a:rPr b="1" dirty="0">
                <a:solidFill>
                  <a:srgbClr val="1E3A8A"/>
                </a:solidFill>
                <a:latin typeface="Arial"/>
              </a:rPr>
              <a:t> </a:t>
            </a:r>
            <a:r>
              <a:rPr b="1" dirty="0" err="1">
                <a:solidFill>
                  <a:srgbClr val="1E3A8A"/>
                </a:solidFill>
                <a:latin typeface="Arial"/>
              </a:rPr>
              <a:t>Corporativa</a:t>
            </a:r>
            <a:endParaRPr b="1" dirty="0">
              <a:solidFill>
                <a:srgbClr val="1E3A8A"/>
              </a:solidFill>
              <a:latin typeface="Arial"/>
            </a:endParaRPr>
          </a:p>
          <a:p>
            <a:pPr>
              <a:spcAft>
                <a:spcPts val="400"/>
              </a:spcAft>
              <a:defRPr sz="1600">
                <a:latin typeface="Arial"/>
              </a:defRPr>
            </a:pPr>
            <a:r>
              <a:rPr sz="1400" b="1" dirty="0">
                <a:solidFill>
                  <a:srgbClr val="1E293B"/>
                </a:solidFill>
                <a:latin typeface="Arial"/>
              </a:rPr>
              <a:t>•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Conceito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 &amp;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Propósito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: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Separação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entre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propriedade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gestão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, Teoria da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Agência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proteção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dos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sócios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.</a:t>
            </a:r>
          </a:p>
          <a:p>
            <a:pPr>
              <a:spcAft>
                <a:spcPts val="400"/>
              </a:spcAft>
              <a:defRPr sz="1600">
                <a:latin typeface="Arial"/>
              </a:defRPr>
            </a:pPr>
            <a:r>
              <a:rPr sz="1400" b="1" dirty="0">
                <a:solidFill>
                  <a:srgbClr val="1E293B"/>
                </a:solidFill>
                <a:latin typeface="Arial"/>
              </a:rPr>
              <a:t>• Pri</a:t>
            </a:r>
            <a:r>
              <a:rPr lang="pt-BR" sz="1400" b="1" dirty="0">
                <a:solidFill>
                  <a:srgbClr val="1E293B"/>
                </a:solidFill>
                <a:latin typeface="Arial"/>
              </a:rPr>
              <a:t>n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cípios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 IBGC: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Transparência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Equidade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Prestação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de Contas (Accountability) 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Responsabilidade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27064" y="1691640"/>
            <a:ext cx="5230368" cy="2212848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201168" rtlCol="0" anchor="t"/>
          <a:lstStyle/>
          <a:p>
            <a:pPr algn="ctr">
              <a:spcAft>
                <a:spcPts val="1200"/>
              </a:spcAft>
              <a:defRPr sz="2000">
                <a:latin typeface="Arial"/>
              </a:defRPr>
            </a:pPr>
            <a:r>
              <a:rPr b="1">
                <a:solidFill>
                  <a:srgbClr val="991B1B"/>
                </a:solidFill>
                <a:latin typeface="Arial"/>
              </a:rPr>
              <a:t>📜 Lei Sarbanes-Oxley (SOX)</a:t>
            </a:r>
          </a:p>
          <a:p>
            <a:pPr>
              <a:spcAft>
                <a:spcPts val="400"/>
              </a:spcAft>
              <a:defRPr sz="1600">
                <a:latin typeface="Arial"/>
              </a:defRPr>
            </a:pPr>
            <a:r>
              <a:rPr sz="1400" b="1">
                <a:solidFill>
                  <a:srgbClr val="1E293B"/>
                </a:solidFill>
                <a:latin typeface="Arial"/>
              </a:rPr>
              <a:t>• Marco Regulatório: </a:t>
            </a:r>
            <a:r>
              <a:rPr sz="1400" b="0">
                <a:solidFill>
                  <a:srgbClr val="1E293B"/>
                </a:solidFill>
                <a:latin typeface="Arial"/>
              </a:rPr>
              <a:t>Criação em 2002 após fraudes contábeis para restaurar a confiança de mercado.</a:t>
            </a:r>
          </a:p>
          <a:p>
            <a:pPr>
              <a:spcAft>
                <a:spcPts val="400"/>
              </a:spcAft>
              <a:defRPr sz="1600">
                <a:latin typeface="Arial"/>
              </a:defRPr>
            </a:pPr>
            <a:r>
              <a:rPr sz="1400" b="1">
                <a:solidFill>
                  <a:srgbClr val="1E293B"/>
                </a:solidFill>
                <a:latin typeface="Arial"/>
              </a:rPr>
              <a:t>• Exigências e TI: </a:t>
            </a:r>
            <a:r>
              <a:rPr sz="1400" b="0">
                <a:solidFill>
                  <a:srgbClr val="1E293B"/>
                </a:solidFill>
                <a:latin typeface="Arial"/>
              </a:rPr>
              <a:t>Seções 302/404, penalidades a executivos e Controles Gerais de TI (ITGC).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066998"/>
            <a:ext cx="5230368" cy="2212848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201168" rtlCol="0" anchor="t"/>
          <a:lstStyle/>
          <a:p>
            <a:pPr algn="ctr">
              <a:spcAft>
                <a:spcPts val="1200"/>
              </a:spcAft>
              <a:defRPr sz="2000">
                <a:latin typeface="Arial"/>
              </a:defRPr>
            </a:pPr>
            <a:r>
              <a:rPr b="1">
                <a:solidFill>
                  <a:srgbClr val="92400E"/>
                </a:solidFill>
                <a:latin typeface="Arial"/>
              </a:rPr>
              <a:t>🛡️ Compliance &amp; Integridade</a:t>
            </a:r>
          </a:p>
          <a:p>
            <a:pPr>
              <a:spcAft>
                <a:spcPts val="400"/>
              </a:spcAft>
              <a:defRPr sz="1600">
                <a:latin typeface="Arial"/>
              </a:defRPr>
            </a:pPr>
            <a:r>
              <a:rPr sz="1400" b="1">
                <a:solidFill>
                  <a:srgbClr val="1E293B"/>
                </a:solidFill>
                <a:latin typeface="Arial"/>
              </a:rPr>
              <a:t>• Conformidade Plena: </a:t>
            </a:r>
            <a:r>
              <a:rPr sz="1400" b="0">
                <a:solidFill>
                  <a:srgbClr val="1E293B"/>
                </a:solidFill>
                <a:latin typeface="Arial"/>
              </a:rPr>
              <a:t>Aderência a leis, regulações (LGPD, BACEN, PCI-DSS) e políticas corporativas.</a:t>
            </a:r>
          </a:p>
          <a:p>
            <a:pPr>
              <a:spcAft>
                <a:spcPts val="400"/>
              </a:spcAft>
              <a:defRPr sz="1600">
                <a:latin typeface="Arial"/>
              </a:defRPr>
            </a:pPr>
            <a:r>
              <a:rPr sz="1400" b="1">
                <a:solidFill>
                  <a:srgbClr val="1E293B"/>
                </a:solidFill>
                <a:latin typeface="Arial"/>
              </a:rPr>
              <a:t>• Programa Efetivo: </a:t>
            </a:r>
            <a:r>
              <a:rPr sz="1400" b="0">
                <a:solidFill>
                  <a:srgbClr val="1E293B"/>
                </a:solidFill>
                <a:latin typeface="Arial"/>
              </a:rPr>
              <a:t>Pilares essenciais: Tone at the Top, canal de denúncias e mitigação contínua de riscos.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27064" y="4066998"/>
            <a:ext cx="5230368" cy="2212848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201168" rtlCol="0" anchor="t"/>
          <a:lstStyle/>
          <a:p>
            <a:pPr algn="ctr">
              <a:spcAft>
                <a:spcPts val="1200"/>
              </a:spcAft>
              <a:defRPr sz="2000">
                <a:latin typeface="Arial"/>
              </a:defRPr>
            </a:pPr>
            <a:r>
              <a:rPr b="1" dirty="0">
                <a:solidFill>
                  <a:srgbClr val="166534"/>
                </a:solidFill>
                <a:latin typeface="Arial"/>
              </a:rPr>
              <a:t>⚖️ </a:t>
            </a:r>
            <a:r>
              <a:rPr b="1" dirty="0" err="1">
                <a:solidFill>
                  <a:srgbClr val="166534"/>
                </a:solidFill>
                <a:latin typeface="Arial"/>
              </a:rPr>
              <a:t>Ética</a:t>
            </a:r>
            <a:r>
              <a:rPr b="1" dirty="0">
                <a:solidFill>
                  <a:srgbClr val="166534"/>
                </a:solidFill>
                <a:latin typeface="Arial"/>
              </a:rPr>
              <a:t> &amp; </a:t>
            </a:r>
            <a:r>
              <a:rPr b="1" dirty="0" err="1">
                <a:solidFill>
                  <a:srgbClr val="166534"/>
                </a:solidFill>
                <a:latin typeface="Arial"/>
              </a:rPr>
              <a:t>Conduta</a:t>
            </a:r>
            <a:r>
              <a:rPr b="1" dirty="0">
                <a:solidFill>
                  <a:srgbClr val="166534"/>
                </a:solidFill>
                <a:latin typeface="Arial"/>
              </a:rPr>
              <a:t> Digital</a:t>
            </a:r>
          </a:p>
          <a:p>
            <a:pPr>
              <a:spcAft>
                <a:spcPts val="400"/>
              </a:spcAft>
              <a:defRPr sz="1600">
                <a:latin typeface="Arial"/>
              </a:defRPr>
            </a:pPr>
            <a:r>
              <a:rPr sz="1400" b="1" dirty="0">
                <a:solidFill>
                  <a:srgbClr val="1E293B"/>
                </a:solidFill>
                <a:latin typeface="Arial"/>
              </a:rPr>
              <a:t>•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Dilemas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Tecnológicos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: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Diferença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entre o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que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é legal e o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que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é moral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nas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decisões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técnicas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de software e infra.</a:t>
            </a:r>
          </a:p>
          <a:p>
            <a:pPr>
              <a:spcAft>
                <a:spcPts val="400"/>
              </a:spcAft>
              <a:defRPr sz="1600">
                <a:latin typeface="Arial"/>
              </a:defRPr>
            </a:pPr>
            <a:r>
              <a:rPr sz="1400" b="1" dirty="0">
                <a:solidFill>
                  <a:srgbClr val="1E293B"/>
                </a:solidFill>
                <a:latin typeface="Arial"/>
              </a:rPr>
              <a:t>•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Responsabilidade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: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Privacidade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de dados,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vieses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algorítmicos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e o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caso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real Volkswagen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Dieselgate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>
                <a:latin typeface="Arial"/>
              </a:defRPr>
            </a:pPr>
            <a:r>
              <a:rPr sz="1600" b="1">
                <a:solidFill>
                  <a:srgbClr val="C8102E"/>
                </a:solidFill>
                <a:latin typeface="Arial"/>
              </a:rPr>
              <a:t>MÓDULO 1 • GOVERNANÇA CORPORATIVA</a:t>
            </a:r>
          </a:p>
          <a:p>
            <a:pPr>
              <a:defRPr sz="2600">
                <a:latin typeface="Arial"/>
              </a:defRPr>
            </a:pPr>
            <a:r>
              <a:rPr sz="2600" b="1">
                <a:solidFill>
                  <a:srgbClr val="0B2545"/>
                </a:solidFill>
                <a:latin typeface="Arial"/>
              </a:rPr>
              <a:t>Conceito, Teoria da Agência &amp; Alinhamento Estratégico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91640"/>
            <a:ext cx="5230368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201168" rtlCol="0" anchor="t"/>
          <a:lstStyle/>
          <a:p>
            <a:pPr algn="ctr">
              <a:spcAft>
                <a:spcPts val="1200"/>
              </a:spcAft>
              <a:defRPr sz="2000">
                <a:latin typeface="Arial"/>
              </a:defRPr>
            </a:pPr>
            <a:r>
              <a:rPr b="1">
                <a:solidFill>
                  <a:srgbClr val="1E3A8A"/>
                </a:solidFill>
                <a:latin typeface="Arial"/>
              </a:rPr>
              <a:t>🎯 Conceito &amp; O Problema de Agência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>
                <a:solidFill>
                  <a:srgbClr val="1E293B"/>
                </a:solidFill>
                <a:latin typeface="Arial"/>
              </a:rPr>
              <a:t>• Definição Formal (IBGC): </a:t>
            </a:r>
            <a:r>
              <a:rPr sz="1400" b="0">
                <a:solidFill>
                  <a:srgbClr val="1E293B"/>
                </a:solidFill>
                <a:latin typeface="Arial"/>
              </a:rPr>
              <a:t>Sistema pelo qual as empresas são dirigidas, monitoradas e incentivadas, envolvendo sócios, conselhos e diretoria.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>
                <a:solidFill>
                  <a:srgbClr val="1E293B"/>
                </a:solidFill>
                <a:latin typeface="Arial"/>
              </a:rPr>
              <a:t>• Separação de Papéis: </a:t>
            </a:r>
            <a:r>
              <a:rPr sz="1400" b="0">
                <a:solidFill>
                  <a:srgbClr val="1E293B"/>
                </a:solidFill>
                <a:latin typeface="Arial"/>
              </a:rPr>
              <a:t>Com a expansão das empresas, os donos do capital (Acionistas) delegam a gestão diária para executivos profissionais (Diretoria).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>
                <a:solidFill>
                  <a:srgbClr val="1E293B"/>
                </a:solidFill>
                <a:latin typeface="Arial"/>
              </a:rPr>
              <a:t>• O Conflito de Agência: </a:t>
            </a:r>
            <a:r>
              <a:rPr sz="1400" b="0">
                <a:solidFill>
                  <a:srgbClr val="1E293B"/>
                </a:solidFill>
                <a:latin typeface="Arial"/>
              </a:rPr>
              <a:t>Risco de os executivos (Agentes) tomarem decisões que favoreçam seus próprios bônus em vez dos interesses de longo prazo dos donos (Principais).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>
                <a:solidFill>
                  <a:srgbClr val="1E293B"/>
                </a:solidFill>
                <a:latin typeface="Arial"/>
              </a:rPr>
              <a:t>• Objetivo Central: </a:t>
            </a:r>
            <a:r>
              <a:rPr sz="1400" b="0">
                <a:solidFill>
                  <a:srgbClr val="1E293B"/>
                </a:solidFill>
                <a:latin typeface="Arial"/>
              </a:rPr>
              <a:t>Alinhar interesses, mitigar riscos e assegurar a sustentabilidade e perenidade do negócio no mercado.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27064" y="1691640"/>
            <a:ext cx="5230368" cy="46634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201168" rtlCol="0" anchor="t"/>
          <a:lstStyle/>
          <a:p>
            <a:pPr algn="ctr">
              <a:spcAft>
                <a:spcPts val="1200"/>
              </a:spcAft>
              <a:defRPr sz="2000">
                <a:latin typeface="Arial"/>
              </a:defRPr>
            </a:pPr>
            <a:r>
              <a:rPr b="1">
                <a:solidFill>
                  <a:srgbClr val="0B2545"/>
                </a:solidFill>
                <a:latin typeface="Arial"/>
              </a:rPr>
              <a:t>🏛️ Órgãos e Mecanismos de Controle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>
                <a:solidFill>
                  <a:srgbClr val="1E293B"/>
                </a:solidFill>
                <a:latin typeface="Arial"/>
              </a:rPr>
              <a:t>• Assembleia de Acionistas: </a:t>
            </a:r>
            <a:r>
              <a:rPr sz="1400" b="0">
                <a:solidFill>
                  <a:srgbClr val="1E293B"/>
                </a:solidFill>
                <a:latin typeface="Arial"/>
              </a:rPr>
              <a:t>Órgão soberano da organização; elege os membros do Conselho de Administração e aprova contas anuais.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>
                <a:solidFill>
                  <a:srgbClr val="1E293B"/>
                </a:solidFill>
                <a:latin typeface="Arial"/>
              </a:rPr>
              <a:t>• Conselho de Administração (Board): </a:t>
            </a:r>
            <a:r>
              <a:rPr sz="1400" b="0">
                <a:solidFill>
                  <a:srgbClr val="1E293B"/>
                </a:solidFill>
                <a:latin typeface="Arial"/>
              </a:rPr>
              <a:t>Guardião da estratégia corporativa; define rumos, monitora a diretoria executiva e protege os ativos da companhia.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>
                <a:solidFill>
                  <a:srgbClr val="1E293B"/>
                </a:solidFill>
                <a:latin typeface="Arial"/>
              </a:rPr>
              <a:t>• Comitê de Auditoria &amp; Riscos: </a:t>
            </a:r>
            <a:r>
              <a:rPr sz="1400" b="0">
                <a:solidFill>
                  <a:srgbClr val="1E293B"/>
                </a:solidFill>
                <a:latin typeface="Arial"/>
              </a:rPr>
              <a:t>Assessor independente do Conselho; supervisiona a eficácia dos controles internos, da TI e das demonstrações contábeis.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>
                <a:solidFill>
                  <a:srgbClr val="1E293B"/>
                </a:solidFill>
                <a:latin typeface="Arial"/>
              </a:rPr>
              <a:t>• Auditoria Independente: </a:t>
            </a:r>
            <a:r>
              <a:rPr sz="1400" b="0">
                <a:solidFill>
                  <a:srgbClr val="1E293B"/>
                </a:solidFill>
                <a:latin typeface="Arial"/>
              </a:rPr>
              <a:t>Auditoria externa isenta que valida se os relatórios contábeis e controles refletem a real situação da empresa.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>
                <a:latin typeface="Arial"/>
              </a:defRPr>
            </a:pPr>
            <a:r>
              <a:rPr sz="1600" b="1">
                <a:solidFill>
                  <a:srgbClr val="C8102E"/>
                </a:solidFill>
                <a:latin typeface="Arial"/>
              </a:rPr>
              <a:t>ESTUDO DE CASO • CRISE DE GOVERNANÇA</a:t>
            </a:r>
          </a:p>
          <a:p>
            <a:pPr>
              <a:defRPr sz="2600">
                <a:latin typeface="Arial"/>
              </a:defRPr>
            </a:pPr>
            <a:r>
              <a:rPr sz="2600" b="1">
                <a:solidFill>
                  <a:srgbClr val="0B2545"/>
                </a:solidFill>
                <a:latin typeface="Arial"/>
              </a:rPr>
              <a:t>O Colapso da Enron (2001) e o Fim da Arthur Andersen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91640"/>
            <a:ext cx="5230368" cy="466344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201168" rtlCol="0" anchor="t"/>
          <a:lstStyle/>
          <a:p>
            <a:pPr algn="ctr">
              <a:spcAft>
                <a:spcPts val="1200"/>
              </a:spcAft>
              <a:defRPr sz="2000">
                <a:latin typeface="Arial"/>
              </a:defRPr>
            </a:pPr>
            <a:r>
              <a:rPr b="1" dirty="0">
                <a:solidFill>
                  <a:srgbClr val="991B1B"/>
                </a:solidFill>
                <a:latin typeface="Arial"/>
              </a:rPr>
              <a:t>📉 O </a:t>
            </a:r>
            <a:r>
              <a:rPr b="1" dirty="0" err="1">
                <a:solidFill>
                  <a:srgbClr val="991B1B"/>
                </a:solidFill>
                <a:latin typeface="Arial"/>
              </a:rPr>
              <a:t>Cenário</a:t>
            </a:r>
            <a:r>
              <a:rPr b="1" dirty="0">
                <a:solidFill>
                  <a:srgbClr val="991B1B"/>
                </a:solidFill>
                <a:latin typeface="Arial"/>
              </a:rPr>
              <a:t> da </a:t>
            </a:r>
            <a:r>
              <a:rPr b="1" dirty="0" err="1">
                <a:solidFill>
                  <a:srgbClr val="991B1B"/>
                </a:solidFill>
                <a:latin typeface="Arial"/>
              </a:rPr>
              <a:t>Fraude</a:t>
            </a:r>
            <a:r>
              <a:rPr b="1" dirty="0">
                <a:solidFill>
                  <a:srgbClr val="991B1B"/>
                </a:solidFill>
                <a:latin typeface="Arial"/>
              </a:rPr>
              <a:t> </a:t>
            </a:r>
            <a:r>
              <a:rPr b="1" dirty="0" err="1">
                <a:solidFill>
                  <a:srgbClr val="991B1B"/>
                </a:solidFill>
                <a:latin typeface="Arial"/>
              </a:rPr>
              <a:t>Corporativa</a:t>
            </a:r>
            <a:endParaRPr b="1" dirty="0">
              <a:solidFill>
                <a:srgbClr val="991B1B"/>
              </a:solidFill>
              <a:latin typeface="Arial"/>
            </a:endParaRP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 dirty="0">
                <a:solidFill>
                  <a:srgbClr val="1E293B"/>
                </a:solidFill>
                <a:latin typeface="Arial"/>
              </a:rPr>
              <a:t>• A Gigante de Energia: 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A Enron era a 7ª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maior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empresa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dos EUA,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aclamada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como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a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corporação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mais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'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inovadora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' de Wall Street no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início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dos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anos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2000.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 dirty="0">
                <a:solidFill>
                  <a:srgbClr val="1E293B"/>
                </a:solidFill>
                <a:latin typeface="Arial"/>
              </a:rPr>
              <a:t>•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Manipulação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Contábil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Oculta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: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Utilizou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centenas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empresas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fachada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(SPEs) para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esconder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bilhões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dólares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em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dívidas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podres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e registrar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lucros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fictícios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antecipados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 dirty="0">
                <a:solidFill>
                  <a:srgbClr val="1E293B"/>
                </a:solidFill>
                <a:latin typeface="Arial"/>
              </a:rPr>
              <a:t>•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Conflito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 de Interesses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na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 Auditoria: 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A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gigante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de auditoria Arthur Andersen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recebia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milhões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por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consultorias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aprovava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balanços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fraudulentos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sem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contestação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 dirty="0">
                <a:solidFill>
                  <a:srgbClr val="1E293B"/>
                </a:solidFill>
                <a:latin typeface="Arial"/>
              </a:rPr>
              <a:t>•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Destruição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 de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Evidências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: 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Quando as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investigações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começaram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milhares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documentos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comprobatórios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foram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triturados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na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auditora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27064" y="1691640"/>
            <a:ext cx="5230368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201168" rtlCol="0" anchor="t"/>
          <a:lstStyle/>
          <a:p>
            <a:pPr algn="ctr">
              <a:spcAft>
                <a:spcPts val="1200"/>
              </a:spcAft>
              <a:defRPr sz="2000">
                <a:latin typeface="Arial"/>
              </a:defRPr>
            </a:pPr>
            <a:r>
              <a:rPr b="1">
                <a:solidFill>
                  <a:srgbClr val="1E293B"/>
                </a:solidFill>
                <a:latin typeface="Arial"/>
              </a:rPr>
              <a:t>💥 Consequências &amp; Lições Globais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>
                <a:solidFill>
                  <a:srgbClr val="1E293B"/>
                </a:solidFill>
                <a:latin typeface="Arial"/>
              </a:rPr>
              <a:t>• Falência Histórica: </a:t>
            </a:r>
            <a:r>
              <a:rPr sz="1400" b="0">
                <a:solidFill>
                  <a:srgbClr val="1E293B"/>
                </a:solidFill>
                <a:latin typeface="Arial"/>
              </a:rPr>
              <a:t>Prejuízo superior a US$ 74 bilhões para acionistas; milhares de funcionários perderam seus empregos e fundos de pensão.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>
                <a:solidFill>
                  <a:srgbClr val="1E293B"/>
                </a:solidFill>
                <a:latin typeface="Arial"/>
              </a:rPr>
              <a:t>• Extinção da Arthur Andersen: </a:t>
            </a:r>
            <a:r>
              <a:rPr sz="1400" b="0">
                <a:solidFill>
                  <a:srgbClr val="1E293B"/>
                </a:solidFill>
                <a:latin typeface="Arial"/>
              </a:rPr>
              <a:t>A lendária auditora foi condenada e fechou as portas, reduzindo o mercado de 'Big 5' para as atuais 'Big 4' (PwC, Deloitte, EY, KPMG).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>
                <a:solidFill>
                  <a:srgbClr val="1E293B"/>
                </a:solidFill>
                <a:latin typeface="Arial"/>
              </a:rPr>
              <a:t>• Ruptura de Confiança: </a:t>
            </a:r>
            <a:r>
              <a:rPr sz="1400" b="0">
                <a:solidFill>
                  <a:srgbClr val="1E293B"/>
                </a:solidFill>
                <a:latin typeface="Arial"/>
              </a:rPr>
              <a:t>O mercado de capitais mundial entrou em crise de credibilidade sobre a real validade dos balanços empresariais.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>
                <a:solidFill>
                  <a:srgbClr val="1E293B"/>
                </a:solidFill>
                <a:latin typeface="Arial"/>
              </a:rPr>
              <a:t>• Nascimento da Lei SOX: </a:t>
            </a:r>
            <a:r>
              <a:rPr sz="1400" b="0">
                <a:solidFill>
                  <a:srgbClr val="1E293B"/>
                </a:solidFill>
                <a:latin typeface="Arial"/>
              </a:rPr>
              <a:t>O escândalo obrigou o governo dos EUA a criar leis rígidas de controle corporativo e penalidades severas.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>
                <a:latin typeface="Arial"/>
              </a:defRPr>
            </a:pPr>
            <a:r>
              <a:rPr sz="1600" b="1">
                <a:solidFill>
                  <a:srgbClr val="C8102E"/>
                </a:solidFill>
                <a:latin typeface="Arial"/>
              </a:rPr>
              <a:t>MÓDULO 1 • DIRETRIZES DO IBGC</a:t>
            </a:r>
          </a:p>
          <a:p>
            <a:pPr>
              <a:defRPr sz="2600">
                <a:latin typeface="Arial"/>
              </a:defRPr>
            </a:pPr>
            <a:r>
              <a:rPr sz="2600" b="1">
                <a:solidFill>
                  <a:srgbClr val="0B2545"/>
                </a:solidFill>
                <a:latin typeface="Arial"/>
              </a:rPr>
              <a:t>Os 4 Princípios Universais de Governança Corporativa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91640"/>
            <a:ext cx="5230368" cy="46634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201168" rtlCol="0" anchor="t"/>
          <a:lstStyle/>
          <a:p>
            <a:pPr algn="ctr">
              <a:spcAft>
                <a:spcPts val="1200"/>
              </a:spcAft>
              <a:defRPr sz="2000">
                <a:latin typeface="Arial"/>
              </a:defRPr>
            </a:pPr>
            <a:r>
              <a:rPr b="1" dirty="0">
                <a:solidFill>
                  <a:srgbClr val="1E3A8A"/>
                </a:solidFill>
                <a:latin typeface="Arial"/>
              </a:rPr>
              <a:t>🌐 </a:t>
            </a:r>
            <a:r>
              <a:rPr b="1" dirty="0" err="1">
                <a:solidFill>
                  <a:srgbClr val="1E3A8A"/>
                </a:solidFill>
                <a:latin typeface="Arial"/>
              </a:rPr>
              <a:t>Transparência</a:t>
            </a:r>
            <a:r>
              <a:rPr b="1" dirty="0">
                <a:solidFill>
                  <a:srgbClr val="1E3A8A"/>
                </a:solidFill>
                <a:latin typeface="Arial"/>
              </a:rPr>
              <a:t> &amp; </a:t>
            </a:r>
            <a:r>
              <a:rPr b="1" dirty="0" err="1">
                <a:solidFill>
                  <a:srgbClr val="1E3A8A"/>
                </a:solidFill>
                <a:latin typeface="Arial"/>
              </a:rPr>
              <a:t>Equidade</a:t>
            </a:r>
            <a:endParaRPr b="1" dirty="0">
              <a:solidFill>
                <a:srgbClr val="1E3A8A"/>
              </a:solidFill>
              <a:latin typeface="Arial"/>
            </a:endParaRPr>
          </a:p>
          <a:p>
            <a:pPr>
              <a:spcAft>
                <a:spcPts val="1200"/>
              </a:spcAft>
              <a:defRPr sz="1600">
                <a:latin typeface="Arial"/>
              </a:defRPr>
            </a:pPr>
            <a:r>
              <a:rPr sz="1400" b="1" dirty="0">
                <a:solidFill>
                  <a:srgbClr val="1E293B"/>
                </a:solidFill>
                <a:latin typeface="Arial"/>
              </a:rPr>
              <a:t>• 1.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Transparência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 (Transparency):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Desejo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genuíno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informar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a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todas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as partes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interessadas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não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apenas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o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que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é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exigido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por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lei, mas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tudo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o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que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é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relevante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para o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negócio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.</a:t>
            </a:r>
          </a:p>
          <a:p>
            <a:pPr>
              <a:spcAft>
                <a:spcPts val="1200"/>
              </a:spcAft>
              <a:defRPr sz="1600">
                <a:latin typeface="Arial"/>
              </a:defRPr>
            </a:pPr>
            <a:r>
              <a:rPr sz="1400" b="1" dirty="0">
                <a:solidFill>
                  <a:srgbClr val="1E293B"/>
                </a:solidFill>
                <a:latin typeface="Arial"/>
              </a:rPr>
              <a:t>•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Comunicação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 Clara: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Divulgação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ágil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precisa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sobre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desempenho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financeiro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fatores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risco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decisões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estratégicas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métricas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sustentabilidade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.</a:t>
            </a:r>
          </a:p>
          <a:p>
            <a:pPr>
              <a:spcAft>
                <a:spcPts val="1200"/>
              </a:spcAft>
              <a:defRPr sz="1600">
                <a:latin typeface="Arial"/>
              </a:defRPr>
            </a:pPr>
            <a:r>
              <a:rPr sz="1400" b="1" dirty="0">
                <a:solidFill>
                  <a:srgbClr val="1E293B"/>
                </a:solidFill>
                <a:latin typeface="Arial"/>
              </a:rPr>
              <a:t>• 2.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Equidade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 (Fairness):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Tratamento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justo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isonômico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todos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sócios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e partes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interessadas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(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investidores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funcionários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clientes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fornecedores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).</a:t>
            </a:r>
          </a:p>
          <a:p>
            <a:pPr>
              <a:spcAft>
                <a:spcPts val="1200"/>
              </a:spcAft>
              <a:defRPr sz="1600">
                <a:latin typeface="Arial"/>
              </a:defRPr>
            </a:pPr>
            <a:r>
              <a:rPr sz="1400" b="1" dirty="0">
                <a:solidFill>
                  <a:srgbClr val="1E293B"/>
                </a:solidFill>
                <a:latin typeface="Arial"/>
              </a:rPr>
              <a:t>• Sem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Privilégios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: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Repúdio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total a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atitudes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favorecimentos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que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beneficiem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acionistas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majoritários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em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detrimento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minoritários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27064" y="1691640"/>
            <a:ext cx="5230368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201168" rtlCol="0" anchor="t"/>
          <a:lstStyle/>
          <a:p>
            <a:pPr algn="ctr">
              <a:spcAft>
                <a:spcPts val="1200"/>
              </a:spcAft>
              <a:defRPr sz="2000">
                <a:latin typeface="Arial"/>
              </a:defRPr>
            </a:pPr>
            <a:r>
              <a:rPr b="1">
                <a:solidFill>
                  <a:srgbClr val="0B2545"/>
                </a:solidFill>
                <a:latin typeface="Arial"/>
              </a:rPr>
              <a:t>⚖️ Accountability &amp; Responsabilidade</a:t>
            </a:r>
          </a:p>
          <a:p>
            <a:pPr>
              <a:spcAft>
                <a:spcPts val="1200"/>
              </a:spcAft>
              <a:defRPr sz="1600">
                <a:latin typeface="Arial"/>
              </a:defRPr>
            </a:pPr>
            <a:r>
              <a:rPr sz="1400" b="1">
                <a:solidFill>
                  <a:srgbClr val="1E293B"/>
                </a:solidFill>
                <a:latin typeface="Arial"/>
              </a:rPr>
              <a:t>• 3. Prestação de Contas (Accountability): </a:t>
            </a:r>
            <a:r>
              <a:rPr sz="1400" b="0">
                <a:solidFill>
                  <a:srgbClr val="1E293B"/>
                </a:solidFill>
                <a:latin typeface="Arial"/>
              </a:rPr>
              <a:t>Os agentes de governança devem prestar contas de sua gestão com clareza, assumindo integralmente as consequências de seus atos e omissões.</a:t>
            </a:r>
          </a:p>
          <a:p>
            <a:pPr>
              <a:spcAft>
                <a:spcPts val="1200"/>
              </a:spcAft>
              <a:defRPr sz="1600">
                <a:latin typeface="Arial"/>
              </a:defRPr>
            </a:pPr>
            <a:r>
              <a:rPr sz="1400" b="1">
                <a:solidFill>
                  <a:srgbClr val="1E293B"/>
                </a:solidFill>
                <a:latin typeface="Arial"/>
              </a:rPr>
              <a:t>• Responsabilidade Explícita: </a:t>
            </a:r>
            <a:r>
              <a:rPr sz="1400" b="0">
                <a:solidFill>
                  <a:srgbClr val="1E293B"/>
                </a:solidFill>
                <a:latin typeface="Arial"/>
              </a:rPr>
              <a:t>Definição formal de responsabilidades (quem decide, quem executa, quem aprova e quem responde pelas falhas).</a:t>
            </a:r>
          </a:p>
          <a:p>
            <a:pPr>
              <a:spcAft>
                <a:spcPts val="1200"/>
              </a:spcAft>
              <a:defRPr sz="1600">
                <a:latin typeface="Arial"/>
              </a:defRPr>
            </a:pPr>
            <a:r>
              <a:rPr sz="1400" b="1">
                <a:solidFill>
                  <a:srgbClr val="1E293B"/>
                </a:solidFill>
                <a:latin typeface="Arial"/>
              </a:rPr>
              <a:t>• 4. Responsabilidade Corporativa: </a:t>
            </a:r>
            <a:r>
              <a:rPr sz="1400" b="0">
                <a:solidFill>
                  <a:srgbClr val="1E293B"/>
                </a:solidFill>
                <a:latin typeface="Arial"/>
              </a:rPr>
              <a:t>Zelar pela viabilidade econômico-financeira de longo prazo da organização, integrando fatores sociais, ambientais e de governança (ESG).</a:t>
            </a:r>
          </a:p>
          <a:p>
            <a:pPr>
              <a:spcAft>
                <a:spcPts val="1200"/>
              </a:spcAft>
              <a:defRPr sz="1600">
                <a:latin typeface="Arial"/>
              </a:defRPr>
            </a:pPr>
            <a:r>
              <a:rPr sz="1400" b="1">
                <a:solidFill>
                  <a:srgbClr val="1E293B"/>
                </a:solidFill>
                <a:latin typeface="Arial"/>
              </a:rPr>
              <a:t>• Visão Sistêmica: </a:t>
            </a:r>
            <a:r>
              <a:rPr sz="1400" b="0">
                <a:solidFill>
                  <a:srgbClr val="1E293B"/>
                </a:solidFill>
                <a:latin typeface="Arial"/>
              </a:rPr>
              <a:t>Assegurar que o sucesso da empresa não destrua valor para a comunidade ou gere passivos éticos futuros.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>
                <a:latin typeface="Arial"/>
              </a:defRPr>
            </a:pPr>
            <a:r>
              <a:rPr sz="1600" b="1">
                <a:solidFill>
                  <a:srgbClr val="C8102E"/>
                </a:solidFill>
                <a:latin typeface="Arial"/>
              </a:rPr>
              <a:t>EXEMPLO PRÁTICO • APLICAÇÃO NA TI</a:t>
            </a:r>
          </a:p>
          <a:p>
            <a:pPr>
              <a:defRPr sz="2600">
                <a:latin typeface="Arial"/>
              </a:defRPr>
            </a:pPr>
            <a:r>
              <a:rPr sz="2600" b="1">
                <a:solidFill>
                  <a:srgbClr val="0B2545"/>
                </a:solidFill>
                <a:latin typeface="Arial"/>
              </a:rPr>
              <a:t>Como a TI Operacionaliza os 4 Princípios no Dia a Dia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91640"/>
            <a:ext cx="5230368" cy="46634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201168" rtlCol="0" anchor="t"/>
          <a:lstStyle/>
          <a:p>
            <a:pPr algn="ctr">
              <a:spcAft>
                <a:spcPts val="1200"/>
              </a:spcAft>
              <a:defRPr sz="2000">
                <a:latin typeface="Arial"/>
              </a:defRPr>
            </a:pPr>
            <a:r>
              <a:rPr b="1" dirty="0">
                <a:solidFill>
                  <a:srgbClr val="166534"/>
                </a:solidFill>
                <a:latin typeface="Arial"/>
              </a:rPr>
              <a:t>💻 </a:t>
            </a:r>
            <a:r>
              <a:rPr b="1" dirty="0" err="1">
                <a:solidFill>
                  <a:srgbClr val="166534"/>
                </a:solidFill>
                <a:latin typeface="Arial"/>
              </a:rPr>
              <a:t>Transparência</a:t>
            </a:r>
            <a:r>
              <a:rPr b="1" dirty="0">
                <a:solidFill>
                  <a:srgbClr val="166534"/>
                </a:solidFill>
                <a:latin typeface="Arial"/>
              </a:rPr>
              <a:t> &amp; </a:t>
            </a:r>
            <a:r>
              <a:rPr b="1" dirty="0" err="1">
                <a:solidFill>
                  <a:srgbClr val="166534"/>
                </a:solidFill>
                <a:latin typeface="Arial"/>
              </a:rPr>
              <a:t>Equidade</a:t>
            </a:r>
            <a:r>
              <a:rPr b="1" dirty="0">
                <a:solidFill>
                  <a:srgbClr val="166534"/>
                </a:solidFill>
                <a:latin typeface="Arial"/>
              </a:rPr>
              <a:t> </a:t>
            </a:r>
            <a:r>
              <a:rPr b="1" dirty="0" err="1">
                <a:solidFill>
                  <a:srgbClr val="166534"/>
                </a:solidFill>
                <a:latin typeface="Arial"/>
              </a:rPr>
              <a:t>na</a:t>
            </a:r>
            <a:r>
              <a:rPr b="1" dirty="0">
                <a:solidFill>
                  <a:srgbClr val="166534"/>
                </a:solidFill>
                <a:latin typeface="Arial"/>
              </a:rPr>
              <a:t> TI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 dirty="0">
                <a:solidFill>
                  <a:srgbClr val="1E293B"/>
                </a:solidFill>
                <a:latin typeface="Arial"/>
              </a:rPr>
              <a:t>•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Transparência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nos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 Serviços: 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Dashboards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em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tempo real para as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áreas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negócio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sobre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SLA de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sistemas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incidentes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abertos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, uptime e status de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projetos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 dirty="0">
                <a:solidFill>
                  <a:srgbClr val="1E293B"/>
                </a:solidFill>
                <a:latin typeface="Arial"/>
              </a:rPr>
              <a:t>•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Abertura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 de Custos: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Relatórios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transparentes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do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custo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real de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licenças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servidores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computação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em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nuvem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(FinOps)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rateados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por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departamento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 dirty="0">
                <a:solidFill>
                  <a:srgbClr val="1E293B"/>
                </a:solidFill>
                <a:latin typeface="Arial"/>
              </a:rPr>
              <a:t>•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Equidade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 no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Portfólio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 de TI: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Critérios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objetivos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formalizados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para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priorizar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projetos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desenvolvimento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de software,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sem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privilegiar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diretores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por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'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amizade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'.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 dirty="0">
                <a:solidFill>
                  <a:srgbClr val="1E293B"/>
                </a:solidFill>
                <a:latin typeface="Arial"/>
              </a:rPr>
              <a:t>•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Catálogo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 de Serviços Universal: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Padrão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atendimento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suporte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técnico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igualitário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para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todas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as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unidades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negócio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da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organização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27064" y="1691640"/>
            <a:ext cx="5230368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201168" rtlCol="0" anchor="t"/>
          <a:lstStyle/>
          <a:p>
            <a:pPr algn="ctr">
              <a:spcAft>
                <a:spcPts val="1200"/>
              </a:spcAft>
              <a:defRPr sz="2000">
                <a:latin typeface="Arial"/>
              </a:defRPr>
            </a:pPr>
            <a:r>
              <a:rPr b="1">
                <a:solidFill>
                  <a:srgbClr val="1E3A8A"/>
                </a:solidFill>
                <a:latin typeface="Arial"/>
              </a:rPr>
              <a:t>🛡️ Accountability &amp; Sustentabilidade na TI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>
                <a:solidFill>
                  <a:srgbClr val="1E293B"/>
                </a:solidFill>
                <a:latin typeface="Arial"/>
              </a:rPr>
              <a:t>• Accountability por Matriz RACI: </a:t>
            </a:r>
            <a:r>
              <a:rPr sz="1400" b="0">
                <a:solidFill>
                  <a:srgbClr val="1E293B"/>
                </a:solidFill>
                <a:latin typeface="Arial"/>
              </a:rPr>
              <a:t>Cada sistema e serviço possui dono formal (Owner); relatórios pós-incidente (Post-Mortem) sem culpabilização, focados na causa-raiz.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>
                <a:solidFill>
                  <a:srgbClr val="1E293B"/>
                </a:solidFill>
                <a:latin typeface="Arial"/>
              </a:rPr>
              <a:t>• Rastreabilidade Total de Ações: </a:t>
            </a:r>
            <a:r>
              <a:rPr sz="1400" b="0">
                <a:solidFill>
                  <a:srgbClr val="1E293B"/>
                </a:solidFill>
                <a:latin typeface="Arial"/>
              </a:rPr>
              <a:t>Logs imutáveis registrando quem autorizou alterações críticas em bancos de dados ou servidores de produção.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>
                <a:solidFill>
                  <a:srgbClr val="1E293B"/>
                </a:solidFill>
                <a:latin typeface="Arial"/>
              </a:rPr>
              <a:t>• Responsabilidade &amp; TI Verde (Green IT): </a:t>
            </a:r>
            <a:r>
              <a:rPr sz="1400" b="0">
                <a:solidFill>
                  <a:srgbClr val="1E293B"/>
                </a:solidFill>
                <a:latin typeface="Arial"/>
              </a:rPr>
              <a:t>Descarte ecológico e certificado de lixo eletrônico, hardware obsoleto e doação de equipamentos úteis.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>
                <a:solidFill>
                  <a:srgbClr val="1E293B"/>
                </a:solidFill>
                <a:latin typeface="Arial"/>
              </a:rPr>
              <a:t>• Proteção de Dados do Usuário: </a:t>
            </a:r>
            <a:r>
              <a:rPr sz="1400" b="0">
                <a:solidFill>
                  <a:srgbClr val="1E293B"/>
                </a:solidFill>
                <a:latin typeface="Arial"/>
              </a:rPr>
              <a:t>Garantia de que a tecnologia respeita a privacidade de clientes e colaboradores, evitando o uso indevido de dados pessoais.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>
                <a:latin typeface="Arial"/>
              </a:defRPr>
            </a:pPr>
            <a:r>
              <a:rPr sz="1600" b="1">
                <a:solidFill>
                  <a:srgbClr val="C8102E"/>
                </a:solidFill>
                <a:latin typeface="Arial"/>
              </a:rPr>
              <a:t>MÓDULO 2 • LEI SARBANES-OXLEY (SOX)</a:t>
            </a:r>
          </a:p>
          <a:p>
            <a:pPr>
              <a:defRPr sz="2600">
                <a:latin typeface="Arial"/>
              </a:defRPr>
            </a:pPr>
            <a:r>
              <a:rPr sz="2600" b="1">
                <a:solidFill>
                  <a:srgbClr val="0B2545"/>
                </a:solidFill>
                <a:latin typeface="Arial"/>
              </a:rPr>
              <a:t>Origem, Objetivos e o Impacto no Mercado Financeiro Global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91640"/>
            <a:ext cx="5230368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201168" rtlCol="0" anchor="t"/>
          <a:lstStyle/>
          <a:p>
            <a:pPr algn="ctr">
              <a:spcAft>
                <a:spcPts val="1200"/>
              </a:spcAft>
              <a:defRPr sz="2000">
                <a:latin typeface="Arial"/>
              </a:defRPr>
            </a:pPr>
            <a:r>
              <a:rPr b="1" dirty="0">
                <a:solidFill>
                  <a:srgbClr val="991B1B"/>
                </a:solidFill>
                <a:latin typeface="Arial"/>
              </a:rPr>
              <a:t>📜 </a:t>
            </a:r>
            <a:r>
              <a:rPr b="1" dirty="0" err="1">
                <a:solidFill>
                  <a:srgbClr val="991B1B"/>
                </a:solidFill>
                <a:latin typeface="Arial"/>
              </a:rPr>
              <a:t>Origem</a:t>
            </a:r>
            <a:r>
              <a:rPr b="1" dirty="0">
                <a:solidFill>
                  <a:srgbClr val="991B1B"/>
                </a:solidFill>
                <a:latin typeface="Arial"/>
              </a:rPr>
              <a:t> &amp; </a:t>
            </a:r>
            <a:r>
              <a:rPr b="1" dirty="0" err="1">
                <a:solidFill>
                  <a:srgbClr val="991B1B"/>
                </a:solidFill>
                <a:latin typeface="Arial"/>
              </a:rPr>
              <a:t>Propósito</a:t>
            </a:r>
            <a:r>
              <a:rPr b="1" dirty="0">
                <a:solidFill>
                  <a:srgbClr val="991B1B"/>
                </a:solidFill>
                <a:latin typeface="Arial"/>
              </a:rPr>
              <a:t> da Lei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 dirty="0">
                <a:solidFill>
                  <a:srgbClr val="1E293B"/>
                </a:solidFill>
                <a:latin typeface="Arial"/>
              </a:rPr>
              <a:t>•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Promulgação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em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 2002: 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Lei federal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sancionada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nos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EUA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após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escândalos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da Enron, WorldCom e Tyco;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criada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pelo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senador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Paul Sarbanes 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deputado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Michael Oxley.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 dirty="0">
                <a:solidFill>
                  <a:srgbClr val="1E293B"/>
                </a:solidFill>
                <a:latin typeface="Arial"/>
              </a:rPr>
              <a:t>•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Objetivo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Estratégico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: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Restaurar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a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confiança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dos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investidores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no mercado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financeiro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blindar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as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empresas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contra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fraudes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manobras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contábeis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fraudulentas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 dirty="0">
                <a:solidFill>
                  <a:srgbClr val="1E293B"/>
                </a:solidFill>
                <a:latin typeface="Arial"/>
              </a:rPr>
              <a:t>• Foco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em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Controles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Internos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: 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Exige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mecanismos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auditáveis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que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garantam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que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as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demonstrações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financeiras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reflitam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100% da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realidade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econômica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da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empresa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 dirty="0">
                <a:solidFill>
                  <a:srgbClr val="1E293B"/>
                </a:solidFill>
                <a:latin typeface="Arial"/>
              </a:rPr>
              <a:t>•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Responsabilização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Direta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: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Acabou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com a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blindagem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jurídica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dos altos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executivos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que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agora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respondem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pessoalmente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criminalmente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por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erros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contábeis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27064" y="1691640"/>
            <a:ext cx="5230368" cy="46634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201168" rtlCol="0" anchor="t"/>
          <a:lstStyle/>
          <a:p>
            <a:pPr algn="ctr">
              <a:spcAft>
                <a:spcPts val="1200"/>
              </a:spcAft>
              <a:defRPr sz="2000">
                <a:latin typeface="Arial"/>
              </a:defRPr>
            </a:pPr>
            <a:r>
              <a:rPr b="1">
                <a:solidFill>
                  <a:srgbClr val="0B2545"/>
                </a:solidFill>
                <a:latin typeface="Arial"/>
              </a:rPr>
              <a:t>🌎 Abrangência e Empresas Brasileiras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>
                <a:solidFill>
                  <a:srgbClr val="1E293B"/>
                </a:solidFill>
                <a:latin typeface="Arial"/>
              </a:rPr>
              <a:t>• Empresas com Ações nos EUA: </a:t>
            </a:r>
            <a:r>
              <a:rPr sz="1400" b="0">
                <a:solidFill>
                  <a:srgbClr val="1E293B"/>
                </a:solidFill>
                <a:latin typeface="Arial"/>
              </a:rPr>
              <a:t>Obrigatória para todas as companhias de capital aberto listadas na SEC (bolsas NYSE e NASDAQ) e suas subsidiárias mundiais.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>
                <a:solidFill>
                  <a:srgbClr val="1E293B"/>
                </a:solidFill>
                <a:latin typeface="Arial"/>
              </a:rPr>
              <a:t>• Empresas Brasileiras Afetadas: </a:t>
            </a:r>
            <a:r>
              <a:rPr sz="1400" b="0">
                <a:solidFill>
                  <a:srgbClr val="1E293B"/>
                </a:solidFill>
                <a:latin typeface="Arial"/>
              </a:rPr>
              <a:t>Companhias nacionais com recibos de ações (ADRs) negociados em Nova York (ex: Petrobras, Vale, Embraer, Itaú, Ambev).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>
                <a:solidFill>
                  <a:srgbClr val="1E293B"/>
                </a:solidFill>
                <a:latin typeface="Arial"/>
              </a:rPr>
              <a:t>• Padrão Ouro de Governança: </a:t>
            </a:r>
            <a:r>
              <a:rPr sz="1400" b="0">
                <a:solidFill>
                  <a:srgbClr val="1E293B"/>
                </a:solidFill>
                <a:latin typeface="Arial"/>
              </a:rPr>
              <a:t>Mesmo empresas de capital fechado e startups em fase de captação adotam os padrões SOX como selo de maturidade e conformidade.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>
                <a:solidFill>
                  <a:srgbClr val="1E293B"/>
                </a:solidFill>
                <a:latin typeface="Arial"/>
              </a:rPr>
              <a:t>• Exigência para Fornecedores: </a:t>
            </a:r>
            <a:r>
              <a:rPr sz="1400" b="0">
                <a:solidFill>
                  <a:srgbClr val="1E293B"/>
                </a:solidFill>
                <a:latin typeface="Arial"/>
              </a:rPr>
              <a:t>Grandes corporações exigem conformidade SOX de seus parceiros de tecnologia e prestadores de serviços terceirizados.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>
                <a:latin typeface="Arial"/>
              </a:defRPr>
            </a:pPr>
            <a:r>
              <a:rPr sz="1600" b="1">
                <a:solidFill>
                  <a:srgbClr val="C8102E"/>
                </a:solidFill>
                <a:latin typeface="Arial"/>
              </a:rPr>
              <a:t>DETALHAMENTO LEGAL • EXIGÊNCIAS SOX</a:t>
            </a:r>
          </a:p>
          <a:p>
            <a:pPr>
              <a:defRPr sz="2600">
                <a:latin typeface="Arial"/>
              </a:defRPr>
            </a:pPr>
            <a:r>
              <a:rPr sz="2600" b="1">
                <a:solidFill>
                  <a:srgbClr val="0B2545"/>
                </a:solidFill>
                <a:latin typeface="Arial"/>
              </a:rPr>
              <a:t>As Seções 302 e 404: Responsabilidade Pessoal e Penalidades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91640"/>
            <a:ext cx="5230368" cy="466344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201168" rtlCol="0" anchor="t"/>
          <a:lstStyle/>
          <a:p>
            <a:pPr algn="ctr">
              <a:spcAft>
                <a:spcPts val="1200"/>
              </a:spcAft>
              <a:defRPr sz="2000">
                <a:latin typeface="Arial"/>
              </a:defRPr>
            </a:pPr>
            <a:r>
              <a:rPr b="1" dirty="0">
                <a:solidFill>
                  <a:srgbClr val="991B1B"/>
                </a:solidFill>
                <a:latin typeface="Arial"/>
              </a:rPr>
              <a:t>⚖️ </a:t>
            </a:r>
            <a:r>
              <a:rPr b="1" dirty="0" err="1">
                <a:solidFill>
                  <a:srgbClr val="991B1B"/>
                </a:solidFill>
                <a:latin typeface="Arial"/>
              </a:rPr>
              <a:t>Seção</a:t>
            </a:r>
            <a:r>
              <a:rPr b="1" dirty="0">
                <a:solidFill>
                  <a:srgbClr val="991B1B"/>
                </a:solidFill>
                <a:latin typeface="Arial"/>
              </a:rPr>
              <a:t> 302 vs. </a:t>
            </a:r>
            <a:r>
              <a:rPr b="1" dirty="0" err="1">
                <a:solidFill>
                  <a:srgbClr val="991B1B"/>
                </a:solidFill>
                <a:latin typeface="Arial"/>
              </a:rPr>
              <a:t>Seção</a:t>
            </a:r>
            <a:r>
              <a:rPr b="1" dirty="0">
                <a:solidFill>
                  <a:srgbClr val="991B1B"/>
                </a:solidFill>
                <a:latin typeface="Arial"/>
              </a:rPr>
              <a:t> 404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 dirty="0">
                <a:solidFill>
                  <a:srgbClr val="1E293B"/>
                </a:solidFill>
                <a:latin typeface="Arial"/>
              </a:rPr>
              <a:t>•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Seção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 302 (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Assinatura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 do CEO/CFO):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principais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executivos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devem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assinar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atestar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pessoalmente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a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precisão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dos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relatórios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financeiros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e a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revisão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dos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controles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nos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últimos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90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dias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 dirty="0">
                <a:solidFill>
                  <a:srgbClr val="1E293B"/>
                </a:solidFill>
                <a:latin typeface="Arial"/>
              </a:rPr>
              <a:t>• Fim do 'Eu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não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 sabia': 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O CEO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não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pode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alegar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que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o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erro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foi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do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contador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ou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do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sistema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de TI;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ele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é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legalmente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responsável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pelo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conteúdo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do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balanço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 dirty="0">
                <a:solidFill>
                  <a:srgbClr val="1E293B"/>
                </a:solidFill>
                <a:latin typeface="Arial"/>
              </a:rPr>
              <a:t>•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Seção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 404 (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Avaliação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 dos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Controles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): 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Exige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que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a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empresa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documente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, teste 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ateste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anualmente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a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eficácia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dos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Controles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Internos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sobre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Relatórios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Financeiros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(ICFR).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 dirty="0">
                <a:solidFill>
                  <a:srgbClr val="1E293B"/>
                </a:solidFill>
                <a:latin typeface="Arial"/>
              </a:rPr>
              <a:t>• Auditoria Externa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Obrigatória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: 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Uma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empresa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de auditoria externa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deve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emitir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parecer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formal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independente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aprovando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a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eficácia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desses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controles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internos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27064" y="1691640"/>
            <a:ext cx="5230368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201168" rtlCol="0" anchor="t"/>
          <a:lstStyle/>
          <a:p>
            <a:pPr algn="ctr">
              <a:spcAft>
                <a:spcPts val="1200"/>
              </a:spcAft>
              <a:defRPr sz="2000">
                <a:latin typeface="Arial"/>
              </a:defRPr>
            </a:pPr>
            <a:r>
              <a:rPr b="1">
                <a:solidFill>
                  <a:srgbClr val="1E293B"/>
                </a:solidFill>
                <a:latin typeface="Arial"/>
              </a:rPr>
              <a:t>🚨 Penalidades Severas &amp; Sanções Criminais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>
                <a:solidFill>
                  <a:srgbClr val="1E293B"/>
                </a:solidFill>
                <a:latin typeface="Arial"/>
              </a:rPr>
              <a:t>• Seções 802 e 906 da SOX: </a:t>
            </a:r>
            <a:r>
              <a:rPr sz="1400" b="0">
                <a:solidFill>
                  <a:srgbClr val="1E293B"/>
                </a:solidFill>
                <a:latin typeface="Arial"/>
              </a:rPr>
              <a:t>Estabelecem penalidades severas para fraude corporativa, declaração falsa premeditada ou destruição de evidências de auditoria.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>
                <a:solidFill>
                  <a:srgbClr val="1E293B"/>
                </a:solidFill>
                <a:latin typeface="Arial"/>
              </a:rPr>
              <a:t>• Multas Milionárias: </a:t>
            </a:r>
            <a:r>
              <a:rPr sz="1400" b="0">
                <a:solidFill>
                  <a:srgbClr val="1E293B"/>
                </a:solidFill>
                <a:latin typeface="Arial"/>
              </a:rPr>
              <a:t>Multas financeiras de até US$ 5 milhões para indivíduos que violarem conscientemente os requisitos da lei.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>
                <a:solidFill>
                  <a:srgbClr val="1E293B"/>
                </a:solidFill>
                <a:latin typeface="Arial"/>
              </a:rPr>
              <a:t>• Penas de Reclusão: </a:t>
            </a:r>
            <a:r>
              <a:rPr sz="1400" b="0">
                <a:solidFill>
                  <a:srgbClr val="1E293B"/>
                </a:solidFill>
                <a:latin typeface="Arial"/>
              </a:rPr>
              <a:t>Penas de prisão de até 20 anos para executivos envolvidos em fraudes contábeis deliberadas.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>
                <a:solidFill>
                  <a:srgbClr val="1E293B"/>
                </a:solidFill>
                <a:latin typeface="Arial"/>
              </a:rPr>
              <a:t>• Deficiência Material (Material Weakness): </a:t>
            </a:r>
            <a:r>
              <a:rPr sz="1400" b="0">
                <a:solidFill>
                  <a:srgbClr val="1E293B"/>
                </a:solidFill>
                <a:latin typeface="Arial"/>
              </a:rPr>
              <a:t>Apontamentos de falha grave na Seção 404 resultam em queda no preço das ações e perda imediata de valor de mercado.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>
                <a:latin typeface="Arial"/>
              </a:defRPr>
            </a:pPr>
            <a:r>
              <a:rPr sz="1600" b="1">
                <a:solidFill>
                  <a:srgbClr val="C8102E"/>
                </a:solidFill>
                <a:latin typeface="Arial"/>
              </a:rPr>
              <a:t>MÓDULO 2 • SOX &amp; TECNOLOGIA</a:t>
            </a:r>
          </a:p>
          <a:p>
            <a:pPr>
              <a:defRPr sz="2600">
                <a:latin typeface="Arial"/>
              </a:defRPr>
            </a:pPr>
            <a:r>
              <a:rPr sz="2600" b="1">
                <a:solidFill>
                  <a:srgbClr val="0B2545"/>
                </a:solidFill>
                <a:latin typeface="Arial"/>
              </a:rPr>
              <a:t>ITGC: Por que a TI é o Coração da Conformidade SOX?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91640"/>
            <a:ext cx="5230368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201168" rtlCol="0" anchor="t"/>
          <a:lstStyle/>
          <a:p>
            <a:pPr algn="ctr">
              <a:spcAft>
                <a:spcPts val="1200"/>
              </a:spcAft>
              <a:defRPr sz="2000">
                <a:latin typeface="Arial"/>
              </a:defRPr>
            </a:pPr>
            <a:r>
              <a:rPr b="1" dirty="0">
                <a:solidFill>
                  <a:srgbClr val="1E3A8A"/>
                </a:solidFill>
                <a:latin typeface="Arial"/>
              </a:rPr>
              <a:t>💻 A </a:t>
            </a:r>
            <a:r>
              <a:rPr b="1" dirty="0" err="1">
                <a:solidFill>
                  <a:srgbClr val="1E3A8A"/>
                </a:solidFill>
                <a:latin typeface="Arial"/>
              </a:rPr>
              <a:t>Dependência</a:t>
            </a:r>
            <a:r>
              <a:rPr b="1" dirty="0">
                <a:solidFill>
                  <a:srgbClr val="1E3A8A"/>
                </a:solidFill>
                <a:latin typeface="Arial"/>
              </a:rPr>
              <a:t> dos Dados </a:t>
            </a:r>
            <a:r>
              <a:rPr b="1" dirty="0" err="1">
                <a:solidFill>
                  <a:srgbClr val="1E3A8A"/>
                </a:solidFill>
                <a:latin typeface="Arial"/>
              </a:rPr>
              <a:t>na</a:t>
            </a:r>
            <a:r>
              <a:rPr b="1" dirty="0">
                <a:solidFill>
                  <a:srgbClr val="1E3A8A"/>
                </a:solidFill>
                <a:latin typeface="Arial"/>
              </a:rPr>
              <a:t> TI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 dirty="0">
                <a:solidFill>
                  <a:srgbClr val="1E293B"/>
                </a:solidFill>
                <a:latin typeface="Arial"/>
              </a:rPr>
              <a:t>• 100% dos Dados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Passam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 pela TI: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Balanços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financeiros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não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são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mais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feitos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em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papel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;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eles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dependem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de ERPs (SAP, TOTVS),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bancos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de dados 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integrações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digitais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 dirty="0">
                <a:solidFill>
                  <a:srgbClr val="1E293B"/>
                </a:solidFill>
                <a:latin typeface="Arial"/>
              </a:rPr>
              <a:t>• Se a TI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Falhar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, o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Balanço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 Falha: 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Se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dados no banco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puderem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ser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alterados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sem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rastreabilidade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relatórios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financeiros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perdem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total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validade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perante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auditores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 dirty="0">
                <a:solidFill>
                  <a:srgbClr val="1E293B"/>
                </a:solidFill>
                <a:latin typeface="Arial"/>
              </a:rPr>
              <a:t>•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Conceito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 de ITGC (IT General Controls):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Controles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Gerais de TI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que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asseguram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a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confidencialidade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integridade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disponibilidade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dos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sistemas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suporte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financeiro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 dirty="0">
                <a:solidFill>
                  <a:srgbClr val="1E293B"/>
                </a:solidFill>
                <a:latin typeface="Arial"/>
              </a:rPr>
              <a:t>• Foco dos Auditores: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auditores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da SOX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passam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mais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de 50% do tempo de auditoria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testando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processos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controles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dentro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da equipe de TI.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27064" y="1691640"/>
            <a:ext cx="5230368" cy="46634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201168" rtlCol="0" anchor="t"/>
          <a:lstStyle/>
          <a:p>
            <a:pPr algn="ctr">
              <a:spcAft>
                <a:spcPts val="1200"/>
              </a:spcAft>
              <a:defRPr sz="2000">
                <a:latin typeface="Arial"/>
              </a:defRPr>
            </a:pPr>
            <a:r>
              <a:rPr b="1">
                <a:solidFill>
                  <a:srgbClr val="0B2545"/>
                </a:solidFill>
                <a:latin typeface="Arial"/>
              </a:rPr>
              <a:t>🛡️ Os 4 Domínios Fundamentais do ITGC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>
                <a:solidFill>
                  <a:srgbClr val="1E293B"/>
                </a:solidFill>
                <a:latin typeface="Arial"/>
              </a:rPr>
              <a:t>• 1. Gestão de Acessos Lógicos: </a:t>
            </a:r>
            <a:r>
              <a:rPr sz="1400" b="0">
                <a:solidFill>
                  <a:srgbClr val="1E293B"/>
                </a:solidFill>
                <a:latin typeface="Arial"/>
              </a:rPr>
              <a:t>Controle de senhas, MFA, princípio do menor privilégio e desativação imediata de acessos de colaboradores desligados.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>
                <a:solidFill>
                  <a:srgbClr val="1E293B"/>
                </a:solidFill>
                <a:latin typeface="Arial"/>
              </a:rPr>
              <a:t>• 2. Gestão de Mudanças (Change Management): </a:t>
            </a:r>
            <a:r>
              <a:rPr sz="1400" b="0">
                <a:solidFill>
                  <a:srgbClr val="1E293B"/>
                </a:solidFill>
                <a:latin typeface="Arial"/>
              </a:rPr>
              <a:t>Nenhuma alteração de código ou banco entra em produção sem teste documentado, aprovação do gestor e segregação.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>
                <a:solidFill>
                  <a:srgbClr val="1E293B"/>
                </a:solidFill>
                <a:latin typeface="Arial"/>
              </a:rPr>
              <a:t>• 3. Operações de TI: </a:t>
            </a:r>
            <a:r>
              <a:rPr sz="1400" b="0">
                <a:solidFill>
                  <a:srgbClr val="1E293B"/>
                </a:solidFill>
                <a:latin typeface="Arial"/>
              </a:rPr>
              <a:t>Monitoramento de rotinas em lote (batch jobs contábeis), execução diária de backups e testes anuais de Disaster Recovery (DRP).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>
                <a:solidFill>
                  <a:srgbClr val="1E293B"/>
                </a:solidFill>
                <a:latin typeface="Arial"/>
              </a:rPr>
              <a:t>• 4. Desenvolvimento de Sistemas: </a:t>
            </a:r>
            <a:r>
              <a:rPr sz="1400" b="0">
                <a:solidFill>
                  <a:srgbClr val="1E293B"/>
                </a:solidFill>
                <a:latin typeface="Arial"/>
              </a:rPr>
              <a:t>Controle de versões em repositórios seguros (Git), homologação formal em ambiente de testes antes do go-live.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>
                <a:latin typeface="Arial"/>
              </a:defRPr>
            </a:pPr>
            <a:r>
              <a:rPr sz="1600" b="1">
                <a:solidFill>
                  <a:srgbClr val="C8102E"/>
                </a:solidFill>
                <a:latin typeface="Arial"/>
              </a:rPr>
              <a:t>EXEMPLO PRÁTICO • ITGC &amp; CONTROLES</a:t>
            </a:r>
          </a:p>
          <a:p>
            <a:pPr>
              <a:defRPr sz="2600">
                <a:latin typeface="Arial"/>
              </a:defRPr>
            </a:pPr>
            <a:r>
              <a:rPr sz="2600" b="1">
                <a:solidFill>
                  <a:srgbClr val="0B2545"/>
                </a:solidFill>
                <a:latin typeface="Arial"/>
              </a:rPr>
              <a:t>Cenário de Risco vs. Arquitetura Segura e Segregação (SoD)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91640"/>
            <a:ext cx="5230368" cy="466344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201168" rtlCol="0" anchor="t"/>
          <a:lstStyle/>
          <a:p>
            <a:pPr algn="ctr">
              <a:spcAft>
                <a:spcPts val="1200"/>
              </a:spcAft>
              <a:defRPr sz="2000">
                <a:latin typeface="Arial"/>
              </a:defRPr>
            </a:pPr>
            <a:r>
              <a:rPr b="1" dirty="0">
                <a:solidFill>
                  <a:srgbClr val="991B1B"/>
                </a:solidFill>
                <a:latin typeface="Arial"/>
              </a:rPr>
              <a:t>⚠️ </a:t>
            </a:r>
            <a:r>
              <a:rPr b="1" dirty="0" err="1">
                <a:solidFill>
                  <a:srgbClr val="991B1B"/>
                </a:solidFill>
                <a:latin typeface="Arial"/>
              </a:rPr>
              <a:t>Cenário</a:t>
            </a:r>
            <a:r>
              <a:rPr b="1" dirty="0">
                <a:solidFill>
                  <a:srgbClr val="991B1B"/>
                </a:solidFill>
                <a:latin typeface="Arial"/>
              </a:rPr>
              <a:t> de Alto Risco (Sem </a:t>
            </a:r>
            <a:r>
              <a:rPr b="1" dirty="0" err="1">
                <a:solidFill>
                  <a:srgbClr val="991B1B"/>
                </a:solidFill>
                <a:latin typeface="Arial"/>
              </a:rPr>
              <a:t>Controles</a:t>
            </a:r>
            <a:r>
              <a:rPr b="1" dirty="0">
                <a:solidFill>
                  <a:srgbClr val="991B1B"/>
                </a:solidFill>
                <a:latin typeface="Arial"/>
              </a:rPr>
              <a:t>)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 dirty="0">
                <a:solidFill>
                  <a:srgbClr val="1E293B"/>
                </a:solidFill>
                <a:latin typeface="Arial"/>
              </a:rPr>
              <a:t>•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Superusuário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Descontrolado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: 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Um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desenvolvedor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possui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privilégio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escrita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direta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no banco de dados de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produção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do ERP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financeiro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da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empresa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 dirty="0">
                <a:solidFill>
                  <a:srgbClr val="1E293B"/>
                </a:solidFill>
                <a:latin typeface="Arial"/>
              </a:rPr>
              <a:t>•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Fraude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Indetectável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: 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O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desenvolvedor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ou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um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analista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financeiro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cria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um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fornecedor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fictício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com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seus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dados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bancários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aprova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o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próprio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pagamento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no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sistema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 dirty="0">
                <a:solidFill>
                  <a:srgbClr val="1E293B"/>
                </a:solidFill>
                <a:latin typeface="Arial"/>
              </a:rPr>
              <a:t>•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Ausência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 de Logs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Imutáveis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: 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O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fraudador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apaga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o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registro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de log no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servidor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inviabilizando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qualquer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investigação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forense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posterior.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 dirty="0">
                <a:solidFill>
                  <a:srgbClr val="1E293B"/>
                </a:solidFill>
                <a:latin typeface="Arial"/>
              </a:rPr>
              <a:t>•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Resultado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na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 Auditoria SOX: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Deficiência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Material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apontada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na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Seção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404,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ressalva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pública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no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balanço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risco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processos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criminais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para a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diretoria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27064" y="1691640"/>
            <a:ext cx="5230368" cy="46634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201168" rtlCol="0" anchor="t"/>
          <a:lstStyle/>
          <a:p>
            <a:pPr algn="ctr">
              <a:spcAft>
                <a:spcPts val="1200"/>
              </a:spcAft>
              <a:defRPr sz="2000">
                <a:latin typeface="Arial"/>
              </a:defRPr>
            </a:pPr>
            <a:r>
              <a:rPr b="1">
                <a:solidFill>
                  <a:srgbClr val="166534"/>
                </a:solidFill>
                <a:latin typeface="Arial"/>
              </a:rPr>
              <a:t>✅ Arquitetura Auditável &amp; SoD (Com SOX)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>
                <a:solidFill>
                  <a:srgbClr val="1E293B"/>
                </a:solidFill>
                <a:latin typeface="Arial"/>
              </a:rPr>
              <a:t>• Segregação de Funções (SoD): </a:t>
            </a:r>
            <a:r>
              <a:rPr sz="1400" b="0">
                <a:solidFill>
                  <a:srgbClr val="1E293B"/>
                </a:solidFill>
                <a:latin typeface="Arial"/>
              </a:rPr>
              <a:t>Quem cadastra o fornecedor no ERP é bloqueado pelo sistema de aprovar ordens de pagamento (duplo controle mandatório).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>
                <a:solidFill>
                  <a:srgbClr val="1E293B"/>
                </a:solidFill>
                <a:latin typeface="Arial"/>
              </a:rPr>
              <a:t>• Produção Fechada a Desenvolvedores: </a:t>
            </a:r>
            <a:r>
              <a:rPr sz="1400" b="0">
                <a:solidFill>
                  <a:srgbClr val="1E293B"/>
                </a:solidFill>
                <a:latin typeface="Arial"/>
              </a:rPr>
              <a:t>Ambiente de produção totalmente isolado; alterações de código são implantadas exclusivamente via pipeline CI/CD auditável.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>
                <a:solidFill>
                  <a:srgbClr val="1E293B"/>
                </a:solidFill>
                <a:latin typeface="Arial"/>
              </a:rPr>
              <a:t>• Comitê de Mudanças (CAB): </a:t>
            </a:r>
            <a:r>
              <a:rPr sz="1400" b="0">
                <a:solidFill>
                  <a:srgbClr val="1E293B"/>
                </a:solidFill>
                <a:latin typeface="Arial"/>
              </a:rPr>
              <a:t>Toda alteração de banco ou software exige ticket aprovado formalmente antes da execução programada.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>
                <a:solidFill>
                  <a:srgbClr val="1E293B"/>
                </a:solidFill>
                <a:latin typeface="Arial"/>
              </a:rPr>
              <a:t>• Trilhas de Auditoria Imutáveis: </a:t>
            </a:r>
            <a:r>
              <a:rPr sz="1400" b="0">
                <a:solidFill>
                  <a:srgbClr val="1E293B"/>
                </a:solidFill>
                <a:latin typeface="Arial"/>
              </a:rPr>
              <a:t>Logs de transação enviados em tempo real para repositório criptografado (SIEM) sem permissão de exclusão para administradores.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>
                <a:latin typeface="Arial"/>
              </a:defRPr>
            </a:pPr>
            <a:r>
              <a:rPr sz="1600" b="1">
                <a:solidFill>
                  <a:srgbClr val="C8102E"/>
                </a:solidFill>
                <a:latin typeface="Arial"/>
              </a:rPr>
              <a:t>MÓDULO 3 • COMPLIANCE &amp; INTEGRIDADE</a:t>
            </a:r>
          </a:p>
          <a:p>
            <a:pPr>
              <a:defRPr sz="2600">
                <a:latin typeface="Arial"/>
              </a:defRPr>
            </a:pPr>
            <a:r>
              <a:rPr sz="2600" b="1">
                <a:solidFill>
                  <a:srgbClr val="0B2545"/>
                </a:solidFill>
                <a:latin typeface="Arial"/>
              </a:rPr>
              <a:t>Conceito, Propósito e o Custo da Não-Conformidade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91640"/>
            <a:ext cx="5230368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201168" rtlCol="0" anchor="t"/>
          <a:lstStyle/>
          <a:p>
            <a:pPr algn="ctr">
              <a:spcAft>
                <a:spcPts val="1200"/>
              </a:spcAft>
              <a:defRPr sz="2000">
                <a:latin typeface="Arial"/>
              </a:defRPr>
            </a:pPr>
            <a:r>
              <a:rPr sz="2000" b="1">
                <a:solidFill>
                  <a:srgbClr val="92400E"/>
                </a:solidFill>
                <a:latin typeface="Arial"/>
              </a:rPr>
              <a:t>🛡️ O que é Compliance?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600" b="1">
                <a:solidFill>
                  <a:srgbClr val="1E293B"/>
                </a:solidFill>
                <a:latin typeface="Arial"/>
              </a:rPr>
              <a:t>• Origem do Termo: </a:t>
            </a:r>
            <a:r>
              <a:rPr sz="1600" b="0">
                <a:solidFill>
                  <a:srgbClr val="1E293B"/>
                </a:solidFill>
                <a:latin typeface="Arial"/>
              </a:rPr>
              <a:t>Derivado do verbo inglês 'to comply' — agir em estrita conformidade com leis, regulações e normas éticas internas da organização.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600" b="1">
                <a:solidFill>
                  <a:srgbClr val="1E293B"/>
                </a:solidFill>
                <a:latin typeface="Arial"/>
              </a:rPr>
              <a:t>• Dimensão Regulatória Externa: </a:t>
            </a:r>
            <a:r>
              <a:rPr sz="1600" b="0">
                <a:solidFill>
                  <a:srgbClr val="1E293B"/>
                </a:solidFill>
                <a:latin typeface="Arial"/>
              </a:rPr>
              <a:t>Aderência a normas de órgãos governamentais e setoriais (ex: LGPD, BACEN, CVM, ANPD, ISO 27001, PCI-DSS).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600" b="1">
                <a:solidFill>
                  <a:srgbClr val="1E293B"/>
                </a:solidFill>
                <a:latin typeface="Arial"/>
              </a:rPr>
              <a:t>• Dimensão Normativa Interna: </a:t>
            </a:r>
            <a:r>
              <a:rPr sz="1600" b="0">
                <a:solidFill>
                  <a:srgbClr val="1E293B"/>
                </a:solidFill>
                <a:latin typeface="Arial"/>
              </a:rPr>
              <a:t>Cumprimento de códigos de conduta corporativos, políticas de segurança da informação, compras e recursos humanos.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600" b="1">
                <a:solidFill>
                  <a:srgbClr val="1E293B"/>
                </a:solidFill>
                <a:latin typeface="Arial"/>
              </a:rPr>
              <a:t>• Cultura de Integridade: </a:t>
            </a:r>
            <a:r>
              <a:rPr sz="1600" b="0">
                <a:solidFill>
                  <a:srgbClr val="1E293B"/>
                </a:solidFill>
                <a:latin typeface="Arial"/>
              </a:rPr>
              <a:t>Compliance não é um departamento isolado, mas uma mentalidade incorporada na rotina diária de cada colaborador.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27064" y="1691640"/>
            <a:ext cx="5230368" cy="466344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201168" rtlCol="0" anchor="t"/>
          <a:lstStyle/>
          <a:p>
            <a:pPr algn="ctr">
              <a:spcAft>
                <a:spcPts val="1200"/>
              </a:spcAft>
              <a:defRPr sz="2000">
                <a:latin typeface="Arial"/>
              </a:defRPr>
            </a:pPr>
            <a:r>
              <a:rPr sz="2000" b="1">
                <a:solidFill>
                  <a:srgbClr val="0B2545"/>
                </a:solidFill>
                <a:latin typeface="Arial"/>
              </a:rPr>
              <a:t>💰 O Custo Estratégico da Não-Conformidade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600" b="1">
                <a:solidFill>
                  <a:srgbClr val="1E293B"/>
                </a:solidFill>
                <a:latin typeface="Arial"/>
              </a:rPr>
              <a:t>• Prejuízos Financeiros Diretos: </a:t>
            </a:r>
            <a:r>
              <a:rPr sz="1600" b="0">
                <a:solidFill>
                  <a:srgbClr val="1E293B"/>
                </a:solidFill>
                <a:latin typeface="Arial"/>
              </a:rPr>
              <a:t>Multas regulatórias pesadas, processos judiciais, indenizações trabalhistas e custos astronômicos de remediação emergencial.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600" b="1">
                <a:solidFill>
                  <a:srgbClr val="1E293B"/>
                </a:solidFill>
                <a:latin typeface="Arial"/>
              </a:rPr>
              <a:t>• Dano Reputacional Irreversível: </a:t>
            </a:r>
            <a:r>
              <a:rPr sz="1600" b="0">
                <a:solidFill>
                  <a:srgbClr val="1E293B"/>
                </a:solidFill>
                <a:latin typeface="Arial"/>
              </a:rPr>
              <a:t>Perda de clientes, desvalorização da marca e rescisão imediata de contratos por parte de parceiros corporativos.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600" b="1">
                <a:solidFill>
                  <a:srgbClr val="1E293B"/>
                </a:solidFill>
                <a:latin typeface="Arial"/>
              </a:rPr>
              <a:t>• Perda de Licença de Operar: </a:t>
            </a:r>
            <a:r>
              <a:rPr sz="1600" b="0">
                <a:solidFill>
                  <a:srgbClr val="1E293B"/>
                </a:solidFill>
                <a:latin typeface="Arial"/>
              </a:rPr>
              <a:t>Órgãos fiscalizadores podem caçar licenças bancárias, sanitárias ou de operação por não-conformidade continuada.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600" b="1">
                <a:solidFill>
                  <a:srgbClr val="1E293B"/>
                </a:solidFill>
                <a:latin typeface="Arial"/>
              </a:rPr>
              <a:t>• Compliance como Ativo: </a:t>
            </a:r>
            <a:r>
              <a:rPr sz="1600" b="0">
                <a:solidFill>
                  <a:srgbClr val="1E293B"/>
                </a:solidFill>
                <a:latin typeface="Arial"/>
              </a:rPr>
              <a:t>Empresas com programas de compliance maduros atraem investimentos internacionais e obtêm crédito mais barato.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>
                <a:latin typeface="Arial"/>
              </a:defRPr>
            </a:pPr>
            <a:r>
              <a:rPr sz="1600" b="1">
                <a:solidFill>
                  <a:srgbClr val="C8102E"/>
                </a:solidFill>
                <a:latin typeface="Arial"/>
              </a:rPr>
              <a:t>EXEMPLO PRÁTICO • PILARES DE COMPLIANCE</a:t>
            </a:r>
          </a:p>
          <a:p>
            <a:pPr>
              <a:defRPr sz="2600">
                <a:latin typeface="Arial"/>
              </a:defRPr>
            </a:pPr>
            <a:r>
              <a:rPr sz="2600" b="1">
                <a:solidFill>
                  <a:srgbClr val="0B2545"/>
                </a:solidFill>
                <a:latin typeface="Arial"/>
              </a:rPr>
              <a:t>A Estrutura dos 6 Pilares de um Programa de Integridade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91640"/>
            <a:ext cx="5230368" cy="46634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201168" rtlCol="0" anchor="t"/>
          <a:lstStyle/>
          <a:p>
            <a:pPr algn="ctr">
              <a:spcAft>
                <a:spcPts val="1200"/>
              </a:spcAft>
              <a:defRPr sz="2000">
                <a:latin typeface="Arial"/>
              </a:defRPr>
            </a:pPr>
            <a:r>
              <a:rPr b="1" dirty="0">
                <a:solidFill>
                  <a:srgbClr val="1E3A8A"/>
                </a:solidFill>
                <a:latin typeface="Arial"/>
              </a:rPr>
              <a:t>🏛️ Pilares 1, 2 e 3: A Base </a:t>
            </a:r>
            <a:r>
              <a:rPr b="1" dirty="0" err="1">
                <a:solidFill>
                  <a:srgbClr val="1E3A8A"/>
                </a:solidFill>
                <a:latin typeface="Arial"/>
              </a:rPr>
              <a:t>Estrutural</a:t>
            </a:r>
            <a:endParaRPr b="1" dirty="0">
              <a:solidFill>
                <a:srgbClr val="1E3A8A"/>
              </a:solidFill>
              <a:latin typeface="Arial"/>
            </a:endParaRPr>
          </a:p>
          <a:p>
            <a:pPr>
              <a:spcAft>
                <a:spcPts val="1200"/>
              </a:spcAft>
              <a:defRPr sz="1600">
                <a:latin typeface="Arial"/>
              </a:defRPr>
            </a:pPr>
            <a:r>
              <a:rPr sz="1400" b="1" dirty="0">
                <a:solidFill>
                  <a:srgbClr val="1E293B"/>
                </a:solidFill>
                <a:latin typeface="Arial"/>
              </a:rPr>
              <a:t>• 1. Tone at the Top: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Comprometimento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autêntico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público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da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alta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administração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; a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liderança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deve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dar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o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exemplo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prático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conduta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ética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inegociável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.</a:t>
            </a:r>
          </a:p>
          <a:p>
            <a:pPr>
              <a:spcAft>
                <a:spcPts val="1200"/>
              </a:spcAft>
              <a:defRPr sz="1600">
                <a:latin typeface="Arial"/>
              </a:defRPr>
            </a:pPr>
            <a:r>
              <a:rPr sz="1400" b="1" dirty="0">
                <a:solidFill>
                  <a:srgbClr val="1E293B"/>
                </a:solidFill>
                <a:latin typeface="Arial"/>
              </a:rPr>
              <a:t>• 2.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Avaliação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 de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Riscos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 (Risk Assessment):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Mapeamento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contínuo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das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vulnerabilidades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legais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operacionais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regulatórias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e de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segurança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que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a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empresa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enfrenta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.</a:t>
            </a:r>
          </a:p>
          <a:p>
            <a:pPr>
              <a:spcAft>
                <a:spcPts val="1200"/>
              </a:spcAft>
              <a:defRPr sz="1600">
                <a:latin typeface="Arial"/>
              </a:defRPr>
            </a:pPr>
            <a:r>
              <a:rPr sz="1400" b="1" dirty="0">
                <a:solidFill>
                  <a:srgbClr val="1E293B"/>
                </a:solidFill>
                <a:latin typeface="Arial"/>
              </a:rPr>
              <a:t>• 3. Código de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Conduta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 &amp;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Políticas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: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Documento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claro 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acessível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que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estabelece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regras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sobre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presentes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conflitos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de interesse,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segurança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da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informação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uso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ativos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corporativos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27064" y="1691640"/>
            <a:ext cx="5230368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201168" rtlCol="0" anchor="t"/>
          <a:lstStyle/>
          <a:p>
            <a:pPr algn="ctr">
              <a:spcAft>
                <a:spcPts val="1200"/>
              </a:spcAft>
              <a:defRPr sz="2000">
                <a:latin typeface="Arial"/>
              </a:defRPr>
            </a:pPr>
            <a:r>
              <a:rPr b="1">
                <a:solidFill>
                  <a:srgbClr val="0B2545"/>
                </a:solidFill>
                <a:latin typeface="Arial"/>
              </a:rPr>
              <a:t>⚙️ Pilares 4, 5 e 6: Execução e Resposta</a:t>
            </a:r>
          </a:p>
          <a:p>
            <a:pPr>
              <a:spcAft>
                <a:spcPts val="1200"/>
              </a:spcAft>
              <a:defRPr sz="1600">
                <a:latin typeface="Arial"/>
              </a:defRPr>
            </a:pPr>
            <a:r>
              <a:rPr sz="1400" b="1">
                <a:solidFill>
                  <a:srgbClr val="1E293B"/>
                </a:solidFill>
                <a:latin typeface="Arial"/>
              </a:rPr>
              <a:t>• 4. Treinamento &amp; Comunicação: </a:t>
            </a:r>
            <a:r>
              <a:rPr sz="1400" b="0">
                <a:solidFill>
                  <a:srgbClr val="1E293B"/>
                </a:solidFill>
                <a:latin typeface="Arial"/>
              </a:rPr>
              <a:t>Capacitação contínua de 100% dos colaboradores com exemplos práticos do dia a dia sobre dilemas éticos e segurança.</a:t>
            </a:r>
          </a:p>
          <a:p>
            <a:pPr>
              <a:spcAft>
                <a:spcPts val="1200"/>
              </a:spcAft>
              <a:defRPr sz="1600">
                <a:latin typeface="Arial"/>
              </a:defRPr>
            </a:pPr>
            <a:r>
              <a:rPr sz="1400" b="1">
                <a:solidFill>
                  <a:srgbClr val="1E293B"/>
                </a:solidFill>
                <a:latin typeface="Arial"/>
              </a:rPr>
              <a:t>• 5. Canal de Denúncias Independente: </a:t>
            </a:r>
            <a:r>
              <a:rPr sz="1400" b="0">
                <a:solidFill>
                  <a:srgbClr val="1E293B"/>
                </a:solidFill>
                <a:latin typeface="Arial"/>
              </a:rPr>
              <a:t>Plataforma anônima e externa para reporte de irregularidades, com garantia irrestrita de não-retaliação ao denunciante (Whistleblower).</a:t>
            </a:r>
          </a:p>
          <a:p>
            <a:pPr>
              <a:spcAft>
                <a:spcPts val="1200"/>
              </a:spcAft>
              <a:defRPr sz="1600">
                <a:latin typeface="Arial"/>
              </a:defRPr>
            </a:pPr>
            <a:r>
              <a:rPr sz="1400" b="1">
                <a:solidFill>
                  <a:srgbClr val="1E293B"/>
                </a:solidFill>
                <a:latin typeface="Arial"/>
              </a:rPr>
              <a:t>• 6. Investigação &amp; Remediação: </a:t>
            </a:r>
            <a:r>
              <a:rPr sz="1400" b="0">
                <a:solidFill>
                  <a:srgbClr val="1E293B"/>
                </a:solidFill>
                <a:latin typeface="Arial"/>
              </a:rPr>
              <a:t>Processo justo e rigoroso para apurar denúncias, aplicar medidas disciplinares aos infratores e corrigir processos falhos imediatamente.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>
                <a:latin typeface="Arial"/>
              </a:defRPr>
            </a:pPr>
            <a:r>
              <a:rPr sz="1600" b="1">
                <a:solidFill>
                  <a:srgbClr val="C8102E"/>
                </a:solidFill>
                <a:latin typeface="Arial"/>
              </a:rPr>
              <a:t>MÓDULO 3 • COMPLIANCE EM TI</a:t>
            </a:r>
          </a:p>
          <a:p>
            <a:pPr>
              <a:defRPr sz="2600">
                <a:latin typeface="Arial"/>
              </a:defRPr>
            </a:pPr>
            <a:r>
              <a:rPr sz="2600" b="1">
                <a:solidFill>
                  <a:srgbClr val="0B2545"/>
                </a:solidFill>
                <a:latin typeface="Arial"/>
              </a:rPr>
              <a:t>Normas Regulatórias Críticas para Tecnologia da Informação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4569" y="1691640"/>
            <a:ext cx="5230368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201168" rtlCol="0" anchor="t"/>
          <a:lstStyle/>
          <a:p>
            <a:pPr algn="ctr">
              <a:spcAft>
                <a:spcPts val="1200"/>
              </a:spcAft>
              <a:defRPr sz="2000">
                <a:latin typeface="Arial"/>
              </a:defRPr>
            </a:pPr>
            <a:r>
              <a:rPr b="1" dirty="0">
                <a:solidFill>
                  <a:srgbClr val="1E3A8A"/>
                </a:solidFill>
                <a:latin typeface="Arial"/>
              </a:rPr>
              <a:t>🔒 </a:t>
            </a:r>
            <a:r>
              <a:rPr b="1" dirty="0" err="1">
                <a:solidFill>
                  <a:srgbClr val="1E3A8A"/>
                </a:solidFill>
                <a:latin typeface="Arial"/>
              </a:rPr>
              <a:t>Privacidade</a:t>
            </a:r>
            <a:r>
              <a:rPr b="1" dirty="0">
                <a:solidFill>
                  <a:srgbClr val="1E3A8A"/>
                </a:solidFill>
                <a:latin typeface="Arial"/>
              </a:rPr>
              <a:t> &amp; </a:t>
            </a:r>
            <a:r>
              <a:rPr b="1" dirty="0" err="1">
                <a:solidFill>
                  <a:srgbClr val="1E3A8A"/>
                </a:solidFill>
                <a:latin typeface="Arial"/>
              </a:rPr>
              <a:t>Meios</a:t>
            </a:r>
            <a:r>
              <a:rPr b="1" dirty="0">
                <a:solidFill>
                  <a:srgbClr val="1E3A8A"/>
                </a:solidFill>
                <a:latin typeface="Arial"/>
              </a:rPr>
              <a:t> de </a:t>
            </a:r>
            <a:r>
              <a:rPr b="1" dirty="0" err="1">
                <a:solidFill>
                  <a:srgbClr val="1E3A8A"/>
                </a:solidFill>
                <a:latin typeface="Arial"/>
              </a:rPr>
              <a:t>Pagamento</a:t>
            </a:r>
            <a:endParaRPr b="1" dirty="0">
              <a:solidFill>
                <a:srgbClr val="1E3A8A"/>
              </a:solidFill>
              <a:latin typeface="Arial"/>
            </a:endParaRP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300" b="1" dirty="0">
                <a:solidFill>
                  <a:srgbClr val="1E293B"/>
                </a:solidFill>
                <a:latin typeface="Arial"/>
              </a:rPr>
              <a:t>• LGPD (Lei nº 13.709/2018): 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Exige base legal para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tratamento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de dados de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clientes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e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funcionários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;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privacidade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por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padrão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(Privacy by Design) e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nomeação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de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Encarregado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(DPO).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300" b="1" dirty="0">
                <a:solidFill>
                  <a:srgbClr val="1E293B"/>
                </a:solidFill>
                <a:latin typeface="Arial"/>
              </a:rPr>
              <a:t>• </a:t>
            </a:r>
            <a:r>
              <a:rPr sz="1300" b="1" dirty="0" err="1">
                <a:solidFill>
                  <a:srgbClr val="1E293B"/>
                </a:solidFill>
                <a:latin typeface="Arial"/>
              </a:rPr>
              <a:t>Sanções</a:t>
            </a:r>
            <a:r>
              <a:rPr sz="1300" b="1" dirty="0">
                <a:solidFill>
                  <a:srgbClr val="1E293B"/>
                </a:solidFill>
                <a:latin typeface="Arial"/>
              </a:rPr>
              <a:t> da ANPD: 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Multas de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até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2% do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faturamento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da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empresa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(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limitadas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a R$ 50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milhões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por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infração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) e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risco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de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proibição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de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uso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do banco de dados.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300" b="1" dirty="0">
                <a:solidFill>
                  <a:srgbClr val="1E293B"/>
                </a:solidFill>
                <a:latin typeface="Arial"/>
              </a:rPr>
              <a:t>• PCI-DSS (</a:t>
            </a:r>
            <a:r>
              <a:rPr sz="1300" b="1" dirty="0" err="1">
                <a:solidFill>
                  <a:srgbClr val="1E293B"/>
                </a:solidFill>
                <a:latin typeface="Arial"/>
              </a:rPr>
              <a:t>Padrão</a:t>
            </a:r>
            <a:r>
              <a:rPr sz="1300" b="1" dirty="0">
                <a:solidFill>
                  <a:srgbClr val="1E293B"/>
                </a:solidFill>
                <a:latin typeface="Arial"/>
              </a:rPr>
              <a:t> de </a:t>
            </a:r>
            <a:r>
              <a:rPr sz="1300" b="1" dirty="0" err="1">
                <a:solidFill>
                  <a:srgbClr val="1E293B"/>
                </a:solidFill>
                <a:latin typeface="Arial"/>
              </a:rPr>
              <a:t>Cartões</a:t>
            </a:r>
            <a:r>
              <a:rPr sz="1300" b="1" dirty="0">
                <a:solidFill>
                  <a:srgbClr val="1E293B"/>
                </a:solidFill>
                <a:latin typeface="Arial"/>
              </a:rPr>
              <a:t>): 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Norma global de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segurança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mandatória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para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qualquer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aplicação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que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processe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,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armazene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ou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trafegue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dados de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cartões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de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crédito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300" b="1" dirty="0">
                <a:solidFill>
                  <a:srgbClr val="1E293B"/>
                </a:solidFill>
                <a:latin typeface="Arial"/>
              </a:rPr>
              <a:t>• </a:t>
            </a:r>
            <a:r>
              <a:rPr sz="1300" b="1" dirty="0" err="1">
                <a:solidFill>
                  <a:srgbClr val="1E293B"/>
                </a:solidFill>
                <a:latin typeface="Arial"/>
              </a:rPr>
              <a:t>Requisitos</a:t>
            </a:r>
            <a:r>
              <a:rPr sz="1300" b="1" dirty="0">
                <a:solidFill>
                  <a:srgbClr val="1E293B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1E293B"/>
                </a:solidFill>
                <a:latin typeface="Arial"/>
              </a:rPr>
              <a:t>Técnicos</a:t>
            </a:r>
            <a:r>
              <a:rPr sz="1300" b="1" dirty="0">
                <a:solidFill>
                  <a:srgbClr val="1E293B"/>
                </a:solidFill>
                <a:latin typeface="Arial"/>
              </a:rPr>
              <a:t> PCI: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Criptografia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forte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em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repouso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e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em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trânsito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,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tokenização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de dados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bancários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e testes de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intrusão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(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PenTest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)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periódicos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27064" y="1691640"/>
            <a:ext cx="5230368" cy="46634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201168" rtlCol="0" anchor="t"/>
          <a:lstStyle/>
          <a:p>
            <a:pPr algn="ctr">
              <a:spcAft>
                <a:spcPts val="1200"/>
              </a:spcAft>
              <a:defRPr sz="2000">
                <a:latin typeface="Arial"/>
              </a:defRPr>
            </a:pPr>
            <a:r>
              <a:rPr b="1" dirty="0">
                <a:solidFill>
                  <a:srgbClr val="0B2545"/>
                </a:solidFill>
                <a:latin typeface="Arial"/>
              </a:rPr>
              <a:t>🏛️ </a:t>
            </a:r>
            <a:r>
              <a:rPr b="1" dirty="0" err="1">
                <a:solidFill>
                  <a:srgbClr val="0B2545"/>
                </a:solidFill>
                <a:latin typeface="Arial"/>
              </a:rPr>
              <a:t>Regulações</a:t>
            </a:r>
            <a:r>
              <a:rPr b="1" dirty="0">
                <a:solidFill>
                  <a:srgbClr val="0B2545"/>
                </a:solidFill>
                <a:latin typeface="Arial"/>
              </a:rPr>
              <a:t> </a:t>
            </a:r>
            <a:r>
              <a:rPr b="1" dirty="0" err="1">
                <a:solidFill>
                  <a:srgbClr val="0B2545"/>
                </a:solidFill>
                <a:latin typeface="Arial"/>
              </a:rPr>
              <a:t>Setoriais</a:t>
            </a:r>
            <a:r>
              <a:rPr b="1" dirty="0">
                <a:solidFill>
                  <a:srgbClr val="0B2545"/>
                </a:solidFill>
                <a:latin typeface="Arial"/>
              </a:rPr>
              <a:t> &amp; </a:t>
            </a:r>
            <a:r>
              <a:rPr b="1" dirty="0" err="1">
                <a:solidFill>
                  <a:srgbClr val="0B2545"/>
                </a:solidFill>
                <a:latin typeface="Arial"/>
              </a:rPr>
              <a:t>Licenciamento</a:t>
            </a:r>
            <a:endParaRPr b="1" dirty="0">
              <a:solidFill>
                <a:srgbClr val="0B2545"/>
              </a:solidFill>
              <a:latin typeface="Arial"/>
            </a:endParaRP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300" b="1" dirty="0">
                <a:solidFill>
                  <a:srgbClr val="1E293B"/>
                </a:solidFill>
                <a:latin typeface="Arial"/>
              </a:rPr>
              <a:t>• </a:t>
            </a:r>
            <a:r>
              <a:rPr sz="1300" b="1" dirty="0" err="1">
                <a:solidFill>
                  <a:srgbClr val="1E293B"/>
                </a:solidFill>
                <a:latin typeface="Arial"/>
              </a:rPr>
              <a:t>Resolução</a:t>
            </a:r>
            <a:r>
              <a:rPr sz="1300" b="1" dirty="0">
                <a:solidFill>
                  <a:srgbClr val="1E293B"/>
                </a:solidFill>
                <a:latin typeface="Arial"/>
              </a:rPr>
              <a:t> BACEN nº 4.893: 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Exige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política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de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segurança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cibernética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robusta e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critérios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estritos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para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contratação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de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serviços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em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nuvem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no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setor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financeiro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300" b="1" dirty="0">
                <a:solidFill>
                  <a:srgbClr val="1E293B"/>
                </a:solidFill>
                <a:latin typeface="Arial"/>
              </a:rPr>
              <a:t>• Plano de </a:t>
            </a:r>
            <a:r>
              <a:rPr sz="1300" b="1" dirty="0" err="1">
                <a:solidFill>
                  <a:srgbClr val="1E293B"/>
                </a:solidFill>
                <a:latin typeface="Arial"/>
              </a:rPr>
              <a:t>Continuidade</a:t>
            </a:r>
            <a:r>
              <a:rPr sz="1300" b="1" dirty="0">
                <a:solidFill>
                  <a:srgbClr val="1E293B"/>
                </a:solidFill>
                <a:latin typeface="Arial"/>
              </a:rPr>
              <a:t> (PCN):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Obrigação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legal de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manter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planos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testados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para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restabelecer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sistemas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bancários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críticos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em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poucas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horas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após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desastres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300" b="1" dirty="0">
                <a:solidFill>
                  <a:srgbClr val="1E293B"/>
                </a:solidFill>
                <a:latin typeface="Arial"/>
              </a:rPr>
              <a:t>• Software Asset Management (SAM): 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Auditoria e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gestão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do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inventário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de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licenças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de software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corporativo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(Microsoft, Oracle, SAP) para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evitar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pirataria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300" b="1" dirty="0">
                <a:solidFill>
                  <a:srgbClr val="1E293B"/>
                </a:solidFill>
                <a:latin typeface="Arial"/>
              </a:rPr>
              <a:t>• </a:t>
            </a:r>
            <a:r>
              <a:rPr sz="1300" b="1" dirty="0" err="1">
                <a:solidFill>
                  <a:srgbClr val="1E293B"/>
                </a:solidFill>
                <a:latin typeface="Arial"/>
              </a:rPr>
              <a:t>Riscos</a:t>
            </a:r>
            <a:r>
              <a:rPr sz="1300" b="1" dirty="0">
                <a:solidFill>
                  <a:srgbClr val="1E293B"/>
                </a:solidFill>
                <a:latin typeface="Arial"/>
              </a:rPr>
              <a:t> de </a:t>
            </a:r>
            <a:r>
              <a:rPr sz="1300" b="1" dirty="0" err="1">
                <a:solidFill>
                  <a:srgbClr val="1E293B"/>
                </a:solidFill>
                <a:latin typeface="Arial"/>
              </a:rPr>
              <a:t>Pirataria</a:t>
            </a:r>
            <a:r>
              <a:rPr sz="1300" b="1" dirty="0">
                <a:solidFill>
                  <a:srgbClr val="1E293B"/>
                </a:solidFill>
                <a:latin typeface="Arial"/>
              </a:rPr>
              <a:t>: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Autuações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judiciais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de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fabricantes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de software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podem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cobrar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indenizações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de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até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3.000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vezes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 o valor original da </a:t>
            </a:r>
            <a:r>
              <a:rPr sz="1300" b="0" dirty="0" err="1">
                <a:solidFill>
                  <a:srgbClr val="1E293B"/>
                </a:solidFill>
                <a:latin typeface="Arial"/>
              </a:rPr>
              <a:t>licença</a:t>
            </a:r>
            <a:r>
              <a:rPr sz="1300" b="0" dirty="0">
                <a:solidFill>
                  <a:srgbClr val="1E293B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>
                <a:latin typeface="Arial"/>
              </a:defRPr>
            </a:pPr>
            <a:r>
              <a:rPr sz="1600" b="1">
                <a:solidFill>
                  <a:srgbClr val="C8102E"/>
                </a:solidFill>
                <a:latin typeface="Arial"/>
              </a:rPr>
              <a:t>ESTUDO DE CASO • RISCOS DE CONFORMIDADE</a:t>
            </a:r>
          </a:p>
          <a:p>
            <a:pPr>
              <a:defRPr sz="2600">
                <a:latin typeface="Arial"/>
              </a:defRPr>
            </a:pPr>
            <a:r>
              <a:rPr sz="2600" b="1">
                <a:solidFill>
                  <a:srgbClr val="0B2545"/>
                </a:solidFill>
                <a:latin typeface="Arial"/>
              </a:rPr>
              <a:t>Casos Reais de Violação em TI e Consequências Práticas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91640"/>
            <a:ext cx="5230368" cy="466344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201168" rtlCol="0" anchor="t"/>
          <a:lstStyle/>
          <a:p>
            <a:pPr algn="ctr">
              <a:spcAft>
                <a:spcPts val="1200"/>
              </a:spcAft>
              <a:defRPr sz="2000">
                <a:latin typeface="Arial"/>
              </a:defRPr>
            </a:pPr>
            <a:r>
              <a:rPr b="1" dirty="0">
                <a:solidFill>
                  <a:srgbClr val="991B1B"/>
                </a:solidFill>
                <a:latin typeface="Arial"/>
              </a:rPr>
              <a:t>💥 </a:t>
            </a:r>
            <a:r>
              <a:rPr b="1" dirty="0" err="1">
                <a:solidFill>
                  <a:srgbClr val="991B1B"/>
                </a:solidFill>
                <a:latin typeface="Arial"/>
              </a:rPr>
              <a:t>Vazamento</a:t>
            </a:r>
            <a:r>
              <a:rPr b="1" dirty="0">
                <a:solidFill>
                  <a:srgbClr val="991B1B"/>
                </a:solidFill>
                <a:latin typeface="Arial"/>
              </a:rPr>
              <a:t> </a:t>
            </a:r>
            <a:r>
              <a:rPr b="1" dirty="0" err="1">
                <a:solidFill>
                  <a:srgbClr val="991B1B"/>
                </a:solidFill>
                <a:latin typeface="Arial"/>
              </a:rPr>
              <a:t>por</a:t>
            </a:r>
            <a:r>
              <a:rPr b="1" dirty="0">
                <a:solidFill>
                  <a:srgbClr val="991B1B"/>
                </a:solidFill>
                <a:latin typeface="Arial"/>
              </a:rPr>
              <a:t> Falha </a:t>
            </a:r>
            <a:r>
              <a:rPr b="1" dirty="0" err="1">
                <a:solidFill>
                  <a:srgbClr val="991B1B"/>
                </a:solidFill>
                <a:latin typeface="Arial"/>
              </a:rPr>
              <a:t>em</a:t>
            </a:r>
            <a:r>
              <a:rPr b="1" dirty="0">
                <a:solidFill>
                  <a:srgbClr val="991B1B"/>
                </a:solidFill>
                <a:latin typeface="Arial"/>
              </a:rPr>
              <a:t> </a:t>
            </a:r>
            <a:r>
              <a:rPr b="1" dirty="0" err="1">
                <a:solidFill>
                  <a:srgbClr val="991B1B"/>
                </a:solidFill>
                <a:latin typeface="Arial"/>
              </a:rPr>
              <a:t>Nuvem</a:t>
            </a:r>
            <a:r>
              <a:rPr b="1" dirty="0">
                <a:solidFill>
                  <a:srgbClr val="991B1B"/>
                </a:solidFill>
                <a:latin typeface="Arial"/>
              </a:rPr>
              <a:t> (Shadow IT)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 dirty="0">
                <a:solidFill>
                  <a:srgbClr val="1E293B"/>
                </a:solidFill>
                <a:latin typeface="Arial"/>
              </a:rPr>
              <a:t>• O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Incidente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 Real: 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Uma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empresa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serviços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financeiros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deixou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um bucket de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armazenamento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em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nuvem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(AWS S3)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público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sem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senha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por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engano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configuração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da equipe de TI.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 dirty="0">
                <a:solidFill>
                  <a:srgbClr val="1E293B"/>
                </a:solidFill>
                <a:latin typeface="Arial"/>
              </a:rPr>
              <a:t>•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Exposição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 de Dados: 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Mais de 10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milhões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registros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contendo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CPF,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endereço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, histórico de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crédito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saldos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bancários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ficaram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acessíveis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na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internet.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 dirty="0">
                <a:solidFill>
                  <a:srgbClr val="1E293B"/>
                </a:solidFill>
                <a:latin typeface="Arial"/>
              </a:rPr>
              <a:t>•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Sanções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Aplicadas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: 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Multas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milionárias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órgãos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proteção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de dados,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processos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coletivos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clientes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exigência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de auditoria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independente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externa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por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5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anos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 dirty="0">
                <a:solidFill>
                  <a:srgbClr val="1E293B"/>
                </a:solidFill>
                <a:latin typeface="Arial"/>
              </a:rPr>
              <a:t>• Causa-Raiz: 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Falta de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processo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de compliance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em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nuvem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(CSPM) 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ausência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revisão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periódica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permissões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segurança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27064" y="1691640"/>
            <a:ext cx="5230368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201168" rtlCol="0" anchor="t"/>
          <a:lstStyle/>
          <a:p>
            <a:pPr algn="ctr">
              <a:spcAft>
                <a:spcPts val="1200"/>
              </a:spcAft>
              <a:defRPr sz="2000">
                <a:latin typeface="Arial"/>
              </a:defRPr>
            </a:pPr>
            <a:r>
              <a:rPr b="1">
                <a:solidFill>
                  <a:srgbClr val="1E293B"/>
                </a:solidFill>
                <a:latin typeface="Arial"/>
              </a:rPr>
              <a:t>⚖️ Auditoria de Licenças de Software (BSA)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>
                <a:solidFill>
                  <a:srgbClr val="1E293B"/>
                </a:solidFill>
                <a:latin typeface="Arial"/>
              </a:rPr>
              <a:t>• O Uso Não Autorizado: </a:t>
            </a:r>
            <a:r>
              <a:rPr sz="1400" b="0">
                <a:solidFill>
                  <a:srgbClr val="1E293B"/>
                </a:solidFill>
                <a:latin typeface="Arial"/>
              </a:rPr>
              <a:t>Uma empresa de engenharia utilizava cópias não licenciadas de softwares de modelagem técnica e bancos de dados em 150 estações de trabalho.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>
                <a:solidFill>
                  <a:srgbClr val="1E293B"/>
                </a:solidFill>
                <a:latin typeface="Arial"/>
              </a:rPr>
              <a:t>• A Denúncia Interna: </a:t>
            </a:r>
            <a:r>
              <a:rPr sz="1400" b="0">
                <a:solidFill>
                  <a:srgbClr val="1E293B"/>
                </a:solidFill>
                <a:latin typeface="Arial"/>
              </a:rPr>
              <a:t>Um ex-funcionário reportou o uso de software irregular através do canal de denúncias da Business Software Alliance (BSA).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>
                <a:solidFill>
                  <a:srgbClr val="1E293B"/>
                </a:solidFill>
                <a:latin typeface="Arial"/>
              </a:rPr>
              <a:t>• Ação Judicial e Acordo: </a:t>
            </a:r>
            <a:r>
              <a:rPr sz="1400" b="0">
                <a:solidFill>
                  <a:srgbClr val="1E293B"/>
                </a:solidFill>
                <a:latin typeface="Arial"/>
              </a:rPr>
              <a:t>A empresa foi acionada judicialmente e obrigada a pagar R$ 4,5 milhões entre compra retroativa de licenças e multas compensatórias.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>
                <a:solidFill>
                  <a:srgbClr val="1E293B"/>
                </a:solidFill>
                <a:latin typeface="Arial"/>
              </a:rPr>
              <a:t>• Lição de Governança: </a:t>
            </a:r>
            <a:r>
              <a:rPr sz="1400" b="0">
                <a:solidFill>
                  <a:srgbClr val="1E293B"/>
                </a:solidFill>
                <a:latin typeface="Arial"/>
              </a:rPr>
              <a:t>Controles de conformidade em ativos de software economizam milhões e evitam embaraços jurídicos graves.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>
                <a:latin typeface="Arial"/>
              </a:defRPr>
            </a:pPr>
            <a:r>
              <a:rPr sz="1600" b="1">
                <a:solidFill>
                  <a:srgbClr val="C8102E"/>
                </a:solidFill>
                <a:latin typeface="Arial"/>
              </a:rPr>
              <a:t>MÓDULO 4 • ÉTICA &amp; CONDUTA NA TI</a:t>
            </a:r>
          </a:p>
          <a:p>
            <a:pPr>
              <a:defRPr sz="2600">
                <a:latin typeface="Arial"/>
              </a:defRPr>
            </a:pPr>
            <a:r>
              <a:rPr sz="2600" b="1">
                <a:solidFill>
                  <a:srgbClr val="0B2545"/>
                </a:solidFill>
                <a:latin typeface="Arial"/>
              </a:rPr>
              <a:t>A Fronteira entre o Legal e o Moral na Era Digital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91640"/>
            <a:ext cx="5230368" cy="46634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201168" rtlCol="0" anchor="t"/>
          <a:lstStyle/>
          <a:p>
            <a:pPr algn="ctr">
              <a:spcAft>
                <a:spcPts val="1200"/>
              </a:spcAft>
              <a:defRPr sz="2000">
                <a:latin typeface="Arial"/>
              </a:defRPr>
            </a:pPr>
            <a:r>
              <a:rPr b="1" dirty="0">
                <a:solidFill>
                  <a:srgbClr val="166534"/>
                </a:solidFill>
                <a:latin typeface="Arial"/>
              </a:rPr>
              <a:t>⚖️ </a:t>
            </a:r>
            <a:r>
              <a:rPr b="1" dirty="0" err="1">
                <a:solidFill>
                  <a:srgbClr val="166534"/>
                </a:solidFill>
                <a:latin typeface="Arial"/>
              </a:rPr>
              <a:t>Ética</a:t>
            </a:r>
            <a:r>
              <a:rPr b="1" dirty="0">
                <a:solidFill>
                  <a:srgbClr val="166534"/>
                </a:solidFill>
                <a:latin typeface="Arial"/>
              </a:rPr>
              <a:t> vs. Moral vs. Lei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 dirty="0">
                <a:solidFill>
                  <a:srgbClr val="1E293B"/>
                </a:solidFill>
                <a:latin typeface="Arial"/>
              </a:rPr>
              <a:t>• A Lei é o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Mínimo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: 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A lei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estabelece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o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que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é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juridicamente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obrigatório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ou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proibido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; a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ética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orienta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o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que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é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correto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justo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honrado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fazer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 dirty="0">
                <a:solidFill>
                  <a:srgbClr val="1E293B"/>
                </a:solidFill>
                <a:latin typeface="Arial"/>
              </a:rPr>
              <a:t>• Fazer o Certo no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Silêncio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: 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A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integridade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ética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é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testada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quando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ninguém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está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olhando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quando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a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probabilidade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de ser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descoberto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é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próxima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de zero.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 dirty="0">
                <a:solidFill>
                  <a:srgbClr val="1E293B"/>
                </a:solidFill>
                <a:latin typeface="Arial"/>
              </a:rPr>
              <a:t>• A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Tecnologia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 Corre Mais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que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 a Lei: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Inovações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como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Inteligência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Artificial 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mineração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de dados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avançam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anos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antes de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qualquer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regulação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legal formal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existir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 dirty="0">
                <a:solidFill>
                  <a:srgbClr val="1E293B"/>
                </a:solidFill>
                <a:latin typeface="Arial"/>
              </a:rPr>
              <a:t>• O Código de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Conduta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Profissional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: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Diretrizes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que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norteiam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o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sigilo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de dados, o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uso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responsável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da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infraestrutura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corporativa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e o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respeito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aos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usuários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27064" y="1691640"/>
            <a:ext cx="5230368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201168" rtlCol="0" anchor="t"/>
          <a:lstStyle/>
          <a:p>
            <a:pPr algn="ctr">
              <a:spcAft>
                <a:spcPts val="1200"/>
              </a:spcAft>
              <a:defRPr sz="2000">
                <a:latin typeface="Arial"/>
              </a:defRPr>
            </a:pPr>
            <a:r>
              <a:rPr b="1">
                <a:solidFill>
                  <a:srgbClr val="0B2545"/>
                </a:solidFill>
                <a:latin typeface="Arial"/>
              </a:rPr>
              <a:t>🛡️ Dilemas Éticos dos Profissionais de TI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>
                <a:solidFill>
                  <a:srgbClr val="1E293B"/>
                </a:solidFill>
                <a:latin typeface="Arial"/>
              </a:rPr>
              <a:t>• O Superpoder do Administrador: </a:t>
            </a:r>
            <a:r>
              <a:rPr sz="1400" b="0">
                <a:solidFill>
                  <a:srgbClr val="1E293B"/>
                </a:solidFill>
                <a:latin typeface="Arial"/>
              </a:rPr>
              <a:t>Profissionais de TI têm acesso a senhas mestras, e-mails de executivos, históricos médicos e folhas de pagamento; a ética impede a espionagem.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>
                <a:solidFill>
                  <a:srgbClr val="1E293B"/>
                </a:solidFill>
                <a:latin typeface="Arial"/>
              </a:rPr>
              <a:t>• Vieses Algorítmicos em IA: </a:t>
            </a:r>
            <a:r>
              <a:rPr sz="1400" b="0">
                <a:solidFill>
                  <a:srgbClr val="1E293B"/>
                </a:solidFill>
                <a:latin typeface="Arial"/>
              </a:rPr>
              <a:t>Desenvolvimento de algoritmos de contratação ou crédito que perpetuam discriminações raciais ou de gênero sem transparência.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>
                <a:solidFill>
                  <a:srgbClr val="1E293B"/>
                </a:solidFill>
                <a:latin typeface="Arial"/>
              </a:rPr>
              <a:t>• Vigilância vs. Privacidade: </a:t>
            </a:r>
            <a:r>
              <a:rPr sz="1400" b="0">
                <a:solidFill>
                  <a:srgbClr val="1E293B"/>
                </a:solidFill>
                <a:latin typeface="Arial"/>
              </a:rPr>
              <a:t>Até onde a empresa tem o direito de gravar telas, teclados e câmeras de colaboradores em regime de trabalho remoto?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>
                <a:solidFill>
                  <a:srgbClr val="1E293B"/>
                </a:solidFill>
                <a:latin typeface="Arial"/>
              </a:rPr>
              <a:t>• Ocultação de Falhas Críticas: </a:t>
            </a:r>
            <a:r>
              <a:rPr sz="1400" b="0">
                <a:solidFill>
                  <a:srgbClr val="1E293B"/>
                </a:solidFill>
                <a:latin typeface="Arial"/>
              </a:rPr>
              <a:t>A tentação de esconder um bug de segurança grave da liderança para não atrasar a data de lançamento comercial do software.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>
                <a:latin typeface="Arial"/>
              </a:defRPr>
            </a:pPr>
            <a:r>
              <a:rPr sz="1600" b="1">
                <a:solidFill>
                  <a:srgbClr val="C8102E"/>
                </a:solidFill>
                <a:latin typeface="Arial"/>
              </a:rPr>
              <a:t>ESTUDO DE CASO • ÉTICA NA ENGENHARIA</a:t>
            </a:r>
          </a:p>
          <a:p>
            <a:pPr>
              <a:defRPr sz="2600">
                <a:latin typeface="Arial"/>
              </a:defRPr>
            </a:pPr>
            <a:r>
              <a:rPr sz="2600" b="1">
                <a:solidFill>
                  <a:srgbClr val="0B2545"/>
                </a:solidFill>
                <a:latin typeface="Arial"/>
              </a:rPr>
              <a:t>O Escândalo 'Dieselgate' (2015) da Volkswagen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91640"/>
            <a:ext cx="5230368" cy="466344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201168" rtlCol="0" anchor="t"/>
          <a:lstStyle/>
          <a:p>
            <a:pPr algn="ctr">
              <a:spcAft>
                <a:spcPts val="1200"/>
              </a:spcAft>
              <a:defRPr sz="2000">
                <a:latin typeface="Arial"/>
              </a:defRPr>
            </a:pPr>
            <a:r>
              <a:rPr b="1" dirty="0">
                <a:solidFill>
                  <a:srgbClr val="991B1B"/>
                </a:solidFill>
                <a:latin typeface="Arial"/>
              </a:rPr>
              <a:t>🚗 O Código </a:t>
            </a:r>
            <a:r>
              <a:rPr b="1" dirty="0" err="1">
                <a:solidFill>
                  <a:srgbClr val="991B1B"/>
                </a:solidFill>
                <a:latin typeface="Arial"/>
              </a:rPr>
              <a:t>Programado</a:t>
            </a:r>
            <a:r>
              <a:rPr b="1" dirty="0">
                <a:solidFill>
                  <a:srgbClr val="991B1B"/>
                </a:solidFill>
                <a:latin typeface="Arial"/>
              </a:rPr>
              <a:t> para </a:t>
            </a:r>
            <a:r>
              <a:rPr b="1" dirty="0" err="1">
                <a:solidFill>
                  <a:srgbClr val="991B1B"/>
                </a:solidFill>
                <a:latin typeface="Arial"/>
              </a:rPr>
              <a:t>Fraudar</a:t>
            </a:r>
            <a:endParaRPr b="1" dirty="0">
              <a:solidFill>
                <a:srgbClr val="991B1B"/>
              </a:solidFill>
              <a:latin typeface="Arial"/>
            </a:endParaRP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 dirty="0">
                <a:solidFill>
                  <a:srgbClr val="1E293B"/>
                </a:solidFill>
                <a:latin typeface="Arial"/>
              </a:rPr>
              <a:t>• A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Ordem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 da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Liderança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: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Pressionada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para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atingir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metas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emissões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ecológicas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nos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EUA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sem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encarecer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o motor, a equipe de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engenharia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tomou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uma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decisão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fraudulenta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 dirty="0">
                <a:solidFill>
                  <a:srgbClr val="1E293B"/>
                </a:solidFill>
                <a:latin typeface="Arial"/>
              </a:rPr>
              <a:t>• O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Algoritmo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Oculto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 (Defeat Device):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Desenvolvedores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programaram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a ECU do motor para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detectar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quando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o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carro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estava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em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teste laboratorial (volante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reto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velocidade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estável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).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 dirty="0">
                <a:solidFill>
                  <a:srgbClr val="1E293B"/>
                </a:solidFill>
                <a:latin typeface="Arial"/>
              </a:rPr>
              <a:t>• A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Fraude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em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Execução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: 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Durante o teste, o software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ativava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filtros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poluição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;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nas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ruas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reais, o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sistema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desativava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o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controle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emitia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até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40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vezes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mais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gases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tóxicos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 dirty="0">
                <a:solidFill>
                  <a:srgbClr val="1E293B"/>
                </a:solidFill>
                <a:latin typeface="Arial"/>
              </a:rPr>
              <a:t>• Mais de 11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Milhões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 de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Veículos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: 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A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fraude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tecnológica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foi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implantada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em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milhões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carros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vendidos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globalmente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durante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vários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anos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27064" y="1691640"/>
            <a:ext cx="5230368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201168" rtlCol="0" anchor="t"/>
          <a:lstStyle/>
          <a:p>
            <a:pPr algn="ctr">
              <a:spcAft>
                <a:spcPts val="1200"/>
              </a:spcAft>
              <a:defRPr sz="2000">
                <a:latin typeface="Arial"/>
              </a:defRPr>
            </a:pPr>
            <a:r>
              <a:rPr b="1">
                <a:solidFill>
                  <a:srgbClr val="1E293B"/>
                </a:solidFill>
                <a:latin typeface="Arial"/>
              </a:rPr>
              <a:t>💥 Consequências e a Lição Ética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>
                <a:solidFill>
                  <a:srgbClr val="1E293B"/>
                </a:solidFill>
                <a:latin typeface="Arial"/>
              </a:rPr>
              <a:t>• Prejuízo Superior a US$ 30 Bilhões: </a:t>
            </a:r>
            <a:r>
              <a:rPr sz="1400" b="0">
                <a:solidFill>
                  <a:srgbClr val="1E293B"/>
                </a:solidFill>
                <a:latin typeface="Arial"/>
              </a:rPr>
              <a:t>A Volkswagen pagou dezenas de bilhões em multas ecológicas, acordos judiciais e recompra de veículos afetados.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>
                <a:solidFill>
                  <a:srgbClr val="1E293B"/>
                </a:solidFill>
                <a:latin typeface="Arial"/>
              </a:rPr>
              <a:t>• Prisão de Executivos e Engenheiros: </a:t>
            </a:r>
            <a:r>
              <a:rPr sz="1400" b="0">
                <a:solidFill>
                  <a:srgbClr val="1E293B"/>
                </a:solidFill>
                <a:latin typeface="Arial"/>
              </a:rPr>
              <a:t>CEOs, diretores e desenvolvedores de software foram indiciados, julgados e condenados à prisão na Europa e EUA.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>
                <a:solidFill>
                  <a:srgbClr val="1E293B"/>
                </a:solidFill>
                <a:latin typeface="Arial"/>
              </a:rPr>
              <a:t>• A Desculpa 'Estava Apenas Cumprindo Ordens': </a:t>
            </a:r>
            <a:r>
              <a:rPr sz="1400" b="0">
                <a:solidFill>
                  <a:srgbClr val="1E293B"/>
                </a:solidFill>
                <a:latin typeface="Arial"/>
              </a:rPr>
              <a:t>A justiça determinou que engenheiros e devs têm responsabilidade ética e penal e não podem criar códigos ilegais por pressão de chefes.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>
                <a:solidFill>
                  <a:srgbClr val="1E293B"/>
                </a:solidFill>
                <a:latin typeface="Arial"/>
              </a:rPr>
              <a:t>• Dever de Alerta (Whistleblower): </a:t>
            </a:r>
            <a:r>
              <a:rPr sz="1400" b="0">
                <a:solidFill>
                  <a:srgbClr val="1E293B"/>
                </a:solidFill>
                <a:latin typeface="Arial"/>
              </a:rPr>
              <a:t>O profissional de TI tem a obrigação moral e legal de denunciar fraudes que atentem contra a saúde e a segurança pública.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>
                <a:latin typeface="Arial"/>
              </a:defRPr>
            </a:pPr>
            <a:r>
              <a:rPr sz="1600" b="1">
                <a:solidFill>
                  <a:srgbClr val="C8102E"/>
                </a:solidFill>
                <a:latin typeface="Arial"/>
              </a:rPr>
              <a:t>VISÃO SISTÊMICA • INTEGRAÇÃO TOTAL</a:t>
            </a:r>
          </a:p>
          <a:p>
            <a:pPr>
              <a:defRPr sz="2600">
                <a:latin typeface="Arial"/>
              </a:defRPr>
            </a:pPr>
            <a:r>
              <a:rPr sz="2600" b="1">
                <a:solidFill>
                  <a:srgbClr val="0B2545"/>
                </a:solidFill>
                <a:latin typeface="Arial"/>
              </a:rPr>
              <a:t>A Pirâmide Integrada da Sustentabilidade Corporativa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91640"/>
            <a:ext cx="5230368" cy="46634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201168" rtlCol="0" anchor="t"/>
          <a:lstStyle/>
          <a:p>
            <a:pPr algn="ctr">
              <a:spcAft>
                <a:spcPts val="1200"/>
              </a:spcAft>
              <a:defRPr sz="2000">
                <a:latin typeface="Arial"/>
              </a:defRPr>
            </a:pPr>
            <a:r>
              <a:rPr b="1" dirty="0">
                <a:solidFill>
                  <a:srgbClr val="1E3A8A"/>
                </a:solidFill>
                <a:latin typeface="Arial"/>
              </a:rPr>
              <a:t>🔺 </a:t>
            </a:r>
            <a:r>
              <a:rPr b="1" dirty="0" err="1">
                <a:solidFill>
                  <a:srgbClr val="1E3A8A"/>
                </a:solidFill>
                <a:latin typeface="Arial"/>
              </a:rPr>
              <a:t>Os</a:t>
            </a:r>
            <a:r>
              <a:rPr b="1" dirty="0">
                <a:solidFill>
                  <a:srgbClr val="1E3A8A"/>
                </a:solidFill>
                <a:latin typeface="Arial"/>
              </a:rPr>
              <a:t> 4 </a:t>
            </a:r>
            <a:r>
              <a:rPr b="1" dirty="0" err="1">
                <a:solidFill>
                  <a:srgbClr val="1E3A8A"/>
                </a:solidFill>
                <a:latin typeface="Arial"/>
              </a:rPr>
              <a:t>Níveis</a:t>
            </a:r>
            <a:r>
              <a:rPr b="1" dirty="0">
                <a:solidFill>
                  <a:srgbClr val="1E3A8A"/>
                </a:solidFill>
                <a:latin typeface="Arial"/>
              </a:rPr>
              <a:t> de </a:t>
            </a:r>
            <a:r>
              <a:rPr b="1" dirty="0" err="1">
                <a:solidFill>
                  <a:srgbClr val="1E3A8A"/>
                </a:solidFill>
                <a:latin typeface="Arial"/>
              </a:rPr>
              <a:t>Sustentação</a:t>
            </a:r>
            <a:endParaRPr b="1" dirty="0">
              <a:solidFill>
                <a:srgbClr val="1E3A8A"/>
              </a:solidFill>
              <a:latin typeface="Arial"/>
            </a:endParaRP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 dirty="0">
                <a:solidFill>
                  <a:srgbClr val="1E293B"/>
                </a:solidFill>
                <a:latin typeface="Arial"/>
              </a:rPr>
              <a:t>•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Nível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 1 (Base Cultural) — ÉTICA: 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Valores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morais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individuais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coletivos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; a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cultura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do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que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é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certo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fazer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mesmo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sem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fiscalização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ativa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 dirty="0">
                <a:solidFill>
                  <a:srgbClr val="1E293B"/>
                </a:solidFill>
                <a:latin typeface="Arial"/>
              </a:rPr>
              <a:t>•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Nível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 2 (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Normatização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) — COMPLIANCE: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Programas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políticas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treinamentos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canais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denúncia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que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traduzem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princípios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éticos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em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regras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claras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 dirty="0">
                <a:solidFill>
                  <a:srgbClr val="1E293B"/>
                </a:solidFill>
                <a:latin typeface="Arial"/>
              </a:rPr>
              <a:t>•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Nível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 3 (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Controles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Técnicos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) — SOX / ITGC: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Processos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operacionais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formais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segregação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funções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(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SoD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), testes de auditoria 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rastreabilidade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de dados.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 dirty="0">
                <a:solidFill>
                  <a:srgbClr val="1E293B"/>
                </a:solidFill>
                <a:latin typeface="Arial"/>
              </a:rPr>
              <a:t>•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Nível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 4 (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Cúpula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1E293B"/>
                </a:solidFill>
                <a:latin typeface="Arial"/>
              </a:rPr>
              <a:t>Estratégica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) — GOVERNANÇA: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Conselho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administração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diretoria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prestação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contas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aos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sócios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geração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de valor de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longo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293B"/>
                </a:solidFill>
                <a:latin typeface="Arial"/>
              </a:rPr>
              <a:t>prazo</a:t>
            </a:r>
            <a:r>
              <a:rPr sz="1400" b="0" dirty="0">
                <a:solidFill>
                  <a:srgbClr val="1E293B"/>
                </a:solidFill>
                <a:latin typeface="Arial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27064" y="1691640"/>
            <a:ext cx="5230368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201168" rtlCol="0" anchor="t"/>
          <a:lstStyle/>
          <a:p>
            <a:pPr algn="ctr">
              <a:spcAft>
                <a:spcPts val="1200"/>
              </a:spcAft>
              <a:defRPr sz="2000">
                <a:latin typeface="Arial"/>
              </a:defRPr>
            </a:pPr>
            <a:r>
              <a:rPr b="1">
                <a:solidFill>
                  <a:srgbClr val="0B2545"/>
                </a:solidFill>
                <a:latin typeface="Arial"/>
              </a:rPr>
              <a:t>⚙️ Por que a TI Precisa dos 4 Níveis?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>
                <a:solidFill>
                  <a:srgbClr val="1E293B"/>
                </a:solidFill>
                <a:latin typeface="Arial"/>
              </a:rPr>
              <a:t>• Sem Ética, o Compliance é Falso: </a:t>
            </a:r>
            <a:r>
              <a:rPr sz="1400" b="0">
                <a:solidFill>
                  <a:srgbClr val="1E293B"/>
                </a:solidFill>
                <a:latin typeface="Arial"/>
              </a:rPr>
              <a:t>Se não houver integridade cultural, o compliance vira apenas um checklist burocrático facilmente burlado.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>
                <a:solidFill>
                  <a:srgbClr val="1E293B"/>
                </a:solidFill>
                <a:latin typeface="Arial"/>
              </a:rPr>
              <a:t>• Sem ITGC/SOX, a Governança é Cega: </a:t>
            </a:r>
            <a:r>
              <a:rPr sz="1400" b="0">
                <a:solidFill>
                  <a:srgbClr val="1E293B"/>
                </a:solidFill>
                <a:latin typeface="Arial"/>
              </a:rPr>
              <a:t>Sem dados confiáveis gerados por sistemas seguros, a diretoria toma decisões estratégicas baseadas em ilusões contábeis.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>
                <a:solidFill>
                  <a:srgbClr val="1E293B"/>
                </a:solidFill>
                <a:latin typeface="Arial"/>
              </a:rPr>
              <a:t>• Com a Pirâmide Integrada: </a:t>
            </a:r>
            <a:r>
              <a:rPr sz="1400" b="0">
                <a:solidFill>
                  <a:srgbClr val="1E293B"/>
                </a:solidFill>
                <a:latin typeface="Arial"/>
              </a:rPr>
              <a:t>A TI deixa de ser uma fonte de riscos e vulnerabilidades e passa a ser o motor de confiança, eficiência e valor para o negócio.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rPr sz="1400" b="1">
                <a:solidFill>
                  <a:srgbClr val="1E293B"/>
                </a:solidFill>
                <a:latin typeface="Arial"/>
              </a:rPr>
              <a:t>• Aplicação Prática: </a:t>
            </a:r>
            <a:r>
              <a:rPr sz="1400" b="0">
                <a:solidFill>
                  <a:srgbClr val="1E293B"/>
                </a:solidFill>
                <a:latin typeface="Arial"/>
              </a:rPr>
              <a:t>Estes 4 pilares são exatamente a sustentação teórica para as decisões de governança que serão projetadas no PDGTI.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3809</Words>
  <Application>Microsoft Office PowerPoint</Application>
  <PresentationFormat>Widescreen</PresentationFormat>
  <Paragraphs>196</Paragraphs>
  <Slides>17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Tema do Office</vt:lpstr>
      <vt:lpstr>Governança Corporativa, SOX,
Compliance e Ética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 Cassulino Araujo Souza</dc:creator>
  <cp:lastModifiedBy>Andre Cassulino Araujo Souza</cp:lastModifiedBy>
  <cp:revision>3</cp:revision>
  <dcterms:created xsi:type="dcterms:W3CDTF">2026-08-10T21:32:33Z</dcterms:created>
  <dcterms:modified xsi:type="dcterms:W3CDTF">2026-08-13T02:01:04Z</dcterms:modified>
</cp:coreProperties>
</file>